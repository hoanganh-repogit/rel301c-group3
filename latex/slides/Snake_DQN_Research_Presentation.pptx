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66" r:id="rId17"/>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8288000" cy="10287000"/>
  <p:notesSz cx="6858000" cy="9144000"/>
  <p:embeddedFontLst>
    <p:embeddedFont>
      <p:font typeface="Pixellance" charset="1" panose="0000000000000000000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16" Type="http://schemas.openxmlformats.org/officeDocument/2006/relationships/font" Target="fonts/font16.fntdata"/><Relationship Id="rId17" Type="http://schemas.openxmlformats.org/officeDocument/2006/relationships/slide" Target="slides/slide1.xml"/><Relationship Id="rId18" Type="http://schemas.openxmlformats.org/officeDocument/2006/relationships/notesMaster" Target="notesMasters/notesMaster1.xml"/><Relationship Id="rId19" Type="http://schemas.openxmlformats.org/officeDocument/2006/relationships/slide" Target="slides/slide2.xml"/><Relationship Id="rId20" Type="http://schemas.openxmlformats.org/officeDocument/2006/relationships/slide" Target="slides/slide3.xml"/><Relationship Id="rId21" Type="http://schemas.openxmlformats.org/officeDocument/2006/relationships/slide" Target="slides/slide4.xml"/><Relationship Id="rId22" Type="http://schemas.openxmlformats.org/officeDocument/2006/relationships/slide" Target="slides/slide5.xml"/><Relationship Id="rId23" Type="http://schemas.openxmlformats.org/officeDocument/2006/relationships/slide" Target="slides/slide6.xml"/><Relationship Id="rId24" Type="http://schemas.openxmlformats.org/officeDocument/2006/relationships/slide" Target="slides/slide7.xml"/><Relationship Id="rId25" Type="http://schemas.openxmlformats.org/officeDocument/2006/relationships/slide" Target="slides/slide8.xml"/><Relationship Id="rId26" Type="http://schemas.openxmlformats.org/officeDocument/2006/relationships/slide" Target="slides/slide9.xml"/><Relationship Id="rId27" Type="http://schemas.openxmlformats.org/officeDocument/2006/relationships/slide" Target="slides/slide10.xml"/><Relationship Id="rId28" Type="http://schemas.openxmlformats.org/officeDocument/2006/relationships/slide" Target="slides/slide11.xml"/><Relationship Id="rId29" Type="http://schemas.openxmlformats.org/officeDocument/2006/relationships/slide" Target="slides/slide12.xml"/><Relationship Id="rId30" Type="http://schemas.openxmlformats.org/officeDocument/2006/relationships/slide" Target="slides/slide13.xml"/><Relationship Id="rId31" Type="http://schemas.openxmlformats.org/officeDocument/2006/relationships/slide" Target="slides/slide14.xml"/><Relationship Id="rId32" Type="http://schemas.openxmlformats.org/officeDocument/2006/relationships/slide" Target="slides/slide15.xml"/><Relationship Id="rId33" Type="http://schemas.openxmlformats.org/officeDocument/2006/relationships/slide" Target="slides/slide16.xml"/><Relationship Id="rId34" Type="http://schemas.openxmlformats.org/officeDocument/2006/relationships/slide" Target="slides/slide17.xml"/><Relationship Id="rId35" Type="http://schemas.openxmlformats.org/officeDocument/2006/relationships/slide" Target="slides/slide18.xml"/><Relationship Id="rId36" Type="http://schemas.openxmlformats.org/officeDocument/2006/relationships/slide" Target="slides/slide19.xml"/><Relationship Id="rId37" Type="http://schemas.openxmlformats.org/officeDocument/2006/relationships/slide" Target="slides/slide20.xml"/><Relationship Id="rId3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của đề tài là kiểm tra một Dueling Double DQN chỉ học trên Level 4 có thể chơi các level khác đến đâu. Đây là đánh giá zero-shot: giữ nguyên checkpoint và không fine-tune. Bài tập trung DQN. Tên đầy đủ trùng với báo cáo; bổ sung tên tác giả và đơn vị trước buổi trình bày.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Mở đầu bằng sự khác nhau giữa chơi tốt ở môi trường train và chuyển được sang môi trường khác. RQ1 đánh giá Level 4; RQ2 đánh giá năm level chưa thấy; RQ3 mô tả khác biệt về score, success và kết thúc episode. Các level thay đổi nhiều yếu tố cùng lúc nên RQ3 không khẳng định nguyên nhân riêng biệt.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Tóm tắt thiết kế trước khi đi vào kỹ thuật: train một seed trên một level, dùng state 27 chiều và ba action tương đối. Đánh giá ba policy trên sáu level, mỗi tổ hợp 100 episode, tổng 1.800 episode. Random là baseline tối thiểu; final là kiểm tra độ nhạy checkpoint.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Level 4 là nguồn dữ liệu duy nhất của run được báo cáo. Level 1, 2, 3, 5, 6 đều chưa xuất hiện trong replay buffer của run này. Level 4 không có target, vì vậy không có success rate cho Level 4. Không so sánh raw score giữa các level như cùng một độ khó.</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gồm 27 feature: danger và ray 6; hướng 4; thông tin food 6; vị trí đầu và chiều dài 3; safe-area 3; thông tin tail 5. Một số feature được chuẩn hóa theo kích thước bàn. Safe-area dùng BFS có giới hạn để ước lượng vùng có thể tới. Thiết kế cho phép một network chạy trên nhiều board; hiệu quả transfer phải được xác nhận bằng evaluation.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action tương đối giữ cùng ý nghĩa ở mọi level: đi thẳng, phải, trái. Reward ăn food +10, va chạm -20, bước tiến gần food +0.015, bước khác -0.025. Các giá trị bước đã gồm step penalty. Timeout khi không ăn sau hai lần số ô bàn; bộ đếm reset mỗi lần ăn food.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Network dùng MLP hai lớp 256 ReLU, chia value và advantage. Dueling kết hợp V và A để ra Q cho ba action. Double DQN dùng online network chọn action ở next state, target network định giá action đó. Hai kỹ thuật này khác nhau: một là kiến trúc, một là cách tính target.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dùng seed 0, 14.293.725 environment steps; có 19.094 episode hoàn chỉnh và dừng trong episode 19.095. Best checkpoint xét ở mốc lưu 250 episode sau warm-up 500 episode, dựa rolling mean 100 episode. Chọn episode 17.000 với rolling mean 52,09. Các số training này không phải test score.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Đường cong cho thấy learning tăng chậm giai đoạn đầu rồi tăng rõ sau đó. Rolling mean 52,09 là tiêu chí chọn checkpoint tại episode 17.000. Biến thiên episode còn lớn. Training dùng epsilon-greedy nên không đánh đồng điểm train với điểm greedy evaluation.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policy–level chạy 100 episode với seed 1234–1333. Network giữ nguyên; không gradient và không fine-tune. Best là policy chính, final để xem kết luận nhạy với checkpoint không, random làm baseline. Wilson CI đo bất định qua episode của policy này, không đo biến thiên giữa training seed.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kết quả chính của best checkpoint: 100%, 97%, 93%, 74%, 54% cho L1, L2, L3, L5, L6. Các thanh thể hiện success rate và đường ngang là Wilson CI 95%. L4 không có target nên không đưa vào biểu đồ success. Đặc biệt 100/100 không bảo đảm xác suất thành công thật là 100%.</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Không chỉ xem mean: Level 6 median 150 nhưng P25 chỉ 1, cho thấy nhiều episode hoặc hoàn thành target hoặc gần như không tiến triển. L4 mean 144,49 SD 27,28 và median 154. Các score không trực tiếp cùng thang độ khó vì có target và kích thước khác nhau.</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checkpoint tăng L4 mean lên 153,83 nhưng L3 success giảm từ 93 xuống 83 và L5 từ 74 xuống 65. L6 mean tăng nhẹ nhưng success giảm 54 xuống 52. Đây là so sánh mô tả với cùng seed, không tuyên bố khác biệt có ý nghĩa thống kê. Random mean chỉ 0,02–0,10 và không hoàn thành target nào.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L5 timeout 25%, L6 timeout 40%, thường biểu hiện thiếu tiến triển hơn là đâm tường. L4 self-collision 79% nhưng không nên diễn giải là kém an toàn hơn một cách đơn giản: L4 không có target nên episode tiếp tục khi snake dài. Không thấy wall collision ngoài L4 trong 100 episode mỗi level của best checkpoint.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Kết quả trả lời RQ1: policy có hiệu năng nguồn cao trong evaluation. RQ2: có transfer nhưng chưa đồng đều, đặc biệt L5 L6. RQ3: phân bố và failure thay đổi giữa các level; chưa tách riêng ảnh hưởng size, obstacle, target. State và relative action là cơ chế hợp lý giúp dùng chung network nhưng chưa có ablation để khẳng định đóng góp nhân quả.</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rõ phạm vi một seed. 100 episode không thay thế được nhiều training run. Best chọn theo training rolling mean và chưa dùng validation riêng. Thí nghiệm tiếp theo theo ưu tiên: nhiều seed và layout mới, ablation state/reward/action, rồi so sánh curriculum và domain randomization với cùng step budget.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Chốt ba ý: một Dueling Double DQN học duy nhất Level 4 có thể chơi các level khác không fine-tune; kết quả tốt trên ba level nhỏ hơn nhưng thiếu ổn định ở hai level lớn; mạnh hơn trên nguồn không luôn có nghĩa transfer tốt hơn. Giữ kết luận trong phạm vi policy và suite hiện tại, không gọi là giải quyết mọi môi trường Snake.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Các tài liệu nền tảng đã có trong references.bib. Slide này chỉ chọn nguồn cho DQN, Double DQN, Dueling, generalization và đánh giá RL. Các số liệu trong bài trình bày là từ thực nghiệm dự án, không phải kết quả của những paper này.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Kết thúc phần chính. Khi được hỏi về seed, ablation hay unseen levels, có thể chuyển đến các backup slide sau.</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chi tiết best checkpoint để trả lời câu hỏi về mean, SD, median, success và normalized score. L4 N/A là do không có target. SD là độ lệch chuẩn mô tả qua episode, không phải khoảng tin cậy.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Các câu trả lời cần giữ nhất quán: unseen là so với run được báo cáo; random baseline chưa đủ chứng minh ưu việt so với heuristic; không có PPO trong phạm vi nghiên cứu chính. Cần nhiều seed để kết luận độ ổn định của thuật toán. Điểm greedy cao hơn training vì lúc train vẫn còn 1% action ngẫu nhiên. Đã kiểm chứng: chạy lại Level 4 cùng 100 seed với epsilon 0,01 thì mean giảm từ 144,49 xuống 43,58, khớp rolling mean lúc train (44–52).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88B73"/>
        </a:solidFill>
      </p:bgPr>
    </p:bg>
    <p:spTree>
      <p:nvGrpSpPr>
        <p:cNvPr id="1" name=""/>
        <p:cNvGrpSpPr/>
        <p:nvPr/>
      </p:nvGrpSpPr>
      <p:grpSpPr/>
      <p:grpSp>
        <p:nvGrpSpPr>
          <p:cNvPr name="Group 2" id="2"/>
          <p:cNvGrpSpPr/>
          <p:nvPr/>
        </p:nvGrpSpPr>
        <p:grpSpPr>
          <a:xfrm rot="0">
            <a:off x="626868" y="576026"/>
            <a:ext cx="17034264" cy="9134947"/>
            <a:chOff x="0" y="0"/>
            <a:chExt cx="4486390" cy="2405912"/>
          </a:xfrm>
        </p:grpSpPr>
        <p:sp>
          <p:nvSpPr>
            <p:cNvPr name="Freeform 3" id="3"/>
            <p:cNvSpPr/>
            <p:nvPr/>
          </p:nvSpPr>
          <p:spPr>
            <a:xfrm flipH="false" flipV="false" rot="0">
              <a:off x="0" y="0"/>
              <a:ext cx="4486390" cy="2405912"/>
            </a:xfrm>
            <a:custGeom>
              <a:avLst/>
              <a:gdLst/>
              <a:ahLst/>
              <a:cxnLst/>
              <a:rect r="r" b="b" t="t" l="l"/>
              <a:pathLst>
                <a:path h="2405912" w="4486390">
                  <a:moveTo>
                    <a:pt x="0" y="0"/>
                  </a:moveTo>
                  <a:lnTo>
                    <a:pt x="4486390" y="0"/>
                  </a:lnTo>
                  <a:lnTo>
                    <a:pt x="4486390" y="2405912"/>
                  </a:lnTo>
                  <a:lnTo>
                    <a:pt x="0" y="2405912"/>
                  </a:lnTo>
                  <a:close/>
                </a:path>
              </a:pathLst>
            </a:custGeom>
            <a:ln w="85725" cap="sq">
              <a:solidFill>
                <a:srgbClr val="000000"/>
              </a:solidFill>
              <a:prstDash val="solid"/>
              <a:miter/>
            </a:ln>
          </p:spPr>
        </p:sp>
        <p:sp>
          <p:nvSpPr>
            <p:cNvPr name="TextBox 4" id="4"/>
            <p:cNvSpPr txBox="true"/>
            <p:nvPr/>
          </p:nvSpPr>
          <p:spPr>
            <a:xfrm>
              <a:off x="0" y="-38100"/>
              <a:ext cx="4486390" cy="244401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5072932" y="6212540"/>
            <a:ext cx="597218" cy="596925"/>
            <a:chOff x="0" y="0"/>
            <a:chExt cx="796290" cy="795899"/>
          </a:xfrm>
        </p:grpSpPr>
        <p:grpSp>
          <p:nvGrpSpPr>
            <p:cNvPr name="Group 6" id="6"/>
            <p:cNvGrpSpPr/>
            <p:nvPr/>
          </p:nvGrpSpPr>
          <p:grpSpPr>
            <a:xfrm rot="0">
              <a:off x="0" y="265300"/>
              <a:ext cx="265430" cy="265300"/>
              <a:chOff x="0" y="0"/>
              <a:chExt cx="102566" cy="102516"/>
            </a:xfrm>
          </p:grpSpPr>
          <p:sp>
            <p:nvSpPr>
              <p:cNvPr name="Freeform 7" id="7"/>
              <p:cNvSpPr/>
              <p:nvPr/>
            </p:nvSpPr>
            <p:spPr>
              <a:xfrm flipH="false" flipV="false" rot="0">
                <a:off x="0" y="0"/>
                <a:ext cx="102566" cy="102516"/>
              </a:xfrm>
              <a:custGeom>
                <a:avLst/>
                <a:gdLst/>
                <a:ahLst/>
                <a:cxnLst/>
                <a:rect r="r" b="b" t="t" l="l"/>
                <a:pathLst>
                  <a:path h="102516" w="102566">
                    <a:moveTo>
                      <a:pt x="0" y="0"/>
                    </a:moveTo>
                    <a:lnTo>
                      <a:pt x="102566" y="0"/>
                    </a:lnTo>
                    <a:lnTo>
                      <a:pt x="102566" y="102516"/>
                    </a:lnTo>
                    <a:lnTo>
                      <a:pt x="0" y="102516"/>
                    </a:lnTo>
                    <a:close/>
                  </a:path>
                </a:pathLst>
              </a:custGeom>
              <a:solidFill>
                <a:srgbClr val="000000"/>
              </a:solidFill>
            </p:spPr>
          </p:sp>
          <p:sp>
            <p:nvSpPr>
              <p:cNvPr name="TextBox 8" id="8"/>
              <p:cNvSpPr txBox="true"/>
              <p:nvPr/>
            </p:nvSpPr>
            <p:spPr>
              <a:xfrm>
                <a:off x="0" y="-38100"/>
                <a:ext cx="102566" cy="140616"/>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265430" y="0"/>
              <a:ext cx="265430" cy="265300"/>
              <a:chOff x="0" y="0"/>
              <a:chExt cx="102566" cy="102516"/>
            </a:xfrm>
          </p:grpSpPr>
          <p:sp>
            <p:nvSpPr>
              <p:cNvPr name="Freeform 10" id="10"/>
              <p:cNvSpPr/>
              <p:nvPr/>
            </p:nvSpPr>
            <p:spPr>
              <a:xfrm flipH="false" flipV="false" rot="0">
                <a:off x="0" y="0"/>
                <a:ext cx="102566" cy="102516"/>
              </a:xfrm>
              <a:custGeom>
                <a:avLst/>
                <a:gdLst/>
                <a:ahLst/>
                <a:cxnLst/>
                <a:rect r="r" b="b" t="t" l="l"/>
                <a:pathLst>
                  <a:path h="102516" w="102566">
                    <a:moveTo>
                      <a:pt x="0" y="0"/>
                    </a:moveTo>
                    <a:lnTo>
                      <a:pt x="102566" y="0"/>
                    </a:lnTo>
                    <a:lnTo>
                      <a:pt x="102566" y="102516"/>
                    </a:lnTo>
                    <a:lnTo>
                      <a:pt x="0" y="102516"/>
                    </a:lnTo>
                    <a:close/>
                  </a:path>
                </a:pathLst>
              </a:custGeom>
              <a:solidFill>
                <a:srgbClr val="000000"/>
              </a:solidFill>
            </p:spPr>
          </p:sp>
          <p:sp>
            <p:nvSpPr>
              <p:cNvPr name="TextBox 11" id="11"/>
              <p:cNvSpPr txBox="true"/>
              <p:nvPr/>
            </p:nvSpPr>
            <p:spPr>
              <a:xfrm>
                <a:off x="0" y="-38100"/>
                <a:ext cx="102566" cy="140616"/>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530860" y="265300"/>
              <a:ext cx="265430" cy="265300"/>
              <a:chOff x="0" y="0"/>
              <a:chExt cx="102566" cy="102516"/>
            </a:xfrm>
          </p:grpSpPr>
          <p:sp>
            <p:nvSpPr>
              <p:cNvPr name="Freeform 13" id="13"/>
              <p:cNvSpPr/>
              <p:nvPr/>
            </p:nvSpPr>
            <p:spPr>
              <a:xfrm flipH="false" flipV="false" rot="0">
                <a:off x="0" y="0"/>
                <a:ext cx="102566" cy="102516"/>
              </a:xfrm>
              <a:custGeom>
                <a:avLst/>
                <a:gdLst/>
                <a:ahLst/>
                <a:cxnLst/>
                <a:rect r="r" b="b" t="t" l="l"/>
                <a:pathLst>
                  <a:path h="102516" w="102566">
                    <a:moveTo>
                      <a:pt x="0" y="0"/>
                    </a:moveTo>
                    <a:lnTo>
                      <a:pt x="102566" y="0"/>
                    </a:lnTo>
                    <a:lnTo>
                      <a:pt x="102566" y="102516"/>
                    </a:lnTo>
                    <a:lnTo>
                      <a:pt x="0" y="102516"/>
                    </a:lnTo>
                    <a:close/>
                  </a:path>
                </a:pathLst>
              </a:custGeom>
              <a:solidFill>
                <a:srgbClr val="000000"/>
              </a:solidFill>
            </p:spPr>
          </p:sp>
          <p:sp>
            <p:nvSpPr>
              <p:cNvPr name="TextBox 14" id="14"/>
              <p:cNvSpPr txBox="true"/>
              <p:nvPr/>
            </p:nvSpPr>
            <p:spPr>
              <a:xfrm>
                <a:off x="0" y="-38100"/>
                <a:ext cx="102566" cy="140616"/>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265430" y="530600"/>
              <a:ext cx="265430" cy="265300"/>
              <a:chOff x="0" y="0"/>
              <a:chExt cx="102566" cy="102516"/>
            </a:xfrm>
          </p:grpSpPr>
          <p:sp>
            <p:nvSpPr>
              <p:cNvPr name="Freeform 16" id="16"/>
              <p:cNvSpPr/>
              <p:nvPr/>
            </p:nvSpPr>
            <p:spPr>
              <a:xfrm flipH="false" flipV="false" rot="0">
                <a:off x="0" y="0"/>
                <a:ext cx="102566" cy="102516"/>
              </a:xfrm>
              <a:custGeom>
                <a:avLst/>
                <a:gdLst/>
                <a:ahLst/>
                <a:cxnLst/>
                <a:rect r="r" b="b" t="t" l="l"/>
                <a:pathLst>
                  <a:path h="102516" w="102566">
                    <a:moveTo>
                      <a:pt x="0" y="0"/>
                    </a:moveTo>
                    <a:lnTo>
                      <a:pt x="102566" y="0"/>
                    </a:lnTo>
                    <a:lnTo>
                      <a:pt x="102566" y="102516"/>
                    </a:lnTo>
                    <a:lnTo>
                      <a:pt x="0" y="102516"/>
                    </a:lnTo>
                    <a:close/>
                  </a:path>
                </a:pathLst>
              </a:custGeom>
              <a:solidFill>
                <a:srgbClr val="000000"/>
              </a:solidFill>
            </p:spPr>
          </p:sp>
          <p:sp>
            <p:nvSpPr>
              <p:cNvPr name="TextBox 17" id="17"/>
              <p:cNvSpPr txBox="true"/>
              <p:nvPr/>
            </p:nvSpPr>
            <p:spPr>
              <a:xfrm>
                <a:off x="0" y="-38100"/>
                <a:ext cx="102566" cy="140616"/>
              </a:xfrm>
              <a:prstGeom prst="rect">
                <a:avLst/>
              </a:prstGeom>
            </p:spPr>
            <p:txBody>
              <a:bodyPr anchor="ctr" rtlCol="false" tIns="50800" lIns="50800" bIns="50800" rIns="50800"/>
              <a:lstStyle/>
              <a:p>
                <a:pPr algn="ctr">
                  <a:lnSpc>
                    <a:spcPts val="2659"/>
                  </a:lnSpc>
                </a:pPr>
              </a:p>
            </p:txBody>
          </p:sp>
        </p:grpSp>
      </p:grpSp>
      <p:sp>
        <p:nvSpPr>
          <p:cNvPr name="Freeform 18" id="18"/>
          <p:cNvSpPr/>
          <p:nvPr/>
        </p:nvSpPr>
        <p:spPr>
          <a:xfrm flipH="false" flipV="false" rot="0">
            <a:off x="8279906" y="5945371"/>
            <a:ext cx="1728188" cy="1728188"/>
          </a:xfrm>
          <a:custGeom>
            <a:avLst/>
            <a:gdLst/>
            <a:ahLst/>
            <a:cxnLst/>
            <a:rect r="r" b="b" t="t" l="l"/>
            <a:pathLst>
              <a:path h="1728188" w="1728188">
                <a:moveTo>
                  <a:pt x="0" y="0"/>
                </a:moveTo>
                <a:lnTo>
                  <a:pt x="1728188" y="0"/>
                </a:lnTo>
                <a:lnTo>
                  <a:pt x="1728188" y="1728188"/>
                </a:lnTo>
                <a:lnTo>
                  <a:pt x="0" y="17281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p:txBody>
      </p:sp>
      <p:sp>
        <p:nvSpPr>
          <p:cNvPr name="Freeform 19" id="19"/>
          <p:cNvSpPr/>
          <p:nvPr/>
        </p:nvSpPr>
        <p:spPr>
          <a:xfrm flipH="false" flipV="false" rot="0">
            <a:off x="8880891" y="6314052"/>
            <a:ext cx="742219" cy="990826"/>
          </a:xfrm>
          <a:custGeom>
            <a:avLst/>
            <a:gdLst/>
            <a:ahLst/>
            <a:cxnLst/>
            <a:rect r="r" b="b" t="t" l="l"/>
            <a:pathLst>
              <a:path h="990826" w="742219">
                <a:moveTo>
                  <a:pt x="0" y="0"/>
                </a:moveTo>
                <a:lnTo>
                  <a:pt x="742219" y="0"/>
                </a:lnTo>
                <a:lnTo>
                  <a:pt x="742219" y="990826"/>
                </a:lnTo>
                <a:lnTo>
                  <a:pt x="0" y="99082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txBody>
          <a:bodyPr/>
          <a:p/>
        </p:txBody>
      </p:sp>
      <p:sp>
        <p:nvSpPr>
          <p:cNvPr name="Freeform 20" id="20"/>
          <p:cNvSpPr/>
          <p:nvPr/>
        </p:nvSpPr>
        <p:spPr>
          <a:xfrm flipH="false" flipV="false" rot="0">
            <a:off x="869147" y="7909787"/>
            <a:ext cx="1584741" cy="1584741"/>
          </a:xfrm>
          <a:custGeom>
            <a:avLst/>
            <a:gdLst/>
            <a:ahLst/>
            <a:cxnLst/>
            <a:rect r="r" b="b" t="t" l="l"/>
            <a:pathLst>
              <a:path h="1584741" w="1584741">
                <a:moveTo>
                  <a:pt x="0" y="0"/>
                </a:moveTo>
                <a:lnTo>
                  <a:pt x="1584741" y="0"/>
                </a:lnTo>
                <a:lnTo>
                  <a:pt x="1584741" y="1584741"/>
                </a:lnTo>
                <a:lnTo>
                  <a:pt x="0" y="1584741"/>
                </a:lnTo>
                <a:lnTo>
                  <a:pt x="0" y="0"/>
                </a:lnTo>
                <a:close/>
              </a:path>
            </a:pathLst>
          </a:custGeom>
          <a:blipFill>
            <a:blip r:embed="rId6"/>
            <a:stretch>
              <a:fillRect l="0" t="0" r="0" b="0"/>
            </a:stretch>
          </a:blipFill>
        </p:spPr>
        <p:txBody>
          <a:bodyPr/>
          <a:p/>
        </p:txBody>
      </p:sp>
      <p:sp>
        <p:nvSpPr>
          <p:cNvPr name="Freeform 21" id="21"/>
          <p:cNvSpPr/>
          <p:nvPr/>
        </p:nvSpPr>
        <p:spPr>
          <a:xfrm flipH="false" flipV="false" rot="-5400000">
            <a:off x="3052870" y="8438785"/>
            <a:ext cx="521661" cy="1589824"/>
          </a:xfrm>
          <a:custGeom>
            <a:avLst/>
            <a:gdLst/>
            <a:ahLst/>
            <a:cxnLst/>
            <a:rect r="r" b="b" t="t" l="l"/>
            <a:pathLst>
              <a:path h="1589824" w="521661">
                <a:moveTo>
                  <a:pt x="0" y="0"/>
                </a:moveTo>
                <a:lnTo>
                  <a:pt x="521661" y="0"/>
                </a:lnTo>
                <a:lnTo>
                  <a:pt x="521661" y="1589824"/>
                </a:lnTo>
                <a:lnTo>
                  <a:pt x="0" y="1589824"/>
                </a:lnTo>
                <a:lnTo>
                  <a:pt x="0" y="0"/>
                </a:lnTo>
                <a:close/>
              </a:path>
            </a:pathLst>
          </a:custGeom>
          <a:blipFill>
            <a:blip r:embed="rId7"/>
            <a:stretch>
              <a:fillRect l="0" t="0" r="-100000" b="0"/>
            </a:stretch>
          </a:blipFill>
        </p:spPr>
        <p:txBody>
          <a:bodyPr/>
          <a:p/>
        </p:txBody>
      </p:sp>
      <p:sp>
        <p:nvSpPr>
          <p:cNvPr name="Freeform 22" id="22"/>
          <p:cNvSpPr/>
          <p:nvPr/>
        </p:nvSpPr>
        <p:spPr>
          <a:xfrm flipH="false" flipV="false" rot="-10800000">
            <a:off x="3614217" y="7900262"/>
            <a:ext cx="1591483" cy="1042883"/>
          </a:xfrm>
          <a:custGeom>
            <a:avLst/>
            <a:gdLst/>
            <a:ahLst/>
            <a:cxnLst/>
            <a:rect r="r" b="b" t="t" l="l"/>
            <a:pathLst>
              <a:path h="1042883" w="1591483">
                <a:moveTo>
                  <a:pt x="0" y="0"/>
                </a:moveTo>
                <a:lnTo>
                  <a:pt x="1591483" y="0"/>
                </a:lnTo>
                <a:lnTo>
                  <a:pt x="1591483" y="1042883"/>
                </a:lnTo>
                <a:lnTo>
                  <a:pt x="0" y="1042883"/>
                </a:lnTo>
                <a:lnTo>
                  <a:pt x="0" y="0"/>
                </a:lnTo>
                <a:close/>
              </a:path>
            </a:pathLst>
          </a:custGeom>
          <a:blipFill>
            <a:blip r:embed="rId8"/>
            <a:stretch>
              <a:fillRect l="0" t="0" r="0" b="0"/>
            </a:stretch>
          </a:blipFill>
        </p:spPr>
        <p:txBody>
          <a:bodyPr/>
          <a:p/>
        </p:txBody>
      </p:sp>
      <p:sp>
        <p:nvSpPr>
          <p:cNvPr name="Freeform 23" id="23"/>
          <p:cNvSpPr/>
          <p:nvPr/>
        </p:nvSpPr>
        <p:spPr>
          <a:xfrm flipH="false" flipV="false" rot="-5400000">
            <a:off x="5247008" y="8434829"/>
            <a:ext cx="524257" cy="1597736"/>
          </a:xfrm>
          <a:custGeom>
            <a:avLst/>
            <a:gdLst/>
            <a:ahLst/>
            <a:cxnLst/>
            <a:rect r="r" b="b" t="t" l="l"/>
            <a:pathLst>
              <a:path h="1597736" w="524257">
                <a:moveTo>
                  <a:pt x="0" y="0"/>
                </a:moveTo>
                <a:lnTo>
                  <a:pt x="524257" y="0"/>
                </a:lnTo>
                <a:lnTo>
                  <a:pt x="524257" y="1597736"/>
                </a:lnTo>
                <a:lnTo>
                  <a:pt x="0" y="1597736"/>
                </a:lnTo>
                <a:lnTo>
                  <a:pt x="0" y="0"/>
                </a:lnTo>
                <a:close/>
              </a:path>
            </a:pathLst>
          </a:custGeom>
          <a:blipFill>
            <a:blip r:embed="rId7"/>
            <a:stretch>
              <a:fillRect l="0" t="0" r="-100000" b="0"/>
            </a:stretch>
          </a:blipFill>
        </p:spPr>
        <p:txBody>
          <a:bodyPr/>
          <a:p/>
        </p:txBody>
      </p:sp>
      <p:sp>
        <p:nvSpPr>
          <p:cNvPr name="Freeform 24" id="24"/>
          <p:cNvSpPr/>
          <p:nvPr/>
        </p:nvSpPr>
        <p:spPr>
          <a:xfrm flipH="false" flipV="false" rot="-5400000">
            <a:off x="6911419" y="8436127"/>
            <a:ext cx="524257" cy="1597736"/>
          </a:xfrm>
          <a:custGeom>
            <a:avLst/>
            <a:gdLst/>
            <a:ahLst/>
            <a:cxnLst/>
            <a:rect r="r" b="b" t="t" l="l"/>
            <a:pathLst>
              <a:path h="1597736" w="524257">
                <a:moveTo>
                  <a:pt x="0" y="0"/>
                </a:moveTo>
                <a:lnTo>
                  <a:pt x="524257" y="0"/>
                </a:lnTo>
                <a:lnTo>
                  <a:pt x="524257" y="1597736"/>
                </a:lnTo>
                <a:lnTo>
                  <a:pt x="0" y="1597736"/>
                </a:lnTo>
                <a:lnTo>
                  <a:pt x="0" y="0"/>
                </a:lnTo>
                <a:close/>
              </a:path>
            </a:pathLst>
          </a:custGeom>
          <a:blipFill>
            <a:blip r:embed="rId7"/>
            <a:stretch>
              <a:fillRect l="0" t="0" r="-100000" b="0"/>
            </a:stretch>
          </a:blipFill>
        </p:spPr>
        <p:txBody>
          <a:bodyPr/>
          <a:p/>
        </p:txBody>
      </p:sp>
      <p:sp>
        <p:nvSpPr>
          <p:cNvPr name="Freeform 25" id="25"/>
          <p:cNvSpPr/>
          <p:nvPr/>
        </p:nvSpPr>
        <p:spPr>
          <a:xfrm flipH="false" flipV="false" rot="-5400000">
            <a:off x="8575829" y="8436127"/>
            <a:ext cx="524257" cy="1597736"/>
          </a:xfrm>
          <a:custGeom>
            <a:avLst/>
            <a:gdLst/>
            <a:ahLst/>
            <a:cxnLst/>
            <a:rect r="r" b="b" t="t" l="l"/>
            <a:pathLst>
              <a:path h="1597736" w="524257">
                <a:moveTo>
                  <a:pt x="0" y="0"/>
                </a:moveTo>
                <a:lnTo>
                  <a:pt x="524257" y="0"/>
                </a:lnTo>
                <a:lnTo>
                  <a:pt x="524257" y="1597736"/>
                </a:lnTo>
                <a:lnTo>
                  <a:pt x="0" y="1597736"/>
                </a:lnTo>
                <a:lnTo>
                  <a:pt x="0" y="0"/>
                </a:lnTo>
                <a:close/>
              </a:path>
            </a:pathLst>
          </a:custGeom>
          <a:blipFill>
            <a:blip r:embed="rId7"/>
            <a:stretch>
              <a:fillRect l="0" t="0" r="-100000" b="0"/>
            </a:stretch>
          </a:blipFill>
        </p:spPr>
        <p:txBody>
          <a:bodyPr/>
          <a:p/>
        </p:txBody>
      </p:sp>
      <p:sp>
        <p:nvSpPr>
          <p:cNvPr name="Freeform 26" id="26"/>
          <p:cNvSpPr/>
          <p:nvPr/>
        </p:nvSpPr>
        <p:spPr>
          <a:xfrm flipH="false" flipV="false" rot="-5400000">
            <a:off x="10240240" y="8437425"/>
            <a:ext cx="524257" cy="1597736"/>
          </a:xfrm>
          <a:custGeom>
            <a:avLst/>
            <a:gdLst/>
            <a:ahLst/>
            <a:cxnLst/>
            <a:rect r="r" b="b" t="t" l="l"/>
            <a:pathLst>
              <a:path h="1597736" w="524257">
                <a:moveTo>
                  <a:pt x="0" y="0"/>
                </a:moveTo>
                <a:lnTo>
                  <a:pt x="524257" y="0"/>
                </a:lnTo>
                <a:lnTo>
                  <a:pt x="524257" y="1597736"/>
                </a:lnTo>
                <a:lnTo>
                  <a:pt x="0" y="1597736"/>
                </a:lnTo>
                <a:lnTo>
                  <a:pt x="0" y="0"/>
                </a:lnTo>
                <a:close/>
              </a:path>
            </a:pathLst>
          </a:custGeom>
          <a:blipFill>
            <a:blip r:embed="rId7"/>
            <a:stretch>
              <a:fillRect l="0" t="0" r="-100000" b="0"/>
            </a:stretch>
          </a:blipFill>
        </p:spPr>
        <p:txBody>
          <a:bodyPr/>
          <a:p/>
        </p:txBody>
      </p:sp>
      <p:sp>
        <p:nvSpPr>
          <p:cNvPr name="Freeform 27" id="27"/>
          <p:cNvSpPr/>
          <p:nvPr/>
        </p:nvSpPr>
        <p:spPr>
          <a:xfrm flipH="false" flipV="false" rot="0">
            <a:off x="869147" y="6818990"/>
            <a:ext cx="1584741" cy="1038659"/>
          </a:xfrm>
          <a:custGeom>
            <a:avLst/>
            <a:gdLst/>
            <a:ahLst/>
            <a:cxnLst/>
            <a:rect r="r" b="b" t="t" l="l"/>
            <a:pathLst>
              <a:path h="1038659" w="1584741">
                <a:moveTo>
                  <a:pt x="0" y="0"/>
                </a:moveTo>
                <a:lnTo>
                  <a:pt x="1584741" y="0"/>
                </a:lnTo>
                <a:lnTo>
                  <a:pt x="1584741" y="1038659"/>
                </a:lnTo>
                <a:lnTo>
                  <a:pt x="0" y="1038659"/>
                </a:lnTo>
                <a:lnTo>
                  <a:pt x="0" y="0"/>
                </a:lnTo>
                <a:close/>
              </a:path>
            </a:pathLst>
          </a:custGeom>
          <a:blipFill>
            <a:blip r:embed="rId9"/>
            <a:stretch>
              <a:fillRect l="0" t="0" r="0" b="0"/>
            </a:stretch>
          </a:blipFill>
        </p:spPr>
        <p:txBody>
          <a:bodyPr/>
          <a:p/>
        </p:txBody>
      </p:sp>
      <p:sp>
        <p:nvSpPr>
          <p:cNvPr name="Freeform 29" id="29"/>
          <p:cNvSpPr/>
          <p:nvPr/>
        </p:nvSpPr>
        <p:spPr>
          <a:xfrm flipH="false" flipV="false" rot="-5400000">
            <a:off x="11904651" y="8437425"/>
            <a:ext cx="524257" cy="1597736"/>
          </a:xfrm>
          <a:custGeom>
            <a:avLst/>
            <a:gdLst/>
            <a:ahLst/>
            <a:cxnLst/>
            <a:rect r="r" b="b" t="t" l="l"/>
            <a:pathLst>
              <a:path h="1597736" w="524257">
                <a:moveTo>
                  <a:pt x="0" y="0"/>
                </a:moveTo>
                <a:lnTo>
                  <a:pt x="524257" y="0"/>
                </a:lnTo>
                <a:lnTo>
                  <a:pt x="524257" y="1597736"/>
                </a:lnTo>
                <a:lnTo>
                  <a:pt x="0" y="1597736"/>
                </a:lnTo>
                <a:lnTo>
                  <a:pt x="0" y="0"/>
                </a:lnTo>
                <a:close/>
              </a:path>
            </a:pathLst>
          </a:custGeom>
          <a:blipFill>
            <a:blip r:embed="rId7"/>
            <a:stretch>
              <a:fillRect l="0" t="0" r="-100000" b="0"/>
            </a:stretch>
          </a:blipFill>
        </p:spPr>
        <p:txBody>
          <a:bodyPr/>
          <a:p/>
        </p:txBody>
      </p:sp>
      <p:sp>
        <p:nvSpPr>
          <p:cNvPr name="Freeform 30" id="30"/>
          <p:cNvSpPr/>
          <p:nvPr/>
        </p:nvSpPr>
        <p:spPr>
          <a:xfrm flipH="false" flipV="false" rot="-5400000">
            <a:off x="13569061" y="8438723"/>
            <a:ext cx="524257" cy="1597736"/>
          </a:xfrm>
          <a:custGeom>
            <a:avLst/>
            <a:gdLst/>
            <a:ahLst/>
            <a:cxnLst/>
            <a:rect r="r" b="b" t="t" l="l"/>
            <a:pathLst>
              <a:path h="1597736" w="524257">
                <a:moveTo>
                  <a:pt x="0" y="0"/>
                </a:moveTo>
                <a:lnTo>
                  <a:pt x="524257" y="0"/>
                </a:lnTo>
                <a:lnTo>
                  <a:pt x="524257" y="1597736"/>
                </a:lnTo>
                <a:lnTo>
                  <a:pt x="0" y="1597736"/>
                </a:lnTo>
                <a:lnTo>
                  <a:pt x="0" y="0"/>
                </a:lnTo>
                <a:close/>
              </a:path>
            </a:pathLst>
          </a:custGeom>
          <a:blipFill>
            <a:blip r:embed="rId7"/>
            <a:stretch>
              <a:fillRect l="0" t="0" r="-100000" b="0"/>
            </a:stretch>
          </a:blipFill>
        </p:spPr>
        <p:txBody>
          <a:bodyPr/>
          <a:p/>
        </p:txBody>
      </p:sp>
      <p:sp>
        <p:nvSpPr>
          <p:cNvPr name="Freeform 31" id="31"/>
          <p:cNvSpPr/>
          <p:nvPr/>
        </p:nvSpPr>
        <p:spPr>
          <a:xfrm flipH="false" flipV="false" rot="-5400000">
            <a:off x="15233472" y="8438723"/>
            <a:ext cx="524257" cy="1597736"/>
          </a:xfrm>
          <a:custGeom>
            <a:avLst/>
            <a:gdLst/>
            <a:ahLst/>
            <a:cxnLst/>
            <a:rect r="r" b="b" t="t" l="l"/>
            <a:pathLst>
              <a:path h="1597736" w="524257">
                <a:moveTo>
                  <a:pt x="0" y="0"/>
                </a:moveTo>
                <a:lnTo>
                  <a:pt x="524257" y="0"/>
                </a:lnTo>
                <a:lnTo>
                  <a:pt x="524257" y="1597736"/>
                </a:lnTo>
                <a:lnTo>
                  <a:pt x="0" y="1597736"/>
                </a:lnTo>
                <a:lnTo>
                  <a:pt x="0" y="0"/>
                </a:lnTo>
                <a:close/>
              </a:path>
            </a:pathLst>
          </a:custGeom>
          <a:blipFill>
            <a:blip r:embed="rId7"/>
            <a:stretch>
              <a:fillRect l="0" t="0" r="-100000" b="0"/>
            </a:stretch>
          </a:blipFill>
        </p:spPr>
        <p:txBody>
          <a:bodyPr/>
          <a:p/>
        </p:txBody>
      </p:sp>
      <p:sp>
        <p:nvSpPr>
          <p:cNvPr name="Freeform 32" id="32"/>
          <p:cNvSpPr/>
          <p:nvPr/>
        </p:nvSpPr>
        <p:spPr>
          <a:xfrm flipH="false" flipV="true" rot="-5400000">
            <a:off x="16088103" y="8182827"/>
            <a:ext cx="1584741" cy="1038659"/>
          </a:xfrm>
          <a:custGeom>
            <a:avLst/>
            <a:gdLst/>
            <a:ahLst/>
            <a:cxnLst/>
            <a:rect r="r" b="b" t="t" l="l"/>
            <a:pathLst>
              <a:path h="1038659" w="1584741">
                <a:moveTo>
                  <a:pt x="0" y="1038660"/>
                </a:moveTo>
                <a:lnTo>
                  <a:pt x="1584741" y="1038660"/>
                </a:lnTo>
                <a:lnTo>
                  <a:pt x="1584741" y="0"/>
                </a:lnTo>
                <a:lnTo>
                  <a:pt x="0" y="0"/>
                </a:lnTo>
                <a:lnTo>
                  <a:pt x="0" y="1038660"/>
                </a:lnTo>
                <a:close/>
              </a:path>
            </a:pathLst>
          </a:custGeom>
          <a:blipFill>
            <a:blip r:embed="rId9"/>
            <a:stretch>
              <a:fillRect l="0" t="0" r="0" b="0"/>
            </a:stretch>
          </a:blipFill>
        </p:spPr>
        <p:txBody>
          <a:bodyPr/>
          <a:p/>
        </p:txBody>
      </p:sp>
      <p:sp>
        <p:nvSpPr>
          <p:cNvPr name="Freeform 33" id="33"/>
          <p:cNvSpPr/>
          <p:nvPr/>
        </p:nvSpPr>
        <p:spPr>
          <a:xfrm flipH="true" flipV="true" rot="-5400000">
            <a:off x="16088103" y="6545949"/>
            <a:ext cx="1584741" cy="1038659"/>
          </a:xfrm>
          <a:custGeom>
            <a:avLst/>
            <a:gdLst/>
            <a:ahLst/>
            <a:cxnLst/>
            <a:rect r="r" b="b" t="t" l="l"/>
            <a:pathLst>
              <a:path h="1038659" w="1584741">
                <a:moveTo>
                  <a:pt x="1584741" y="1038659"/>
                </a:moveTo>
                <a:lnTo>
                  <a:pt x="0" y="1038659"/>
                </a:lnTo>
                <a:lnTo>
                  <a:pt x="0" y="0"/>
                </a:lnTo>
                <a:lnTo>
                  <a:pt x="1584741" y="0"/>
                </a:lnTo>
                <a:lnTo>
                  <a:pt x="1584741" y="1038659"/>
                </a:lnTo>
                <a:close/>
              </a:path>
            </a:pathLst>
          </a:custGeom>
          <a:blipFill>
            <a:blip r:embed="rId9"/>
            <a:stretch>
              <a:fillRect l="0" t="0" r="0" b="0"/>
            </a:stretch>
          </a:blipFill>
        </p:spPr>
        <p:txBody>
          <a:bodyPr/>
          <a:p/>
        </p:txBody>
      </p:sp>
      <p:sp>
        <p:nvSpPr>
          <p:cNvPr id="34" name="Rectangle 33"/>
          <p:cNvSpPr/>
          <p:nvPr/>
        </p:nvSpPr>
        <p:spPr>
          <a:xfrm>
            <a:off x="3108960" y="2194560"/>
            <a:ext cx="12070080" cy="5577840"/>
          </a:xfrm>
          <a:prstGeom prst="rect">
            <a:avLst/>
          </a:prstGeom>
          <a:solidFill>
            <a:srgbClr val="788B73"/>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57600" y="2606040"/>
            <a:ext cx="10972800" cy="1234440"/>
          </a:xfrm>
          <a:prstGeom prst="rect">
            <a:avLst/>
          </a:prstGeom>
          <a:noFill/>
        </p:spPr>
        <p:txBody>
          <a:bodyPr wrap="square" lIns="27432" rIns="27432" tIns="18288" bIns="18288">
            <a:spAutoFit/>
          </a:bodyPr>
          <a:lstStyle/>
          <a:p>
            <a:pPr algn="ctr">
              <a:spcAft>
                <a:spcPts val="1200"/>
              </a:spcAft>
              <a:defRPr sz="9500" b="0">
                <a:solidFill>
                  <a:srgbClr val="111511"/>
                </a:solidFill>
                <a:latin typeface="Pixellance"/>
              </a:defRPr>
            </a:pPr>
            <a:r>
              <a:t>SNAKE</a:t>
            </a:r>
          </a:p>
        </p:txBody>
      </p:sp>
      <p:sp>
        <p:nvSpPr>
          <p:cNvPr id="36" name="TextBox 35"/>
          <p:cNvSpPr txBox="1"/>
          <p:nvPr/>
        </p:nvSpPr>
        <p:spPr>
          <a:xfrm>
            <a:off x="3566160" y="4069080"/>
            <a:ext cx="11155680" cy="777240"/>
          </a:xfrm>
          <a:prstGeom prst="rect">
            <a:avLst/>
          </a:prstGeom>
          <a:noFill/>
        </p:spPr>
        <p:txBody>
          <a:bodyPr wrap="square" lIns="27432" rIns="27432" tIns="18288" bIns="18288">
            <a:spAutoFit/>
          </a:bodyPr>
          <a:lstStyle/>
          <a:p>
            <a:pPr algn="ctr">
              <a:spcAft>
                <a:spcPts val="1200"/>
              </a:spcAft>
              <a:defRPr sz="4100" b="0">
                <a:solidFill>
                  <a:srgbClr val="111511"/>
                </a:solidFill>
                <a:latin typeface="Pixellance"/>
              </a:defRPr>
            </a:pPr>
            <a:r>
              <a:t>CROSS-LEVEL GENERALIZATION</a:t>
            </a:r>
          </a:p>
        </p:txBody>
      </p:sp>
      <p:sp>
        <p:nvSpPr>
          <p:cNvPr id="37" name="TextBox 36"/>
          <p:cNvSpPr txBox="1"/>
          <p:nvPr/>
        </p:nvSpPr>
        <p:spPr>
          <a:xfrm>
            <a:off x="3749039" y="5166360"/>
            <a:ext cx="10789920" cy="1371600"/>
          </a:xfrm>
          <a:prstGeom prst="rect">
            <a:avLst/>
          </a:prstGeom>
          <a:noFill/>
        </p:spPr>
        <p:txBody>
          <a:bodyPr wrap="square" lIns="27432" rIns="27432" tIns="18288" bIns="18288">
            <a:spAutoFit/>
          </a:bodyPr>
          <a:lstStyle/>
          <a:p>
            <a:pPr algn="ctr">
              <a:spcAft>
                <a:spcPts val="1200"/>
              </a:spcAft>
              <a:defRPr sz="3200" b="0">
                <a:solidFill>
                  <a:srgbClr val="111511"/>
                </a:solidFill>
                <a:latin typeface="Aptos"/>
              </a:defRPr>
            </a:pPr>
            <a:r>
              <a:t>Evaluating a Dueling Double DQN</a:t>
            </a:r>
          </a:p>
          <a:p>
            <a:pPr algn="ctr">
              <a:spcAft>
                <a:spcPts val="1200"/>
              </a:spcAft>
              <a:defRPr sz="3200" b="0">
                <a:solidFill>
                  <a:srgbClr val="111511"/>
                </a:solidFill>
                <a:latin typeface="Aptos"/>
              </a:defRPr>
            </a:pPr>
            <a:r>
              <a:t>Trained in a Single Snake Environment</a:t>
            </a:r>
          </a:p>
        </p:txBody>
      </p:sp>
      <p:sp>
        <p:nvSpPr>
          <p:cNvPr id="38" name="TextBox 37"/>
          <p:cNvSpPr txBox="1"/>
          <p:nvPr/>
        </p:nvSpPr>
        <p:spPr>
          <a:xfrm>
            <a:off x="3657600" y="6812280"/>
            <a:ext cx="10972800" cy="457200"/>
          </a:xfrm>
          <a:prstGeom prst="rect">
            <a:avLst/>
          </a:prstGeom>
          <a:noFill/>
        </p:spPr>
        <p:txBody>
          <a:bodyPr wrap="square" lIns="27432" rIns="27432" tIns="18288" bIns="18288">
            <a:spAutoFit/>
          </a:bodyPr>
          <a:lstStyle/>
          <a:p>
            <a:pPr algn="ctr">
              <a:spcAft>
                <a:spcPts val="1200"/>
              </a:spcAft>
              <a:defRPr sz="2300" b="0">
                <a:solidFill>
                  <a:srgbClr val="111511"/>
                </a:solidFill>
                <a:latin typeface="Aptos"/>
              </a:defRPr>
            </a:pPr>
            <a:r>
              <a:t>Research presentation |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788B73"/>
        </a:solidFill>
      </p:bgPr>
    </p:bg>
    <p:spTree>
      <p:nvGrpSpPr>
        <p:cNvPr id="1" name=""/>
        <p:cNvGrpSpPr/>
        <p:nvPr/>
      </p:nvGrpSpPr>
      <p:grpSpPr/>
      <p:grpSp>
        <p:nvGrpSpPr>
          <p:cNvPr name="Group 2" id="2"/>
          <p:cNvGrpSpPr/>
          <p:nvPr/>
        </p:nvGrpSpPr>
        <p:grpSpPr>
          <a:xfrm rot="0">
            <a:off x="626868" y="576026"/>
            <a:ext cx="17034264" cy="9134947"/>
            <a:chOff x="0" y="0"/>
            <a:chExt cx="4486390" cy="2405912"/>
          </a:xfrm>
        </p:grpSpPr>
        <p:sp>
          <p:nvSpPr>
            <p:cNvPr name="Freeform 3" id="3"/>
            <p:cNvSpPr/>
            <p:nvPr/>
          </p:nvSpPr>
          <p:spPr>
            <a:xfrm flipH="false" flipV="false" rot="0">
              <a:off x="0" y="0"/>
              <a:ext cx="4486390" cy="2405912"/>
            </a:xfrm>
            <a:custGeom>
              <a:avLst/>
              <a:gdLst/>
              <a:ahLst/>
              <a:cxnLst/>
              <a:rect r="r" b="b" t="t" l="l"/>
              <a:pathLst>
                <a:path h="2405912" w="4486390">
                  <a:moveTo>
                    <a:pt x="0" y="0"/>
                  </a:moveTo>
                  <a:lnTo>
                    <a:pt x="4486390" y="0"/>
                  </a:lnTo>
                  <a:lnTo>
                    <a:pt x="4486390" y="2405912"/>
                  </a:lnTo>
                  <a:lnTo>
                    <a:pt x="0" y="2405912"/>
                  </a:lnTo>
                  <a:close/>
                </a:path>
              </a:pathLst>
            </a:custGeom>
            <a:ln w="85725" cap="sq">
              <a:solidFill>
                <a:srgbClr val="000000"/>
              </a:solidFill>
              <a:prstDash val="solid"/>
              <a:miter/>
            </a:ln>
          </p:spPr>
        </p:sp>
        <p:sp>
          <p:nvSpPr>
            <p:cNvPr name="TextBox 4" id="4"/>
            <p:cNvSpPr txBox="true"/>
            <p:nvPr/>
          </p:nvSpPr>
          <p:spPr>
            <a:xfrm>
              <a:off x="0" y="-38100"/>
              <a:ext cx="4486390" cy="2444012"/>
            </a:xfrm>
            <a:prstGeom prst="rect">
              <a:avLst/>
            </a:prstGeom>
          </p:spPr>
          <p:txBody>
            <a:bodyPr anchor="ctr" rtlCol="false" tIns="50800" lIns="50800" bIns="50800" rIns="50800"/>
            <a:lstStyle/>
            <a:p>
              <a:pPr algn="ctr">
                <a:lnSpc>
                  <a:spcPts val="2659"/>
                </a:lnSpc>
              </a:pPr>
            </a:p>
          </p:txBody>
        </p:sp>
      </p:grpSp>
      <p:sp>
        <p:nvSpPr>
          <p:cNvPr id="5" name="TextBox 4"/>
          <p:cNvSpPr txBox="1"/>
          <p:nvPr/>
        </p:nvSpPr>
        <p:spPr>
          <a:xfrm>
            <a:off x="960120" y="914400"/>
            <a:ext cx="16276320" cy="731520"/>
          </a:xfrm>
          <a:prstGeom prst="rect">
            <a:avLst/>
          </a:prstGeom>
          <a:noFill/>
        </p:spPr>
        <p:txBody>
          <a:bodyPr wrap="square" lIns="27432" rIns="27432" tIns="18288" bIns="18288">
            <a:spAutoFit/>
          </a:bodyPr>
          <a:lstStyle/>
          <a:p>
            <a:pPr>
              <a:spcAft>
                <a:spcPts val="1200"/>
              </a:spcAft>
              <a:defRPr sz="4300" b="0">
                <a:solidFill>
                  <a:srgbClr val="111511"/>
                </a:solidFill>
                <a:latin typeface="Pixellance"/>
              </a:defRPr>
            </a:pPr>
            <a:r>
              <a:t>THE RESEARCH QUESTION</a:t>
            </a:r>
          </a:p>
        </p:txBody>
      </p:sp>
      <p:sp>
        <p:nvSpPr>
          <p:cNvPr id="6" name="TextBox 5"/>
          <p:cNvSpPr txBox="1"/>
          <p:nvPr/>
        </p:nvSpPr>
        <p:spPr>
          <a:xfrm>
            <a:off x="1005840" y="9098280"/>
            <a:ext cx="11887200" cy="320040"/>
          </a:xfrm>
          <a:prstGeom prst="rect">
            <a:avLst/>
          </a:prstGeom>
          <a:noFill/>
        </p:spPr>
        <p:txBody>
          <a:bodyPr wrap="square" lIns="27432" rIns="27432" tIns="18288" bIns="18288">
            <a:spAutoFit/>
          </a:bodyPr>
          <a:lstStyle/>
          <a:p>
            <a:pPr>
              <a:spcAft>
                <a:spcPts val="1200"/>
              </a:spcAft>
              <a:defRPr sz="1500" b="0">
                <a:solidFill>
                  <a:srgbClr val="111511"/>
                </a:solidFill>
                <a:latin typeface="Aptos"/>
              </a:defRPr>
            </a:pPr>
            <a:r>
              <a:t>SNAKE / DUELING DOUBLE DQN</a:t>
            </a:r>
          </a:p>
        </p:txBody>
      </p:sp>
      <p:sp>
        <p:nvSpPr>
          <p:cNvPr id="7" name="TextBox 6"/>
          <p:cNvSpPr txBox="1"/>
          <p:nvPr/>
        </p:nvSpPr>
        <p:spPr>
          <a:xfrm>
            <a:off x="16184880" y="9052560"/>
            <a:ext cx="914400" cy="365760"/>
          </a:xfrm>
          <a:prstGeom prst="rect">
            <a:avLst/>
          </a:prstGeom>
          <a:noFill/>
        </p:spPr>
        <p:txBody>
          <a:bodyPr wrap="square" lIns="27432" rIns="27432" tIns="18288" bIns="18288">
            <a:spAutoFit/>
          </a:bodyPr>
          <a:lstStyle/>
          <a:p>
            <a:pPr algn="r">
              <a:spcAft>
                <a:spcPts val="1200"/>
              </a:spcAft>
              <a:defRPr sz="1800" b="0">
                <a:solidFill>
                  <a:srgbClr val="111511"/>
                </a:solidFill>
                <a:latin typeface="Aptos"/>
              </a:defRPr>
            </a:pPr>
            <a:r>
              <a:t>02</a:t>
            </a:r>
          </a:p>
        </p:txBody>
      </p:sp>
      <p:sp>
        <p:nvSpPr>
          <p:cNvPr id="8" name="TextBox 7"/>
          <p:cNvSpPr txBox="1"/>
          <p:nvPr/>
        </p:nvSpPr>
        <p:spPr>
          <a:xfrm>
            <a:off x="1005840" y="8595360"/>
            <a:ext cx="16093440" cy="365760"/>
          </a:xfrm>
          <a:prstGeom prst="rect">
            <a:avLst/>
          </a:prstGeom>
          <a:noFill/>
        </p:spPr>
        <p:txBody>
          <a:bodyPr wrap="square" lIns="27432" rIns="27432" tIns="18288" bIns="18288">
            <a:spAutoFit/>
          </a:bodyPr>
          <a:lstStyle/>
          <a:p>
            <a:pPr>
              <a:spcAft>
                <a:spcPts val="1200"/>
              </a:spcAft>
              <a:defRPr sz="1500" b="0">
                <a:solidFill>
                  <a:srgbClr val="111511"/>
                </a:solidFill>
                <a:latin typeface="Aptos"/>
              </a:defRPr>
            </a:pPr>
            <a:r>
              <a:t>Source: project implementation and latex/main.tex</a:t>
            </a:r>
          </a:p>
        </p:txBody>
      </p:sp>
      <p:sp>
        <p:nvSpPr>
          <p:cNvPr id="9" name="TextBox 8"/>
          <p:cNvSpPr txBox="1"/>
          <p:nvPr/>
        </p:nvSpPr>
        <p:spPr>
          <a:xfrm>
            <a:off x="1097280" y="2057400"/>
            <a:ext cx="15819120" cy="1097280"/>
          </a:xfrm>
          <a:prstGeom prst="rect">
            <a:avLst/>
          </a:prstGeom>
          <a:noFill/>
        </p:spPr>
        <p:txBody>
          <a:bodyPr wrap="square" lIns="27432" rIns="27432" tIns="18288" bIns="18288">
            <a:spAutoFit/>
          </a:bodyPr>
          <a:lstStyle/>
          <a:p>
            <a:pPr>
              <a:spcAft>
                <a:spcPts val="1200"/>
              </a:spcAft>
              <a:defRPr sz="4300" b="1">
                <a:solidFill>
                  <a:srgbClr val="111511"/>
                </a:solidFill>
                <a:latin typeface="Aptos"/>
              </a:defRPr>
            </a:pPr>
            <a:r>
              <a:t>Can one trained policy handle different Snake levels?</a:t>
            </a:r>
          </a:p>
        </p:txBody>
      </p:sp>
      <p:sp>
        <p:nvSpPr>
          <p:cNvPr id="10" name="Rectangle 9"/>
          <p:cNvSpPr/>
          <p:nvPr/>
        </p:nvSpPr>
        <p:spPr>
          <a:xfrm>
            <a:off x="1051560" y="3474720"/>
            <a:ext cx="5074920" cy="429768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80160" y="3794759"/>
            <a:ext cx="4617720" cy="1097280"/>
          </a:xfrm>
          <a:prstGeom prst="rect">
            <a:avLst/>
          </a:prstGeom>
          <a:noFill/>
        </p:spPr>
        <p:txBody>
          <a:bodyPr wrap="square" lIns="27432" rIns="27432" tIns="18288" bIns="18288">
            <a:spAutoFit/>
          </a:bodyPr>
          <a:lstStyle/>
          <a:p>
            <a:pPr>
              <a:spcAft>
                <a:spcPts val="1200"/>
              </a:spcAft>
              <a:defRPr sz="3400" b="0">
                <a:solidFill>
                  <a:srgbClr val="111511"/>
                </a:solidFill>
                <a:latin typeface="Pixellance"/>
              </a:defRPr>
            </a:pPr>
            <a:r>
              <a:t>RQ1 / SOURCE</a:t>
            </a:r>
          </a:p>
        </p:txBody>
      </p:sp>
      <p:sp>
        <p:nvSpPr>
          <p:cNvPr id="12" name="TextBox 11"/>
          <p:cNvSpPr txBox="1"/>
          <p:nvPr/>
        </p:nvSpPr>
        <p:spPr>
          <a:xfrm>
            <a:off x="1280160" y="5166360"/>
            <a:ext cx="4617720" cy="2286000"/>
          </a:xfrm>
          <a:prstGeom prst="rect">
            <a:avLst/>
          </a:prstGeom>
          <a:noFill/>
        </p:spPr>
        <p:txBody>
          <a:bodyPr wrap="square" lIns="27432" rIns="27432" tIns="18288" bIns="18288">
            <a:spAutoFit/>
          </a:bodyPr>
          <a:lstStyle/>
          <a:p>
            <a:pPr>
              <a:spcAft>
                <a:spcPts val="1200"/>
              </a:spcAft>
              <a:defRPr sz="2900" b="0">
                <a:solidFill>
                  <a:srgbClr val="111511"/>
                </a:solidFill>
                <a:latin typeface="Aptos"/>
              </a:defRPr>
            </a:pPr>
            <a:r>
              <a:t>How well does the agent perform on Level 4?</a:t>
            </a:r>
          </a:p>
        </p:txBody>
      </p:sp>
      <p:sp>
        <p:nvSpPr>
          <p:cNvPr id="13" name="Rectangle 12"/>
          <p:cNvSpPr/>
          <p:nvPr/>
        </p:nvSpPr>
        <p:spPr>
          <a:xfrm>
            <a:off x="6583679" y="3474720"/>
            <a:ext cx="5074920" cy="429768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12279" y="3794759"/>
            <a:ext cx="4617720" cy="1097280"/>
          </a:xfrm>
          <a:prstGeom prst="rect">
            <a:avLst/>
          </a:prstGeom>
          <a:noFill/>
        </p:spPr>
        <p:txBody>
          <a:bodyPr wrap="square" lIns="27432" rIns="27432" tIns="18288" bIns="18288">
            <a:spAutoFit/>
          </a:bodyPr>
          <a:lstStyle/>
          <a:p>
            <a:pPr>
              <a:spcAft>
                <a:spcPts val="1200"/>
              </a:spcAft>
              <a:defRPr sz="3400" b="0">
                <a:solidFill>
                  <a:srgbClr val="111511"/>
                </a:solidFill>
                <a:latin typeface="Pixellance"/>
              </a:defRPr>
            </a:pPr>
            <a:r>
              <a:t>RQ2 / TRANSFER</a:t>
            </a:r>
          </a:p>
        </p:txBody>
      </p:sp>
      <p:sp>
        <p:nvSpPr>
          <p:cNvPr id="15" name="TextBox 14"/>
          <p:cNvSpPr txBox="1"/>
          <p:nvPr/>
        </p:nvSpPr>
        <p:spPr>
          <a:xfrm>
            <a:off x="6812279" y="5166360"/>
            <a:ext cx="4617720" cy="2286000"/>
          </a:xfrm>
          <a:prstGeom prst="rect">
            <a:avLst/>
          </a:prstGeom>
          <a:noFill/>
        </p:spPr>
        <p:txBody>
          <a:bodyPr wrap="square" lIns="27432" rIns="27432" tIns="18288" bIns="18288">
            <a:spAutoFit/>
          </a:bodyPr>
          <a:lstStyle/>
          <a:p>
            <a:pPr>
              <a:spcAft>
                <a:spcPts val="1200"/>
              </a:spcAft>
              <a:defRPr sz="2900" b="0">
                <a:solidFill>
                  <a:srgbClr val="111511"/>
                </a:solidFill>
                <a:latin typeface="Aptos"/>
              </a:defRPr>
            </a:pPr>
            <a:r>
              <a:t>Does the frozen policy reach targets on five unseen levels?</a:t>
            </a:r>
          </a:p>
        </p:txBody>
      </p:sp>
      <p:sp>
        <p:nvSpPr>
          <p:cNvPr id="16" name="Rectangle 15"/>
          <p:cNvSpPr/>
          <p:nvPr/>
        </p:nvSpPr>
        <p:spPr>
          <a:xfrm>
            <a:off x="12115800" y="3474720"/>
            <a:ext cx="5074920" cy="429768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344400" y="3794759"/>
            <a:ext cx="4617720" cy="1097280"/>
          </a:xfrm>
          <a:prstGeom prst="rect">
            <a:avLst/>
          </a:prstGeom>
          <a:noFill/>
        </p:spPr>
        <p:txBody>
          <a:bodyPr wrap="square" lIns="27432" rIns="27432" tIns="18288" bIns="18288">
            <a:spAutoFit/>
          </a:bodyPr>
          <a:lstStyle/>
          <a:p>
            <a:pPr>
              <a:spcAft>
                <a:spcPts val="1200"/>
              </a:spcAft>
              <a:defRPr sz="3400" b="0">
                <a:solidFill>
                  <a:srgbClr val="111511"/>
                </a:solidFill>
                <a:latin typeface="Pixellance"/>
              </a:defRPr>
            </a:pPr>
            <a:r>
              <a:t>RQ3 / RELIABILITY</a:t>
            </a:r>
          </a:p>
        </p:txBody>
      </p:sp>
      <p:sp>
        <p:nvSpPr>
          <p:cNvPr id="18" name="TextBox 17"/>
          <p:cNvSpPr txBox="1"/>
          <p:nvPr/>
        </p:nvSpPr>
        <p:spPr>
          <a:xfrm>
            <a:off x="12344400" y="5166360"/>
            <a:ext cx="4617720" cy="2286000"/>
          </a:xfrm>
          <a:prstGeom prst="rect">
            <a:avLst/>
          </a:prstGeom>
          <a:noFill/>
        </p:spPr>
        <p:txBody>
          <a:bodyPr wrap="square" lIns="27432" rIns="27432" tIns="18288" bIns="18288">
            <a:spAutoFit/>
          </a:bodyPr>
          <a:lstStyle/>
          <a:p>
            <a:pPr>
              <a:spcAft>
                <a:spcPts val="1200"/>
              </a:spcAft>
              <a:defRPr sz="2900" b="0">
                <a:solidFill>
                  <a:srgbClr val="111511"/>
                </a:solidFill>
                <a:latin typeface="Aptos"/>
              </a:defRPr>
            </a:pPr>
            <a:r>
              <a:t>How do scores and failure modes vary across layouts?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788B73"/>
        </a:solidFill>
      </p:bgPr>
    </p:bg>
    <p:spTree>
      <p:nvGrpSpPr>
        <p:cNvPr id="1" name=""/>
        <p:cNvGrpSpPr/>
        <p:nvPr/>
      </p:nvGrpSpPr>
      <p:grpSpPr/>
      <p:grpSp>
        <p:nvGrpSpPr>
          <p:cNvPr name="Group 2" id="2"/>
          <p:cNvGrpSpPr/>
          <p:nvPr/>
        </p:nvGrpSpPr>
        <p:grpSpPr>
          <a:xfrm rot="0">
            <a:off x="626868" y="576026"/>
            <a:ext cx="17034264" cy="9134947"/>
            <a:chOff x="0" y="0"/>
            <a:chExt cx="4486390" cy="2405912"/>
          </a:xfrm>
        </p:grpSpPr>
        <p:sp>
          <p:nvSpPr>
            <p:cNvPr name="Freeform 3" id="3"/>
            <p:cNvSpPr/>
            <p:nvPr/>
          </p:nvSpPr>
          <p:spPr>
            <a:xfrm flipH="false" flipV="false" rot="0">
              <a:off x="0" y="0"/>
              <a:ext cx="4486390" cy="2405912"/>
            </a:xfrm>
            <a:custGeom>
              <a:avLst/>
              <a:gdLst/>
              <a:ahLst/>
              <a:cxnLst/>
              <a:rect r="r" b="b" t="t" l="l"/>
              <a:pathLst>
                <a:path h="2405912" w="4486390">
                  <a:moveTo>
                    <a:pt x="0" y="0"/>
                  </a:moveTo>
                  <a:lnTo>
                    <a:pt x="4486390" y="0"/>
                  </a:lnTo>
                  <a:lnTo>
                    <a:pt x="4486390" y="2405912"/>
                  </a:lnTo>
                  <a:lnTo>
                    <a:pt x="0" y="2405912"/>
                  </a:lnTo>
                  <a:close/>
                </a:path>
              </a:pathLst>
            </a:custGeom>
            <a:ln w="85725" cap="sq">
              <a:solidFill>
                <a:srgbClr val="000000"/>
              </a:solidFill>
              <a:prstDash val="solid"/>
              <a:miter/>
            </a:ln>
          </p:spPr>
        </p:sp>
        <p:sp>
          <p:nvSpPr>
            <p:cNvPr name="TextBox 4" id="4"/>
            <p:cNvSpPr txBox="true"/>
            <p:nvPr/>
          </p:nvSpPr>
          <p:spPr>
            <a:xfrm>
              <a:off x="0" y="-38100"/>
              <a:ext cx="4486390" cy="2444012"/>
            </a:xfrm>
            <a:prstGeom prst="rect">
              <a:avLst/>
            </a:prstGeom>
          </p:spPr>
          <p:txBody>
            <a:bodyPr anchor="ctr" rtlCol="false" tIns="50800" lIns="50800" bIns="50800" rIns="50800"/>
            <a:lstStyle/>
            <a:p>
              <a:pPr algn="ctr">
                <a:lnSpc>
                  <a:spcPts val="2659"/>
                </a:lnSpc>
              </a:pPr>
            </a:p>
          </p:txBody>
        </p:sp>
      </p:grpSp>
      <p:sp>
        <p:nvSpPr>
          <p:cNvPr id="5" name="TextBox 4"/>
          <p:cNvSpPr txBox="1"/>
          <p:nvPr/>
        </p:nvSpPr>
        <p:spPr>
          <a:xfrm>
            <a:off x="960120" y="914400"/>
            <a:ext cx="16276320" cy="731520"/>
          </a:xfrm>
          <a:prstGeom prst="rect">
            <a:avLst/>
          </a:prstGeom>
          <a:noFill/>
        </p:spPr>
        <p:txBody>
          <a:bodyPr wrap="square" lIns="27432" rIns="27432" tIns="18288" bIns="18288">
            <a:spAutoFit/>
          </a:bodyPr>
          <a:lstStyle/>
          <a:p>
            <a:pPr>
              <a:spcAft>
                <a:spcPts val="1200"/>
              </a:spcAft>
              <a:defRPr sz="4300" b="0">
                <a:solidFill>
                  <a:srgbClr val="111511"/>
                </a:solidFill>
                <a:latin typeface="Pixellance"/>
              </a:defRPr>
            </a:pPr>
            <a:r>
              <a:t>STUDY AT A GLANCE</a:t>
            </a:r>
          </a:p>
        </p:txBody>
      </p:sp>
      <p:sp>
        <p:nvSpPr>
          <p:cNvPr id="6" name="TextBox 5"/>
          <p:cNvSpPr txBox="1"/>
          <p:nvPr/>
        </p:nvSpPr>
        <p:spPr>
          <a:xfrm>
            <a:off x="1005840" y="9098280"/>
            <a:ext cx="11887200" cy="320040"/>
          </a:xfrm>
          <a:prstGeom prst="rect">
            <a:avLst/>
          </a:prstGeom>
          <a:noFill/>
        </p:spPr>
        <p:txBody>
          <a:bodyPr wrap="square" lIns="27432" rIns="27432" tIns="18288" bIns="18288">
            <a:spAutoFit/>
          </a:bodyPr>
          <a:lstStyle/>
          <a:p>
            <a:pPr>
              <a:spcAft>
                <a:spcPts val="1200"/>
              </a:spcAft>
              <a:defRPr sz="1500" b="0">
                <a:solidFill>
                  <a:srgbClr val="111511"/>
                </a:solidFill>
                <a:latin typeface="Aptos"/>
              </a:defRPr>
            </a:pPr>
            <a:r>
              <a:t>SNAKE / DUELING DOUBLE DQN</a:t>
            </a:r>
          </a:p>
        </p:txBody>
      </p:sp>
      <p:sp>
        <p:nvSpPr>
          <p:cNvPr id="7" name="TextBox 6"/>
          <p:cNvSpPr txBox="1"/>
          <p:nvPr/>
        </p:nvSpPr>
        <p:spPr>
          <a:xfrm>
            <a:off x="16184880" y="9052560"/>
            <a:ext cx="914400" cy="365760"/>
          </a:xfrm>
          <a:prstGeom prst="rect">
            <a:avLst/>
          </a:prstGeom>
          <a:noFill/>
        </p:spPr>
        <p:txBody>
          <a:bodyPr wrap="square" lIns="27432" rIns="27432" tIns="18288" bIns="18288">
            <a:spAutoFit/>
          </a:bodyPr>
          <a:lstStyle/>
          <a:p>
            <a:pPr algn="r">
              <a:spcAft>
                <a:spcPts val="1200"/>
              </a:spcAft>
              <a:defRPr sz="1800" b="0">
                <a:solidFill>
                  <a:srgbClr val="111511"/>
                </a:solidFill>
                <a:latin typeface="Aptos"/>
              </a:defRPr>
            </a:pPr>
            <a:r>
              <a:t>03</a:t>
            </a:r>
          </a:p>
        </p:txBody>
      </p:sp>
      <p:sp>
        <p:nvSpPr>
          <p:cNvPr id="8" name="TextBox 7"/>
          <p:cNvSpPr txBox="1"/>
          <p:nvPr/>
        </p:nvSpPr>
        <p:spPr>
          <a:xfrm>
            <a:off x="1005840" y="8595360"/>
            <a:ext cx="16093440" cy="365760"/>
          </a:xfrm>
          <a:prstGeom prst="rect">
            <a:avLst/>
          </a:prstGeom>
          <a:noFill/>
        </p:spPr>
        <p:txBody>
          <a:bodyPr wrap="square" lIns="27432" rIns="27432" tIns="18288" bIns="18288">
            <a:spAutoFit/>
          </a:bodyPr>
          <a:lstStyle/>
          <a:p>
            <a:pPr>
              <a:spcAft>
                <a:spcPts val="1200"/>
              </a:spcAft>
              <a:defRPr sz="1500" b="0">
                <a:solidFill>
                  <a:srgbClr val="111511"/>
                </a:solidFill>
                <a:latin typeface="Aptos"/>
              </a:defRPr>
            </a:pPr>
            <a:r>
              <a:t>Source: project implementation and latex/main.tex</a:t>
            </a:r>
          </a:p>
        </p:txBody>
      </p:sp>
      <p:sp>
        <p:nvSpPr>
          <p:cNvPr id="9" name="Rectangle 8"/>
          <p:cNvSpPr/>
          <p:nvPr/>
        </p:nvSpPr>
        <p:spPr>
          <a:xfrm>
            <a:off x="1051560" y="2423160"/>
            <a:ext cx="5074920" cy="429768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80160" y="2743200"/>
            <a:ext cx="4617720" cy="1097280"/>
          </a:xfrm>
          <a:prstGeom prst="rect">
            <a:avLst/>
          </a:prstGeom>
          <a:noFill/>
        </p:spPr>
        <p:txBody>
          <a:bodyPr wrap="square" lIns="27432" rIns="27432" tIns="18288" bIns="18288">
            <a:spAutoFit/>
          </a:bodyPr>
          <a:lstStyle/>
          <a:p>
            <a:pPr>
              <a:spcAft>
                <a:spcPts val="1200"/>
              </a:spcAft>
              <a:defRPr sz="3400" b="0">
                <a:solidFill>
                  <a:srgbClr val="111511"/>
                </a:solidFill>
                <a:latin typeface="Pixellance"/>
              </a:defRPr>
            </a:pPr>
            <a:r>
              <a:t>TRAIN</a:t>
            </a:r>
          </a:p>
        </p:txBody>
      </p:sp>
      <p:sp>
        <p:nvSpPr>
          <p:cNvPr id="11" name="TextBox 10"/>
          <p:cNvSpPr txBox="1"/>
          <p:nvPr/>
        </p:nvSpPr>
        <p:spPr>
          <a:xfrm>
            <a:off x="1280160" y="4114800"/>
            <a:ext cx="4617720" cy="2286000"/>
          </a:xfrm>
          <a:prstGeom prst="rect">
            <a:avLst/>
          </a:prstGeom>
          <a:noFill/>
        </p:spPr>
        <p:txBody>
          <a:bodyPr wrap="square" lIns="27432" rIns="27432" tIns="18288" bIns="18288">
            <a:spAutoFit/>
          </a:bodyPr>
          <a:lstStyle/>
          <a:p>
            <a:pPr>
              <a:spcAft>
                <a:spcPts val="1200"/>
              </a:spcAft>
              <a:defRPr sz="2900" b="0">
                <a:solidFill>
                  <a:srgbClr val="111511"/>
                </a:solidFill>
                <a:latin typeface="Aptos"/>
              </a:defRPr>
            </a:pPr>
            <a:r>
              <a:t>Level 4 only</a:t>
            </a:r>
          </a:p>
          <a:p>
            <a:pPr>
              <a:spcAft>
                <a:spcPts val="1200"/>
              </a:spcAft>
              <a:defRPr sz="2900" b="0">
                <a:solidFill>
                  <a:srgbClr val="111511"/>
                </a:solidFill>
                <a:latin typeface="Aptos"/>
              </a:defRPr>
            </a:pPr>
            <a:r>
              <a:t>One training seed</a:t>
            </a:r>
          </a:p>
          <a:p>
            <a:pPr>
              <a:spcAft>
                <a:spcPts val="1200"/>
              </a:spcAft>
              <a:defRPr sz="2900" b="0">
                <a:solidFill>
                  <a:srgbClr val="111511"/>
                </a:solidFill>
                <a:latin typeface="Aptos"/>
              </a:defRPr>
            </a:pPr>
            <a:r>
              <a:t>Dueling Double DQN</a:t>
            </a:r>
          </a:p>
        </p:txBody>
      </p:sp>
      <p:sp>
        <p:nvSpPr>
          <p:cNvPr id="12" name="Rectangle 11"/>
          <p:cNvSpPr/>
          <p:nvPr/>
        </p:nvSpPr>
        <p:spPr>
          <a:xfrm>
            <a:off x="6583679" y="2423160"/>
            <a:ext cx="5074920" cy="429768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12279" y="2743200"/>
            <a:ext cx="4617720" cy="1097280"/>
          </a:xfrm>
          <a:prstGeom prst="rect">
            <a:avLst/>
          </a:prstGeom>
          <a:noFill/>
        </p:spPr>
        <p:txBody>
          <a:bodyPr wrap="square" lIns="27432" rIns="27432" tIns="18288" bIns="18288">
            <a:spAutoFit/>
          </a:bodyPr>
          <a:lstStyle/>
          <a:p>
            <a:pPr>
              <a:spcAft>
                <a:spcPts val="1200"/>
              </a:spcAft>
              <a:defRPr sz="3400" b="0">
                <a:solidFill>
                  <a:srgbClr val="111511"/>
                </a:solidFill>
                <a:latin typeface="Pixellance"/>
              </a:defRPr>
            </a:pPr>
            <a:r>
              <a:t>FREEZE</a:t>
            </a:r>
          </a:p>
        </p:txBody>
      </p:sp>
      <p:sp>
        <p:nvSpPr>
          <p:cNvPr id="14" name="TextBox 13"/>
          <p:cNvSpPr txBox="1"/>
          <p:nvPr/>
        </p:nvSpPr>
        <p:spPr>
          <a:xfrm>
            <a:off x="6812279" y="4114800"/>
            <a:ext cx="4617720" cy="2286000"/>
          </a:xfrm>
          <a:prstGeom prst="rect">
            <a:avLst/>
          </a:prstGeom>
          <a:noFill/>
        </p:spPr>
        <p:txBody>
          <a:bodyPr wrap="square" lIns="27432" rIns="27432" tIns="18288" bIns="18288">
            <a:spAutoFit/>
          </a:bodyPr>
          <a:lstStyle/>
          <a:p>
            <a:pPr>
              <a:spcAft>
                <a:spcPts val="1200"/>
              </a:spcAft>
              <a:defRPr sz="2900" b="0">
                <a:solidFill>
                  <a:srgbClr val="111511"/>
                </a:solidFill>
                <a:latin typeface="Aptos"/>
              </a:defRPr>
            </a:pPr>
            <a:r>
              <a:t>27 state features</a:t>
            </a:r>
          </a:p>
          <a:p>
            <a:pPr>
              <a:spcAft>
                <a:spcPts val="1200"/>
              </a:spcAft>
              <a:defRPr sz="2900" b="0">
                <a:solidFill>
                  <a:srgbClr val="111511"/>
                </a:solidFill>
                <a:latin typeface="Aptos"/>
              </a:defRPr>
            </a:pPr>
            <a:r>
              <a:t>3 relative actions</a:t>
            </a:r>
          </a:p>
          <a:p>
            <a:pPr>
              <a:spcAft>
                <a:spcPts val="1200"/>
              </a:spcAft>
              <a:defRPr sz="2900" b="0">
                <a:solidFill>
                  <a:srgbClr val="111511"/>
                </a:solidFill>
                <a:latin typeface="Aptos"/>
              </a:defRPr>
            </a:pPr>
            <a:r>
              <a:t>Greedy evaluation</a:t>
            </a:r>
          </a:p>
        </p:txBody>
      </p:sp>
      <p:sp>
        <p:nvSpPr>
          <p:cNvPr id="15" name="Rectangle 14"/>
          <p:cNvSpPr/>
          <p:nvPr/>
        </p:nvSpPr>
        <p:spPr>
          <a:xfrm>
            <a:off x="12115800" y="2423160"/>
            <a:ext cx="5074920" cy="429768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344400" y="2743200"/>
            <a:ext cx="4617720" cy="1097280"/>
          </a:xfrm>
          <a:prstGeom prst="rect">
            <a:avLst/>
          </a:prstGeom>
          <a:noFill/>
        </p:spPr>
        <p:txBody>
          <a:bodyPr wrap="square" lIns="27432" rIns="27432" tIns="18288" bIns="18288">
            <a:spAutoFit/>
          </a:bodyPr>
          <a:lstStyle/>
          <a:p>
            <a:pPr>
              <a:spcAft>
                <a:spcPts val="1200"/>
              </a:spcAft>
              <a:defRPr sz="3400" b="0">
                <a:solidFill>
                  <a:srgbClr val="111511"/>
                </a:solidFill>
                <a:latin typeface="Pixellance"/>
              </a:defRPr>
            </a:pPr>
            <a:r>
              <a:t>EVALUATE</a:t>
            </a:r>
          </a:p>
        </p:txBody>
      </p:sp>
      <p:sp>
        <p:nvSpPr>
          <p:cNvPr id="17" name="TextBox 16"/>
          <p:cNvSpPr txBox="1"/>
          <p:nvPr/>
        </p:nvSpPr>
        <p:spPr>
          <a:xfrm>
            <a:off x="12344400" y="4114800"/>
            <a:ext cx="4617720" cy="2286000"/>
          </a:xfrm>
          <a:prstGeom prst="rect">
            <a:avLst/>
          </a:prstGeom>
          <a:noFill/>
        </p:spPr>
        <p:txBody>
          <a:bodyPr wrap="square" lIns="27432" rIns="27432" tIns="18288" bIns="18288">
            <a:spAutoFit/>
          </a:bodyPr>
          <a:lstStyle/>
          <a:p>
            <a:pPr>
              <a:spcAft>
                <a:spcPts val="1200"/>
              </a:spcAft>
              <a:defRPr sz="2900" b="0">
                <a:solidFill>
                  <a:srgbClr val="111511"/>
                </a:solidFill>
                <a:latin typeface="Aptos"/>
              </a:defRPr>
            </a:pPr>
            <a:r>
              <a:t>6 levels × 100 episodes</a:t>
            </a:r>
          </a:p>
          <a:p>
            <a:pPr>
              <a:spcAft>
                <a:spcPts val="1200"/>
              </a:spcAft>
              <a:defRPr sz="2900" b="0">
                <a:solidFill>
                  <a:srgbClr val="111511"/>
                </a:solidFill>
                <a:latin typeface="Aptos"/>
              </a:defRPr>
            </a:pPr>
            <a:r>
              <a:t>Best + final + random</a:t>
            </a:r>
          </a:p>
          <a:p>
            <a:pPr>
              <a:spcAft>
                <a:spcPts val="1200"/>
              </a:spcAft>
              <a:defRPr sz="2900" b="0">
                <a:solidFill>
                  <a:srgbClr val="111511"/>
                </a:solidFill>
                <a:latin typeface="Aptos"/>
              </a:defRPr>
            </a:pPr>
            <a:r>
              <a:t>1,800 episodes total</a:t>
            </a:r>
          </a:p>
        </p:txBody>
      </p:sp>
      <p:sp>
        <p:nvSpPr>
          <p:cNvPr id="18" name="TextBox 17"/>
          <p:cNvSpPr txBox="1"/>
          <p:nvPr/>
        </p:nvSpPr>
        <p:spPr>
          <a:xfrm>
            <a:off x="1188720" y="7543800"/>
            <a:ext cx="15910559" cy="685800"/>
          </a:xfrm>
          <a:prstGeom prst="rect">
            <a:avLst/>
          </a:prstGeom>
          <a:noFill/>
        </p:spPr>
        <p:txBody>
          <a:bodyPr wrap="square" lIns="27432" rIns="27432" tIns="18288" bIns="18288">
            <a:spAutoFit/>
          </a:bodyPr>
          <a:lstStyle/>
          <a:p>
            <a:pPr>
              <a:spcAft>
                <a:spcPts val="1200"/>
              </a:spcAft>
              <a:defRPr sz="3000" b="1">
                <a:solidFill>
                  <a:srgbClr val="111511"/>
                </a:solidFill>
                <a:latin typeface="Aptos"/>
              </a:defRPr>
            </a:pPr>
            <a:r>
              <a:t>Single source environment → frozen policy → unseen-level evaluation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788B73"/>
        </a:solidFill>
      </p:bgPr>
    </p:bg>
    <p:spTree>
      <p:nvGrpSpPr>
        <p:cNvPr id="1" name=""/>
        <p:cNvGrpSpPr/>
        <p:nvPr/>
      </p:nvGrpSpPr>
      <p:grpSpPr/>
      <p:grpSp>
        <p:nvGrpSpPr>
          <p:cNvPr name="Group 2" id="2"/>
          <p:cNvGrpSpPr/>
          <p:nvPr/>
        </p:nvGrpSpPr>
        <p:grpSpPr>
          <a:xfrm rot="0">
            <a:off x="626868" y="576026"/>
            <a:ext cx="17034264" cy="9134947"/>
            <a:chOff x="0" y="0"/>
            <a:chExt cx="4486390" cy="2405912"/>
          </a:xfrm>
        </p:grpSpPr>
        <p:sp>
          <p:nvSpPr>
            <p:cNvPr name="Freeform 3" id="3"/>
            <p:cNvSpPr/>
            <p:nvPr/>
          </p:nvSpPr>
          <p:spPr>
            <a:xfrm flipH="false" flipV="false" rot="0">
              <a:off x="0" y="0"/>
              <a:ext cx="4486390" cy="2405912"/>
            </a:xfrm>
            <a:custGeom>
              <a:avLst/>
              <a:gdLst/>
              <a:ahLst/>
              <a:cxnLst/>
              <a:rect r="r" b="b" t="t" l="l"/>
              <a:pathLst>
                <a:path h="2405912" w="4486390">
                  <a:moveTo>
                    <a:pt x="0" y="0"/>
                  </a:moveTo>
                  <a:lnTo>
                    <a:pt x="4486390" y="0"/>
                  </a:lnTo>
                  <a:lnTo>
                    <a:pt x="4486390" y="2405912"/>
                  </a:lnTo>
                  <a:lnTo>
                    <a:pt x="0" y="2405912"/>
                  </a:lnTo>
                  <a:close/>
                </a:path>
              </a:pathLst>
            </a:custGeom>
            <a:ln w="85725" cap="sq">
              <a:solidFill>
                <a:srgbClr val="000000"/>
              </a:solidFill>
              <a:prstDash val="solid"/>
              <a:miter/>
            </a:ln>
          </p:spPr>
        </p:sp>
        <p:sp>
          <p:nvSpPr>
            <p:cNvPr name="TextBox 4" id="4"/>
            <p:cNvSpPr txBox="true"/>
            <p:nvPr/>
          </p:nvSpPr>
          <p:spPr>
            <a:xfrm>
              <a:off x="0" y="-38100"/>
              <a:ext cx="4486390" cy="2444012"/>
            </a:xfrm>
            <a:prstGeom prst="rect">
              <a:avLst/>
            </a:prstGeom>
          </p:spPr>
          <p:txBody>
            <a:bodyPr anchor="ctr" rtlCol="false" tIns="50800" lIns="50800" bIns="50800" rIns="50800"/>
            <a:lstStyle/>
            <a:p>
              <a:pPr algn="ctr">
                <a:lnSpc>
                  <a:spcPts val="2659"/>
                </a:lnSpc>
              </a:pPr>
            </a:p>
          </p:txBody>
        </p:sp>
      </p:grpSp>
      <p:sp>
        <p:nvSpPr>
          <p:cNvPr id="5" name="TextBox 4"/>
          <p:cNvSpPr txBox="1"/>
          <p:nvPr/>
        </p:nvSpPr>
        <p:spPr>
          <a:xfrm>
            <a:off x="960120" y="914400"/>
            <a:ext cx="16276320" cy="731520"/>
          </a:xfrm>
          <a:prstGeom prst="rect">
            <a:avLst/>
          </a:prstGeom>
          <a:noFill/>
        </p:spPr>
        <p:txBody>
          <a:bodyPr wrap="square" lIns="27432" rIns="27432" tIns="18288" bIns="18288">
            <a:spAutoFit/>
          </a:bodyPr>
          <a:lstStyle/>
          <a:p>
            <a:pPr>
              <a:spcAft>
                <a:spcPts val="1200"/>
              </a:spcAft>
              <a:defRPr sz="4300" b="0">
                <a:solidFill>
                  <a:srgbClr val="111511"/>
                </a:solidFill>
                <a:latin typeface="Pixellance"/>
              </a:defRPr>
            </a:pPr>
            <a:r>
              <a:t>SIX ENVIRONMENTS, ONE SOURCE</a:t>
            </a:r>
          </a:p>
        </p:txBody>
      </p:sp>
      <p:sp>
        <p:nvSpPr>
          <p:cNvPr id="6" name="TextBox 5"/>
          <p:cNvSpPr txBox="1"/>
          <p:nvPr/>
        </p:nvSpPr>
        <p:spPr>
          <a:xfrm>
            <a:off x="1005840" y="9098280"/>
            <a:ext cx="11887200" cy="320040"/>
          </a:xfrm>
          <a:prstGeom prst="rect">
            <a:avLst/>
          </a:prstGeom>
          <a:noFill/>
        </p:spPr>
        <p:txBody>
          <a:bodyPr wrap="square" lIns="27432" rIns="27432" tIns="18288" bIns="18288">
            <a:spAutoFit/>
          </a:bodyPr>
          <a:lstStyle/>
          <a:p>
            <a:pPr>
              <a:spcAft>
                <a:spcPts val="1200"/>
              </a:spcAft>
              <a:defRPr sz="1500" b="0">
                <a:solidFill>
                  <a:srgbClr val="111511"/>
                </a:solidFill>
                <a:latin typeface="Aptos"/>
              </a:defRPr>
            </a:pPr>
            <a:r>
              <a:t>SNAKE / DUELING DOUBLE DQN</a:t>
            </a:r>
          </a:p>
        </p:txBody>
      </p:sp>
      <p:sp>
        <p:nvSpPr>
          <p:cNvPr id="7" name="TextBox 6"/>
          <p:cNvSpPr txBox="1"/>
          <p:nvPr/>
        </p:nvSpPr>
        <p:spPr>
          <a:xfrm>
            <a:off x="16184880" y="9052560"/>
            <a:ext cx="914400" cy="365760"/>
          </a:xfrm>
          <a:prstGeom prst="rect">
            <a:avLst/>
          </a:prstGeom>
          <a:noFill/>
        </p:spPr>
        <p:txBody>
          <a:bodyPr wrap="square" lIns="27432" rIns="27432" tIns="18288" bIns="18288">
            <a:spAutoFit/>
          </a:bodyPr>
          <a:lstStyle/>
          <a:p>
            <a:pPr algn="r">
              <a:spcAft>
                <a:spcPts val="1200"/>
              </a:spcAft>
              <a:defRPr sz="1800" b="0">
                <a:solidFill>
                  <a:srgbClr val="111511"/>
                </a:solidFill>
                <a:latin typeface="Aptos"/>
              </a:defRPr>
            </a:pPr>
            <a:r>
              <a:t>04</a:t>
            </a:r>
          </a:p>
        </p:txBody>
      </p:sp>
      <p:sp>
        <p:nvSpPr>
          <p:cNvPr id="8" name="TextBox 7"/>
          <p:cNvSpPr txBox="1"/>
          <p:nvPr/>
        </p:nvSpPr>
        <p:spPr>
          <a:xfrm>
            <a:off x="1005840" y="8595360"/>
            <a:ext cx="16093440" cy="365760"/>
          </a:xfrm>
          <a:prstGeom prst="rect">
            <a:avLst/>
          </a:prstGeom>
          <a:noFill/>
        </p:spPr>
        <p:txBody>
          <a:bodyPr wrap="square" lIns="27432" rIns="27432" tIns="18288" bIns="18288">
            <a:spAutoFit/>
          </a:bodyPr>
          <a:lstStyle/>
          <a:p>
            <a:pPr>
              <a:spcAft>
                <a:spcPts val="1200"/>
              </a:spcAft>
              <a:defRPr sz="1500" b="0">
                <a:solidFill>
                  <a:srgbClr val="111511"/>
                </a:solidFill>
                <a:latin typeface="Aptos"/>
              </a:defRPr>
            </a:pPr>
            <a:r>
              <a:t>Source: project implementation and latex/main.tex</a:t>
            </a:r>
          </a:p>
        </p:txBody>
      </p:sp>
      <p:sp>
        <p:nvSpPr>
          <p:cNvPr id="9" name="Rectangle 8"/>
          <p:cNvSpPr/>
          <p:nvPr/>
        </p:nvSpPr>
        <p:spPr>
          <a:xfrm>
            <a:off x="1051560" y="2240280"/>
            <a:ext cx="1463040" cy="777240"/>
          </a:xfrm>
          <a:prstGeom prst="rect">
            <a:avLst/>
          </a:prstGeom>
          <a:solidFill>
            <a:srgbClr val="111511"/>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61288" y="2350008"/>
            <a:ext cx="1243584" cy="612647"/>
          </a:xfrm>
          <a:prstGeom prst="rect">
            <a:avLst/>
          </a:prstGeom>
          <a:noFill/>
        </p:spPr>
        <p:txBody>
          <a:bodyPr wrap="square" lIns="27432" rIns="27432" tIns="18288" bIns="18288">
            <a:spAutoFit/>
          </a:bodyPr>
          <a:lstStyle/>
          <a:p>
            <a:pPr>
              <a:spcAft>
                <a:spcPts val="1200"/>
              </a:spcAft>
              <a:defRPr sz="2600" b="1">
                <a:solidFill>
                  <a:srgbClr val="F4F6F0"/>
                </a:solidFill>
                <a:latin typeface="Aptos"/>
              </a:defRPr>
            </a:pPr>
            <a:r>
              <a:t>Level</a:t>
            </a:r>
          </a:p>
        </p:txBody>
      </p:sp>
      <p:sp>
        <p:nvSpPr>
          <p:cNvPr id="11" name="Rectangle 10"/>
          <p:cNvSpPr/>
          <p:nvPr/>
        </p:nvSpPr>
        <p:spPr>
          <a:xfrm>
            <a:off x="2514600" y="2240280"/>
            <a:ext cx="2743200" cy="777240"/>
          </a:xfrm>
          <a:prstGeom prst="rect">
            <a:avLst/>
          </a:prstGeom>
          <a:solidFill>
            <a:srgbClr val="111511"/>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24328" y="2350008"/>
            <a:ext cx="2523744" cy="612647"/>
          </a:xfrm>
          <a:prstGeom prst="rect">
            <a:avLst/>
          </a:prstGeom>
          <a:noFill/>
        </p:spPr>
        <p:txBody>
          <a:bodyPr wrap="square" lIns="27432" rIns="27432" tIns="18288" bIns="18288">
            <a:spAutoFit/>
          </a:bodyPr>
          <a:lstStyle/>
          <a:p>
            <a:pPr>
              <a:spcAft>
                <a:spcPts val="1200"/>
              </a:spcAft>
              <a:defRPr sz="2600" b="1">
                <a:solidFill>
                  <a:srgbClr val="F4F6F0"/>
                </a:solidFill>
                <a:latin typeface="Aptos"/>
              </a:defRPr>
            </a:pPr>
            <a:r>
              <a:t>Board</a:t>
            </a:r>
          </a:p>
        </p:txBody>
      </p:sp>
      <p:sp>
        <p:nvSpPr>
          <p:cNvPr id="13" name="Rectangle 12"/>
          <p:cNvSpPr/>
          <p:nvPr/>
        </p:nvSpPr>
        <p:spPr>
          <a:xfrm>
            <a:off x="5257800" y="2240280"/>
            <a:ext cx="2560320" cy="777240"/>
          </a:xfrm>
          <a:prstGeom prst="rect">
            <a:avLst/>
          </a:prstGeom>
          <a:solidFill>
            <a:srgbClr val="111511"/>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67528" y="2350008"/>
            <a:ext cx="2340863" cy="612647"/>
          </a:xfrm>
          <a:prstGeom prst="rect">
            <a:avLst/>
          </a:prstGeom>
          <a:noFill/>
        </p:spPr>
        <p:txBody>
          <a:bodyPr wrap="square" lIns="27432" rIns="27432" tIns="18288" bIns="18288">
            <a:spAutoFit/>
          </a:bodyPr>
          <a:lstStyle/>
          <a:p>
            <a:pPr>
              <a:spcAft>
                <a:spcPts val="1200"/>
              </a:spcAft>
              <a:defRPr sz="2600" b="1">
                <a:solidFill>
                  <a:srgbClr val="F4F6F0"/>
                </a:solidFill>
                <a:latin typeface="Aptos"/>
              </a:defRPr>
            </a:pPr>
            <a:r>
              <a:t>Obstacles</a:t>
            </a:r>
          </a:p>
        </p:txBody>
      </p:sp>
      <p:sp>
        <p:nvSpPr>
          <p:cNvPr id="15" name="Rectangle 14"/>
          <p:cNvSpPr/>
          <p:nvPr/>
        </p:nvSpPr>
        <p:spPr>
          <a:xfrm>
            <a:off x="7818120" y="2240280"/>
            <a:ext cx="1920240" cy="777240"/>
          </a:xfrm>
          <a:prstGeom prst="rect">
            <a:avLst/>
          </a:prstGeom>
          <a:solidFill>
            <a:srgbClr val="111511"/>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27848" y="2350008"/>
            <a:ext cx="1700784" cy="612647"/>
          </a:xfrm>
          <a:prstGeom prst="rect">
            <a:avLst/>
          </a:prstGeom>
          <a:noFill/>
        </p:spPr>
        <p:txBody>
          <a:bodyPr wrap="square" lIns="27432" rIns="27432" tIns="18288" bIns="18288">
            <a:spAutoFit/>
          </a:bodyPr>
          <a:lstStyle/>
          <a:p>
            <a:pPr>
              <a:spcAft>
                <a:spcPts val="1200"/>
              </a:spcAft>
              <a:defRPr sz="2600" b="1">
                <a:solidFill>
                  <a:srgbClr val="F4F6F0"/>
                </a:solidFill>
                <a:latin typeface="Aptos"/>
              </a:defRPr>
            </a:pPr>
            <a:r>
              <a:t>Target</a:t>
            </a:r>
          </a:p>
        </p:txBody>
      </p:sp>
      <p:sp>
        <p:nvSpPr>
          <p:cNvPr id="17" name="Rectangle 16"/>
          <p:cNvSpPr/>
          <p:nvPr/>
        </p:nvSpPr>
        <p:spPr>
          <a:xfrm>
            <a:off x="9738360" y="2240280"/>
            <a:ext cx="7406640" cy="777240"/>
          </a:xfrm>
          <a:prstGeom prst="rect">
            <a:avLst/>
          </a:prstGeom>
          <a:solidFill>
            <a:srgbClr val="111511"/>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48088" y="2350008"/>
            <a:ext cx="7187183" cy="612647"/>
          </a:xfrm>
          <a:prstGeom prst="rect">
            <a:avLst/>
          </a:prstGeom>
          <a:noFill/>
        </p:spPr>
        <p:txBody>
          <a:bodyPr wrap="square" lIns="27432" rIns="27432" tIns="18288" bIns="18288">
            <a:spAutoFit/>
          </a:bodyPr>
          <a:lstStyle/>
          <a:p>
            <a:pPr>
              <a:spcAft>
                <a:spcPts val="1200"/>
              </a:spcAft>
              <a:defRPr sz="2600" b="1">
                <a:solidFill>
                  <a:srgbClr val="F4F6F0"/>
                </a:solidFill>
                <a:latin typeface="Aptos"/>
              </a:defRPr>
            </a:pPr>
            <a:r>
              <a:t>Role</a:t>
            </a:r>
          </a:p>
        </p:txBody>
      </p:sp>
      <p:sp>
        <p:nvSpPr>
          <p:cNvPr id="19" name="Rectangle 18"/>
          <p:cNvSpPr/>
          <p:nvPr/>
        </p:nvSpPr>
        <p:spPr>
          <a:xfrm>
            <a:off x="1051560" y="3017520"/>
            <a:ext cx="1463040" cy="77724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61288" y="3127248"/>
            <a:ext cx="1243584" cy="612647"/>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L1</a:t>
            </a:r>
          </a:p>
        </p:txBody>
      </p:sp>
      <p:sp>
        <p:nvSpPr>
          <p:cNvPr id="21" name="Rectangle 20"/>
          <p:cNvSpPr/>
          <p:nvPr/>
        </p:nvSpPr>
        <p:spPr>
          <a:xfrm>
            <a:off x="2514600" y="3017520"/>
            <a:ext cx="2743200" cy="77724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624328" y="3127248"/>
            <a:ext cx="2523744" cy="612647"/>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15 × 15</a:t>
            </a:r>
          </a:p>
        </p:txBody>
      </p:sp>
      <p:sp>
        <p:nvSpPr>
          <p:cNvPr id="23" name="Rectangle 22"/>
          <p:cNvSpPr/>
          <p:nvPr/>
        </p:nvSpPr>
        <p:spPr>
          <a:xfrm>
            <a:off x="5257800" y="3017520"/>
            <a:ext cx="2560320" cy="77724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67528" y="3127248"/>
            <a:ext cx="2340863" cy="612647"/>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0</a:t>
            </a:r>
          </a:p>
        </p:txBody>
      </p:sp>
      <p:sp>
        <p:nvSpPr>
          <p:cNvPr id="25" name="Rectangle 24"/>
          <p:cNvSpPr/>
          <p:nvPr/>
        </p:nvSpPr>
        <p:spPr>
          <a:xfrm>
            <a:off x="7818120" y="3017520"/>
            <a:ext cx="1920240" cy="77724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27848" y="3127248"/>
            <a:ext cx="1700784" cy="612647"/>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25</a:t>
            </a:r>
          </a:p>
        </p:txBody>
      </p:sp>
      <p:sp>
        <p:nvSpPr>
          <p:cNvPr id="27" name="Rectangle 26"/>
          <p:cNvSpPr/>
          <p:nvPr/>
        </p:nvSpPr>
        <p:spPr>
          <a:xfrm>
            <a:off x="9738360" y="3017520"/>
            <a:ext cx="7406640" cy="77724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48088" y="3127248"/>
            <a:ext cx="7187183" cy="612647"/>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Unseen</a:t>
            </a:r>
          </a:p>
        </p:txBody>
      </p:sp>
      <p:sp>
        <p:nvSpPr>
          <p:cNvPr id="29" name="Rectangle 28"/>
          <p:cNvSpPr/>
          <p:nvPr/>
        </p:nvSpPr>
        <p:spPr>
          <a:xfrm>
            <a:off x="1051560" y="3794760"/>
            <a:ext cx="1463040" cy="77724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61288" y="3904488"/>
            <a:ext cx="1243584" cy="612647"/>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L2</a:t>
            </a:r>
          </a:p>
        </p:txBody>
      </p:sp>
      <p:sp>
        <p:nvSpPr>
          <p:cNvPr id="31" name="Rectangle 30"/>
          <p:cNvSpPr/>
          <p:nvPr/>
        </p:nvSpPr>
        <p:spPr>
          <a:xfrm>
            <a:off x="2514600" y="3794760"/>
            <a:ext cx="2743200" cy="77724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624328" y="3904488"/>
            <a:ext cx="2523744" cy="612647"/>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20 × 20</a:t>
            </a:r>
          </a:p>
        </p:txBody>
      </p:sp>
      <p:sp>
        <p:nvSpPr>
          <p:cNvPr id="33" name="Rectangle 32"/>
          <p:cNvSpPr/>
          <p:nvPr/>
        </p:nvSpPr>
        <p:spPr>
          <a:xfrm>
            <a:off x="5257800" y="3794760"/>
            <a:ext cx="2560320" cy="77724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367528" y="3904488"/>
            <a:ext cx="2340863" cy="612647"/>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8</a:t>
            </a:r>
          </a:p>
        </p:txBody>
      </p:sp>
      <p:sp>
        <p:nvSpPr>
          <p:cNvPr id="35" name="Rectangle 34"/>
          <p:cNvSpPr/>
          <p:nvPr/>
        </p:nvSpPr>
        <p:spPr>
          <a:xfrm>
            <a:off x="7818120" y="3794760"/>
            <a:ext cx="1920240" cy="77724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27848" y="3904488"/>
            <a:ext cx="1700784" cy="612647"/>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35</a:t>
            </a:r>
          </a:p>
        </p:txBody>
      </p:sp>
      <p:sp>
        <p:nvSpPr>
          <p:cNvPr id="37" name="Rectangle 36"/>
          <p:cNvSpPr/>
          <p:nvPr/>
        </p:nvSpPr>
        <p:spPr>
          <a:xfrm>
            <a:off x="9738360" y="3794760"/>
            <a:ext cx="7406640" cy="77724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848088" y="3904488"/>
            <a:ext cx="7187183" cy="612647"/>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Unseen</a:t>
            </a:r>
          </a:p>
        </p:txBody>
      </p:sp>
      <p:sp>
        <p:nvSpPr>
          <p:cNvPr id="39" name="Rectangle 38"/>
          <p:cNvSpPr/>
          <p:nvPr/>
        </p:nvSpPr>
        <p:spPr>
          <a:xfrm>
            <a:off x="1051560" y="4572000"/>
            <a:ext cx="1463040" cy="77724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61288" y="4681728"/>
            <a:ext cx="1243584" cy="612647"/>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L3</a:t>
            </a:r>
          </a:p>
        </p:txBody>
      </p:sp>
      <p:sp>
        <p:nvSpPr>
          <p:cNvPr id="41" name="Rectangle 40"/>
          <p:cNvSpPr/>
          <p:nvPr/>
        </p:nvSpPr>
        <p:spPr>
          <a:xfrm>
            <a:off x="2514600" y="4572000"/>
            <a:ext cx="2743200" cy="77724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624328" y="4681728"/>
            <a:ext cx="2523744" cy="612647"/>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24 × 24</a:t>
            </a:r>
          </a:p>
        </p:txBody>
      </p:sp>
      <p:sp>
        <p:nvSpPr>
          <p:cNvPr id="43" name="Rectangle 42"/>
          <p:cNvSpPr/>
          <p:nvPr/>
        </p:nvSpPr>
        <p:spPr>
          <a:xfrm>
            <a:off x="5257800" y="4572000"/>
            <a:ext cx="2560320" cy="77724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367528" y="4681728"/>
            <a:ext cx="2340863" cy="612647"/>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16</a:t>
            </a:r>
          </a:p>
        </p:txBody>
      </p:sp>
      <p:sp>
        <p:nvSpPr>
          <p:cNvPr id="45" name="Rectangle 44"/>
          <p:cNvSpPr/>
          <p:nvPr/>
        </p:nvSpPr>
        <p:spPr>
          <a:xfrm>
            <a:off x="7818120" y="4572000"/>
            <a:ext cx="1920240" cy="77724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927848" y="4681728"/>
            <a:ext cx="1700784" cy="612647"/>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50</a:t>
            </a:r>
          </a:p>
        </p:txBody>
      </p:sp>
      <p:sp>
        <p:nvSpPr>
          <p:cNvPr id="47" name="Rectangle 46"/>
          <p:cNvSpPr/>
          <p:nvPr/>
        </p:nvSpPr>
        <p:spPr>
          <a:xfrm>
            <a:off x="9738360" y="4572000"/>
            <a:ext cx="7406640" cy="77724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848088" y="4681728"/>
            <a:ext cx="7187183" cy="612647"/>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Unseen</a:t>
            </a:r>
          </a:p>
        </p:txBody>
      </p:sp>
      <p:sp>
        <p:nvSpPr>
          <p:cNvPr id="49" name="Rectangle 48"/>
          <p:cNvSpPr/>
          <p:nvPr/>
        </p:nvSpPr>
        <p:spPr>
          <a:xfrm>
            <a:off x="1051560" y="5349240"/>
            <a:ext cx="1463040" cy="77724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161288" y="5458968"/>
            <a:ext cx="1243584" cy="612647"/>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L4</a:t>
            </a:r>
          </a:p>
        </p:txBody>
      </p:sp>
      <p:sp>
        <p:nvSpPr>
          <p:cNvPr id="51" name="Rectangle 50"/>
          <p:cNvSpPr/>
          <p:nvPr/>
        </p:nvSpPr>
        <p:spPr>
          <a:xfrm>
            <a:off x="2514600" y="5349240"/>
            <a:ext cx="2743200" cy="77724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624328" y="5458968"/>
            <a:ext cx="2523744" cy="612647"/>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30 × 30</a:t>
            </a:r>
          </a:p>
        </p:txBody>
      </p:sp>
      <p:sp>
        <p:nvSpPr>
          <p:cNvPr id="53" name="Rectangle 52"/>
          <p:cNvSpPr/>
          <p:nvPr/>
        </p:nvSpPr>
        <p:spPr>
          <a:xfrm>
            <a:off x="5257800" y="5349240"/>
            <a:ext cx="2560320" cy="77724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367528" y="5458968"/>
            <a:ext cx="2340863" cy="612647"/>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20</a:t>
            </a:r>
          </a:p>
        </p:txBody>
      </p:sp>
      <p:sp>
        <p:nvSpPr>
          <p:cNvPr id="55" name="Rectangle 54"/>
          <p:cNvSpPr/>
          <p:nvPr/>
        </p:nvSpPr>
        <p:spPr>
          <a:xfrm>
            <a:off x="7818120" y="5349240"/>
            <a:ext cx="1920240" cy="77724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927848" y="5458968"/>
            <a:ext cx="1700784" cy="612647"/>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None</a:t>
            </a:r>
          </a:p>
        </p:txBody>
      </p:sp>
      <p:sp>
        <p:nvSpPr>
          <p:cNvPr id="57" name="Rectangle 56"/>
          <p:cNvSpPr/>
          <p:nvPr/>
        </p:nvSpPr>
        <p:spPr>
          <a:xfrm>
            <a:off x="9738360" y="5349240"/>
            <a:ext cx="7406640" cy="77724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848088" y="5458968"/>
            <a:ext cx="7187183" cy="612647"/>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Training + evaluation</a:t>
            </a:r>
          </a:p>
        </p:txBody>
      </p:sp>
      <p:sp>
        <p:nvSpPr>
          <p:cNvPr id="59" name="Rectangle 58"/>
          <p:cNvSpPr/>
          <p:nvPr/>
        </p:nvSpPr>
        <p:spPr>
          <a:xfrm>
            <a:off x="1051560" y="6126480"/>
            <a:ext cx="1463040" cy="77724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161288" y="6236208"/>
            <a:ext cx="1243584" cy="612647"/>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L5</a:t>
            </a:r>
          </a:p>
        </p:txBody>
      </p:sp>
      <p:sp>
        <p:nvSpPr>
          <p:cNvPr id="61" name="Rectangle 60"/>
          <p:cNvSpPr/>
          <p:nvPr/>
        </p:nvSpPr>
        <p:spPr>
          <a:xfrm>
            <a:off x="2514600" y="6126480"/>
            <a:ext cx="2743200" cy="77724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624328" y="6236208"/>
            <a:ext cx="2523744" cy="612647"/>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32 × 32</a:t>
            </a:r>
          </a:p>
        </p:txBody>
      </p:sp>
      <p:sp>
        <p:nvSpPr>
          <p:cNvPr id="63" name="Rectangle 62"/>
          <p:cNvSpPr/>
          <p:nvPr/>
        </p:nvSpPr>
        <p:spPr>
          <a:xfrm>
            <a:off x="5257800" y="6126480"/>
            <a:ext cx="2560320" cy="77724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367528" y="6236208"/>
            <a:ext cx="2340863" cy="612647"/>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34</a:t>
            </a:r>
          </a:p>
        </p:txBody>
      </p:sp>
      <p:sp>
        <p:nvSpPr>
          <p:cNvPr id="65" name="Rectangle 64"/>
          <p:cNvSpPr/>
          <p:nvPr/>
        </p:nvSpPr>
        <p:spPr>
          <a:xfrm>
            <a:off x="7818120" y="6126480"/>
            <a:ext cx="1920240" cy="77724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927848" y="6236208"/>
            <a:ext cx="1700784" cy="612647"/>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100</a:t>
            </a:r>
          </a:p>
        </p:txBody>
      </p:sp>
      <p:sp>
        <p:nvSpPr>
          <p:cNvPr id="67" name="Rectangle 66"/>
          <p:cNvSpPr/>
          <p:nvPr/>
        </p:nvSpPr>
        <p:spPr>
          <a:xfrm>
            <a:off x="9738360" y="6126480"/>
            <a:ext cx="7406640" cy="77724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848088" y="6236208"/>
            <a:ext cx="7187183" cy="612647"/>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Unseen</a:t>
            </a:r>
          </a:p>
        </p:txBody>
      </p:sp>
      <p:sp>
        <p:nvSpPr>
          <p:cNvPr id="69" name="Rectangle 68"/>
          <p:cNvSpPr/>
          <p:nvPr/>
        </p:nvSpPr>
        <p:spPr>
          <a:xfrm>
            <a:off x="1051560" y="6903720"/>
            <a:ext cx="1463040" cy="77724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161288" y="7013448"/>
            <a:ext cx="1243584" cy="612647"/>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L6</a:t>
            </a:r>
          </a:p>
        </p:txBody>
      </p:sp>
      <p:sp>
        <p:nvSpPr>
          <p:cNvPr id="71" name="Rectangle 70"/>
          <p:cNvSpPr/>
          <p:nvPr/>
        </p:nvSpPr>
        <p:spPr>
          <a:xfrm>
            <a:off x="2514600" y="6903720"/>
            <a:ext cx="2743200" cy="77724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2624328" y="7013448"/>
            <a:ext cx="2523744" cy="612647"/>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36 × 36</a:t>
            </a:r>
          </a:p>
        </p:txBody>
      </p:sp>
      <p:sp>
        <p:nvSpPr>
          <p:cNvPr id="73" name="Rectangle 72"/>
          <p:cNvSpPr/>
          <p:nvPr/>
        </p:nvSpPr>
        <p:spPr>
          <a:xfrm>
            <a:off x="5257800" y="6903720"/>
            <a:ext cx="2560320" cy="77724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5367528" y="7013448"/>
            <a:ext cx="2340863" cy="612647"/>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68</a:t>
            </a:r>
          </a:p>
        </p:txBody>
      </p:sp>
      <p:sp>
        <p:nvSpPr>
          <p:cNvPr id="75" name="Rectangle 74"/>
          <p:cNvSpPr/>
          <p:nvPr/>
        </p:nvSpPr>
        <p:spPr>
          <a:xfrm>
            <a:off x="7818120" y="6903720"/>
            <a:ext cx="1920240" cy="77724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7927848" y="7013448"/>
            <a:ext cx="1700784" cy="612647"/>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150</a:t>
            </a:r>
          </a:p>
        </p:txBody>
      </p:sp>
      <p:sp>
        <p:nvSpPr>
          <p:cNvPr id="77" name="Rectangle 76"/>
          <p:cNvSpPr/>
          <p:nvPr/>
        </p:nvSpPr>
        <p:spPr>
          <a:xfrm>
            <a:off x="9738360" y="6903720"/>
            <a:ext cx="7406640" cy="77724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848088" y="7013448"/>
            <a:ext cx="7187183" cy="612647"/>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Unseen</a:t>
            </a:r>
          </a:p>
        </p:txBody>
      </p:sp>
      <p:sp>
        <p:nvSpPr>
          <p:cNvPr id="79" name="TextBox 78"/>
          <p:cNvSpPr txBox="1"/>
          <p:nvPr/>
        </p:nvSpPr>
        <p:spPr>
          <a:xfrm>
            <a:off x="1097280" y="7955279"/>
            <a:ext cx="16002000" cy="457200"/>
          </a:xfrm>
          <a:prstGeom prst="rect">
            <a:avLst/>
          </a:prstGeom>
          <a:noFill/>
        </p:spPr>
        <p:txBody>
          <a:bodyPr wrap="square" lIns="27432" rIns="27432" tIns="18288" bIns="18288">
            <a:spAutoFit/>
          </a:bodyPr>
          <a:lstStyle/>
          <a:p>
            <a:pPr>
              <a:spcAft>
                <a:spcPts val="1200"/>
              </a:spcAft>
              <a:defRPr sz="2700" b="0">
                <a:solidFill>
                  <a:srgbClr val="111511"/>
                </a:solidFill>
                <a:latin typeface="Aptos"/>
              </a:defRPr>
            </a:pPr>
            <a:r>
              <a:t>Board size, obstacle geometry and target change together.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788B73"/>
        </a:solidFill>
      </p:bgPr>
    </p:bg>
    <p:spTree>
      <p:nvGrpSpPr>
        <p:cNvPr id="1" name=""/>
        <p:cNvGrpSpPr/>
        <p:nvPr/>
      </p:nvGrpSpPr>
      <p:grpSpPr/>
      <p:grpSp>
        <p:nvGrpSpPr>
          <p:cNvPr name="Group 2" id="2"/>
          <p:cNvGrpSpPr/>
          <p:nvPr/>
        </p:nvGrpSpPr>
        <p:grpSpPr>
          <a:xfrm rot="0">
            <a:off x="626868" y="576026"/>
            <a:ext cx="17034264" cy="9134947"/>
            <a:chOff x="0" y="0"/>
            <a:chExt cx="4486390" cy="2405912"/>
          </a:xfrm>
        </p:grpSpPr>
        <p:sp>
          <p:nvSpPr>
            <p:cNvPr name="Freeform 3" id="3"/>
            <p:cNvSpPr/>
            <p:nvPr/>
          </p:nvSpPr>
          <p:spPr>
            <a:xfrm flipH="false" flipV="false" rot="0">
              <a:off x="0" y="0"/>
              <a:ext cx="4486390" cy="2405912"/>
            </a:xfrm>
            <a:custGeom>
              <a:avLst/>
              <a:gdLst/>
              <a:ahLst/>
              <a:cxnLst/>
              <a:rect r="r" b="b" t="t" l="l"/>
              <a:pathLst>
                <a:path h="2405912" w="4486390">
                  <a:moveTo>
                    <a:pt x="0" y="0"/>
                  </a:moveTo>
                  <a:lnTo>
                    <a:pt x="4486390" y="0"/>
                  </a:lnTo>
                  <a:lnTo>
                    <a:pt x="4486390" y="2405912"/>
                  </a:lnTo>
                  <a:lnTo>
                    <a:pt x="0" y="2405912"/>
                  </a:lnTo>
                  <a:close/>
                </a:path>
              </a:pathLst>
            </a:custGeom>
            <a:ln w="85725" cap="sq">
              <a:solidFill>
                <a:srgbClr val="000000"/>
              </a:solidFill>
              <a:prstDash val="solid"/>
              <a:miter/>
            </a:ln>
          </p:spPr>
        </p:sp>
        <p:sp>
          <p:nvSpPr>
            <p:cNvPr name="TextBox 4" id="4"/>
            <p:cNvSpPr txBox="true"/>
            <p:nvPr/>
          </p:nvSpPr>
          <p:spPr>
            <a:xfrm>
              <a:off x="0" y="-38100"/>
              <a:ext cx="4486390" cy="2444012"/>
            </a:xfrm>
            <a:prstGeom prst="rect">
              <a:avLst/>
            </a:prstGeom>
          </p:spPr>
          <p:txBody>
            <a:bodyPr anchor="ctr" rtlCol="false" tIns="50800" lIns="50800" bIns="50800" rIns="50800"/>
            <a:lstStyle/>
            <a:p>
              <a:pPr algn="ctr">
                <a:lnSpc>
                  <a:spcPts val="2659"/>
                </a:lnSpc>
              </a:pPr>
            </a:p>
          </p:txBody>
        </p:sp>
      </p:grpSp>
      <p:sp>
        <p:nvSpPr>
          <p:cNvPr id="5" name="TextBox 4"/>
          <p:cNvSpPr txBox="1"/>
          <p:nvPr/>
        </p:nvSpPr>
        <p:spPr>
          <a:xfrm>
            <a:off x="960120" y="914400"/>
            <a:ext cx="16276320" cy="731520"/>
          </a:xfrm>
          <a:prstGeom prst="rect">
            <a:avLst/>
          </a:prstGeom>
          <a:noFill/>
        </p:spPr>
        <p:txBody>
          <a:bodyPr wrap="square" lIns="27432" rIns="27432" tIns="18288" bIns="18288">
            <a:spAutoFit/>
          </a:bodyPr>
          <a:lstStyle/>
          <a:p>
            <a:pPr>
              <a:spcAft>
                <a:spcPts val="1200"/>
              </a:spcAft>
              <a:defRPr sz="4300" b="0">
                <a:solidFill>
                  <a:srgbClr val="111511"/>
                </a:solidFill>
                <a:latin typeface="Pixellance"/>
              </a:defRPr>
            </a:pPr>
            <a:r>
              <a:t>HOW THE AGENT SEES THE GAME</a:t>
            </a:r>
          </a:p>
        </p:txBody>
      </p:sp>
      <p:sp>
        <p:nvSpPr>
          <p:cNvPr id="6" name="TextBox 5"/>
          <p:cNvSpPr txBox="1"/>
          <p:nvPr/>
        </p:nvSpPr>
        <p:spPr>
          <a:xfrm>
            <a:off x="1005840" y="9098280"/>
            <a:ext cx="11887200" cy="320040"/>
          </a:xfrm>
          <a:prstGeom prst="rect">
            <a:avLst/>
          </a:prstGeom>
          <a:noFill/>
        </p:spPr>
        <p:txBody>
          <a:bodyPr wrap="square" lIns="27432" rIns="27432" tIns="18288" bIns="18288">
            <a:spAutoFit/>
          </a:bodyPr>
          <a:lstStyle/>
          <a:p>
            <a:pPr>
              <a:spcAft>
                <a:spcPts val="1200"/>
              </a:spcAft>
              <a:defRPr sz="1500" b="0">
                <a:solidFill>
                  <a:srgbClr val="111511"/>
                </a:solidFill>
                <a:latin typeface="Aptos"/>
              </a:defRPr>
            </a:pPr>
            <a:r>
              <a:t>SNAKE / DUELING DOUBLE DQN</a:t>
            </a:r>
          </a:p>
        </p:txBody>
      </p:sp>
      <p:sp>
        <p:nvSpPr>
          <p:cNvPr id="7" name="TextBox 6"/>
          <p:cNvSpPr txBox="1"/>
          <p:nvPr/>
        </p:nvSpPr>
        <p:spPr>
          <a:xfrm>
            <a:off x="16184880" y="9052560"/>
            <a:ext cx="914400" cy="365760"/>
          </a:xfrm>
          <a:prstGeom prst="rect">
            <a:avLst/>
          </a:prstGeom>
          <a:noFill/>
        </p:spPr>
        <p:txBody>
          <a:bodyPr wrap="square" lIns="27432" rIns="27432" tIns="18288" bIns="18288">
            <a:spAutoFit/>
          </a:bodyPr>
          <a:lstStyle/>
          <a:p>
            <a:pPr algn="r">
              <a:spcAft>
                <a:spcPts val="1200"/>
              </a:spcAft>
              <a:defRPr sz="1800" b="0">
                <a:solidFill>
                  <a:srgbClr val="111511"/>
                </a:solidFill>
                <a:latin typeface="Aptos"/>
              </a:defRPr>
            </a:pPr>
            <a:r>
              <a:t>05</a:t>
            </a:r>
          </a:p>
        </p:txBody>
      </p:sp>
      <p:sp>
        <p:nvSpPr>
          <p:cNvPr id="8" name="TextBox 7"/>
          <p:cNvSpPr txBox="1"/>
          <p:nvPr/>
        </p:nvSpPr>
        <p:spPr>
          <a:xfrm>
            <a:off x="1005840" y="8595360"/>
            <a:ext cx="16093440" cy="365760"/>
          </a:xfrm>
          <a:prstGeom prst="rect">
            <a:avLst/>
          </a:prstGeom>
          <a:noFill/>
        </p:spPr>
        <p:txBody>
          <a:bodyPr wrap="square" lIns="27432" rIns="27432" tIns="18288" bIns="18288">
            <a:spAutoFit/>
          </a:bodyPr>
          <a:lstStyle/>
          <a:p>
            <a:pPr>
              <a:spcAft>
                <a:spcPts val="1200"/>
              </a:spcAft>
              <a:defRPr sz="1500" b="0">
                <a:solidFill>
                  <a:srgbClr val="111511"/>
                </a:solidFill>
                <a:latin typeface="Aptos"/>
              </a:defRPr>
            </a:pPr>
            <a:r>
              <a:t>Source: project implementation and latex/main.tex</a:t>
            </a:r>
          </a:p>
        </p:txBody>
      </p:sp>
      <p:sp>
        <p:nvSpPr>
          <p:cNvPr id="9" name="Rectangle 8"/>
          <p:cNvSpPr/>
          <p:nvPr/>
        </p:nvSpPr>
        <p:spPr>
          <a:xfrm>
            <a:off x="1051560" y="2240280"/>
            <a:ext cx="7040880" cy="777240"/>
          </a:xfrm>
          <a:prstGeom prst="rect">
            <a:avLst/>
          </a:prstGeom>
          <a:solidFill>
            <a:srgbClr val="111511"/>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61288" y="2350008"/>
            <a:ext cx="6821424" cy="612647"/>
          </a:xfrm>
          <a:prstGeom prst="rect">
            <a:avLst/>
          </a:prstGeom>
          <a:noFill/>
        </p:spPr>
        <p:txBody>
          <a:bodyPr wrap="square" lIns="27432" rIns="27432" tIns="18288" bIns="18288">
            <a:spAutoFit/>
          </a:bodyPr>
          <a:lstStyle/>
          <a:p>
            <a:pPr>
              <a:spcAft>
                <a:spcPts val="1200"/>
              </a:spcAft>
              <a:defRPr sz="2600" b="1">
                <a:solidFill>
                  <a:srgbClr val="F4F6F0"/>
                </a:solidFill>
                <a:latin typeface="Aptos"/>
              </a:defRPr>
            </a:pPr>
            <a:r>
              <a:t>Feature group</a:t>
            </a:r>
          </a:p>
        </p:txBody>
      </p:sp>
      <p:sp>
        <p:nvSpPr>
          <p:cNvPr id="11" name="Rectangle 10"/>
          <p:cNvSpPr/>
          <p:nvPr/>
        </p:nvSpPr>
        <p:spPr>
          <a:xfrm>
            <a:off x="8092440" y="2240280"/>
            <a:ext cx="1645920" cy="777240"/>
          </a:xfrm>
          <a:prstGeom prst="rect">
            <a:avLst/>
          </a:prstGeom>
          <a:solidFill>
            <a:srgbClr val="111511"/>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02167" y="2350008"/>
            <a:ext cx="1426464" cy="612647"/>
          </a:xfrm>
          <a:prstGeom prst="rect">
            <a:avLst/>
          </a:prstGeom>
          <a:noFill/>
        </p:spPr>
        <p:txBody>
          <a:bodyPr wrap="square" lIns="27432" rIns="27432" tIns="18288" bIns="18288">
            <a:spAutoFit/>
          </a:bodyPr>
          <a:lstStyle/>
          <a:p>
            <a:pPr>
              <a:spcAft>
                <a:spcPts val="1200"/>
              </a:spcAft>
              <a:defRPr sz="2600" b="1">
                <a:solidFill>
                  <a:srgbClr val="F4F6F0"/>
                </a:solidFill>
                <a:latin typeface="Aptos"/>
              </a:defRPr>
            </a:pPr>
            <a:r>
              <a:t>Count</a:t>
            </a:r>
          </a:p>
        </p:txBody>
      </p:sp>
      <p:sp>
        <p:nvSpPr>
          <p:cNvPr id="13" name="Rectangle 12"/>
          <p:cNvSpPr/>
          <p:nvPr/>
        </p:nvSpPr>
        <p:spPr>
          <a:xfrm>
            <a:off x="9738360" y="2240280"/>
            <a:ext cx="7406640" cy="777240"/>
          </a:xfrm>
          <a:prstGeom prst="rect">
            <a:avLst/>
          </a:prstGeom>
          <a:solidFill>
            <a:srgbClr val="111511"/>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848088" y="2350008"/>
            <a:ext cx="7187183" cy="612647"/>
          </a:xfrm>
          <a:prstGeom prst="rect">
            <a:avLst/>
          </a:prstGeom>
          <a:noFill/>
        </p:spPr>
        <p:txBody>
          <a:bodyPr wrap="square" lIns="27432" rIns="27432" tIns="18288" bIns="18288">
            <a:spAutoFit/>
          </a:bodyPr>
          <a:lstStyle/>
          <a:p>
            <a:pPr>
              <a:spcAft>
                <a:spcPts val="1200"/>
              </a:spcAft>
              <a:defRPr sz="2600" b="1">
                <a:solidFill>
                  <a:srgbClr val="F4F6F0"/>
                </a:solidFill>
                <a:latin typeface="Aptos"/>
              </a:defRPr>
            </a:pPr>
            <a:r>
              <a:t>Purpose</a:t>
            </a:r>
          </a:p>
        </p:txBody>
      </p:sp>
      <p:sp>
        <p:nvSpPr>
          <p:cNvPr id="15" name="Rectangle 14"/>
          <p:cNvSpPr/>
          <p:nvPr/>
        </p:nvSpPr>
        <p:spPr>
          <a:xfrm>
            <a:off x="1051560" y="3017520"/>
            <a:ext cx="7040880" cy="77724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61288" y="3127248"/>
            <a:ext cx="6821424" cy="612647"/>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Danger + ray clearance</a:t>
            </a:r>
          </a:p>
        </p:txBody>
      </p:sp>
      <p:sp>
        <p:nvSpPr>
          <p:cNvPr id="17" name="Rectangle 16"/>
          <p:cNvSpPr/>
          <p:nvPr/>
        </p:nvSpPr>
        <p:spPr>
          <a:xfrm>
            <a:off x="8092440" y="3017520"/>
            <a:ext cx="1645920" cy="77724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02167" y="3127248"/>
            <a:ext cx="1426464" cy="612647"/>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6</a:t>
            </a:r>
          </a:p>
        </p:txBody>
      </p:sp>
      <p:sp>
        <p:nvSpPr>
          <p:cNvPr id="19" name="Rectangle 18"/>
          <p:cNvSpPr/>
          <p:nvPr/>
        </p:nvSpPr>
        <p:spPr>
          <a:xfrm>
            <a:off x="9738360" y="3017520"/>
            <a:ext cx="7406640" cy="77724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48088" y="3127248"/>
            <a:ext cx="7187183" cy="612647"/>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Local collision awareness</a:t>
            </a:r>
          </a:p>
        </p:txBody>
      </p:sp>
      <p:sp>
        <p:nvSpPr>
          <p:cNvPr id="21" name="Rectangle 20"/>
          <p:cNvSpPr/>
          <p:nvPr/>
        </p:nvSpPr>
        <p:spPr>
          <a:xfrm>
            <a:off x="1051560" y="3794760"/>
            <a:ext cx="7040880" cy="77724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61288" y="3904488"/>
            <a:ext cx="6821424" cy="612647"/>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Heading</a:t>
            </a:r>
          </a:p>
        </p:txBody>
      </p:sp>
      <p:sp>
        <p:nvSpPr>
          <p:cNvPr id="23" name="Rectangle 22"/>
          <p:cNvSpPr/>
          <p:nvPr/>
        </p:nvSpPr>
        <p:spPr>
          <a:xfrm>
            <a:off x="8092440" y="3794760"/>
            <a:ext cx="1645920" cy="77724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02167" y="3904488"/>
            <a:ext cx="1426464" cy="612647"/>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4</a:t>
            </a:r>
          </a:p>
        </p:txBody>
      </p:sp>
      <p:sp>
        <p:nvSpPr>
          <p:cNvPr id="25" name="Rectangle 24"/>
          <p:cNvSpPr/>
          <p:nvPr/>
        </p:nvSpPr>
        <p:spPr>
          <a:xfrm>
            <a:off x="9738360" y="3794760"/>
            <a:ext cx="7406640" cy="77724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48088" y="3904488"/>
            <a:ext cx="7187183" cy="612647"/>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Current movement direction</a:t>
            </a:r>
          </a:p>
        </p:txBody>
      </p:sp>
      <p:sp>
        <p:nvSpPr>
          <p:cNvPr id="27" name="Rectangle 26"/>
          <p:cNvSpPr/>
          <p:nvPr/>
        </p:nvSpPr>
        <p:spPr>
          <a:xfrm>
            <a:off x="1051560" y="4572000"/>
            <a:ext cx="7040880" cy="77724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61288" y="4681728"/>
            <a:ext cx="6821424" cy="612647"/>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Food direction + displacement</a:t>
            </a:r>
          </a:p>
        </p:txBody>
      </p:sp>
      <p:sp>
        <p:nvSpPr>
          <p:cNvPr id="29" name="Rectangle 28"/>
          <p:cNvSpPr/>
          <p:nvPr/>
        </p:nvSpPr>
        <p:spPr>
          <a:xfrm>
            <a:off x="8092440" y="4572000"/>
            <a:ext cx="1645920" cy="77724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02167" y="4681728"/>
            <a:ext cx="1426464" cy="612647"/>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6</a:t>
            </a:r>
          </a:p>
        </p:txBody>
      </p:sp>
      <p:sp>
        <p:nvSpPr>
          <p:cNvPr id="31" name="Rectangle 30"/>
          <p:cNvSpPr/>
          <p:nvPr/>
        </p:nvSpPr>
        <p:spPr>
          <a:xfrm>
            <a:off x="9738360" y="4572000"/>
            <a:ext cx="7406640" cy="77724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848088" y="4681728"/>
            <a:ext cx="7187183" cy="612647"/>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Navigation toward food</a:t>
            </a:r>
          </a:p>
        </p:txBody>
      </p:sp>
      <p:sp>
        <p:nvSpPr>
          <p:cNvPr id="33" name="Rectangle 32"/>
          <p:cNvSpPr/>
          <p:nvPr/>
        </p:nvSpPr>
        <p:spPr>
          <a:xfrm>
            <a:off x="1051560" y="5349240"/>
            <a:ext cx="7040880" cy="77724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61288" y="5458968"/>
            <a:ext cx="6821424" cy="612647"/>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Head position + body length</a:t>
            </a:r>
          </a:p>
        </p:txBody>
      </p:sp>
      <p:sp>
        <p:nvSpPr>
          <p:cNvPr id="35" name="Rectangle 34"/>
          <p:cNvSpPr/>
          <p:nvPr/>
        </p:nvSpPr>
        <p:spPr>
          <a:xfrm>
            <a:off x="8092440" y="5349240"/>
            <a:ext cx="1645920" cy="77724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02167" y="5458968"/>
            <a:ext cx="1426464" cy="612647"/>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3</a:t>
            </a:r>
          </a:p>
        </p:txBody>
      </p:sp>
      <p:sp>
        <p:nvSpPr>
          <p:cNvPr id="37" name="Rectangle 36"/>
          <p:cNvSpPr/>
          <p:nvPr/>
        </p:nvSpPr>
        <p:spPr>
          <a:xfrm>
            <a:off x="9738360" y="5349240"/>
            <a:ext cx="7406640" cy="77724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848088" y="5458968"/>
            <a:ext cx="7187183" cy="612647"/>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Normalized geometry</a:t>
            </a:r>
          </a:p>
        </p:txBody>
      </p:sp>
      <p:sp>
        <p:nvSpPr>
          <p:cNvPr id="39" name="Rectangle 38"/>
          <p:cNvSpPr/>
          <p:nvPr/>
        </p:nvSpPr>
        <p:spPr>
          <a:xfrm>
            <a:off x="1051560" y="6126480"/>
            <a:ext cx="7040880" cy="77724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61288" y="6236208"/>
            <a:ext cx="6821424" cy="612647"/>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Reachable safe areas</a:t>
            </a:r>
          </a:p>
        </p:txBody>
      </p:sp>
      <p:sp>
        <p:nvSpPr>
          <p:cNvPr id="41" name="Rectangle 40"/>
          <p:cNvSpPr/>
          <p:nvPr/>
        </p:nvSpPr>
        <p:spPr>
          <a:xfrm>
            <a:off x="8092440" y="6126480"/>
            <a:ext cx="1645920" cy="77724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02167" y="6236208"/>
            <a:ext cx="1426464" cy="612647"/>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3</a:t>
            </a:r>
          </a:p>
        </p:txBody>
      </p:sp>
      <p:sp>
        <p:nvSpPr>
          <p:cNvPr id="43" name="Rectangle 42"/>
          <p:cNvSpPr/>
          <p:nvPr/>
        </p:nvSpPr>
        <p:spPr>
          <a:xfrm>
            <a:off x="9738360" y="6126480"/>
            <a:ext cx="7406640" cy="77724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848088" y="6236208"/>
            <a:ext cx="7187183" cy="612647"/>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Space after candidate actions</a:t>
            </a:r>
          </a:p>
        </p:txBody>
      </p:sp>
      <p:sp>
        <p:nvSpPr>
          <p:cNvPr id="45" name="Rectangle 44"/>
          <p:cNvSpPr/>
          <p:nvPr/>
        </p:nvSpPr>
        <p:spPr>
          <a:xfrm>
            <a:off x="1051560" y="6903720"/>
            <a:ext cx="7040880" cy="77724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161288" y="7013448"/>
            <a:ext cx="6821424" cy="612647"/>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Tail direction + distance</a:t>
            </a:r>
          </a:p>
        </p:txBody>
      </p:sp>
      <p:sp>
        <p:nvSpPr>
          <p:cNvPr id="47" name="Rectangle 46"/>
          <p:cNvSpPr/>
          <p:nvPr/>
        </p:nvSpPr>
        <p:spPr>
          <a:xfrm>
            <a:off x="8092440" y="6903720"/>
            <a:ext cx="1645920" cy="77724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02167" y="7013448"/>
            <a:ext cx="1426464" cy="612647"/>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5</a:t>
            </a:r>
          </a:p>
        </p:txBody>
      </p:sp>
      <p:sp>
        <p:nvSpPr>
          <p:cNvPr id="49" name="Rectangle 48"/>
          <p:cNvSpPr/>
          <p:nvPr/>
        </p:nvSpPr>
        <p:spPr>
          <a:xfrm>
            <a:off x="9738360" y="6903720"/>
            <a:ext cx="7406640" cy="77724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848088" y="7013448"/>
            <a:ext cx="7187183" cy="612647"/>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Body / tail awareness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788B73"/>
        </a:solidFill>
      </p:bgPr>
    </p:bg>
    <p:spTree>
      <p:nvGrpSpPr>
        <p:cNvPr id="1" name=""/>
        <p:cNvGrpSpPr/>
        <p:nvPr/>
      </p:nvGrpSpPr>
      <p:grpSpPr/>
      <p:grpSp>
        <p:nvGrpSpPr>
          <p:cNvPr name="Group 2" id="2"/>
          <p:cNvGrpSpPr/>
          <p:nvPr/>
        </p:nvGrpSpPr>
        <p:grpSpPr>
          <a:xfrm rot="0">
            <a:off x="626868" y="576026"/>
            <a:ext cx="17034264" cy="9134947"/>
            <a:chOff x="0" y="0"/>
            <a:chExt cx="4486390" cy="2405912"/>
          </a:xfrm>
        </p:grpSpPr>
        <p:sp>
          <p:nvSpPr>
            <p:cNvPr name="Freeform 3" id="3"/>
            <p:cNvSpPr/>
            <p:nvPr/>
          </p:nvSpPr>
          <p:spPr>
            <a:xfrm flipH="false" flipV="false" rot="0">
              <a:off x="0" y="0"/>
              <a:ext cx="4486390" cy="2405912"/>
            </a:xfrm>
            <a:custGeom>
              <a:avLst/>
              <a:gdLst/>
              <a:ahLst/>
              <a:cxnLst/>
              <a:rect r="r" b="b" t="t" l="l"/>
              <a:pathLst>
                <a:path h="2405912" w="4486390">
                  <a:moveTo>
                    <a:pt x="0" y="0"/>
                  </a:moveTo>
                  <a:lnTo>
                    <a:pt x="4486390" y="0"/>
                  </a:lnTo>
                  <a:lnTo>
                    <a:pt x="4486390" y="2405912"/>
                  </a:lnTo>
                  <a:lnTo>
                    <a:pt x="0" y="2405912"/>
                  </a:lnTo>
                  <a:close/>
                </a:path>
              </a:pathLst>
            </a:custGeom>
            <a:ln w="85725" cap="sq">
              <a:solidFill>
                <a:srgbClr val="000000"/>
              </a:solidFill>
              <a:prstDash val="solid"/>
              <a:miter/>
            </a:ln>
          </p:spPr>
        </p:sp>
        <p:sp>
          <p:nvSpPr>
            <p:cNvPr name="TextBox 4" id="4"/>
            <p:cNvSpPr txBox="true"/>
            <p:nvPr/>
          </p:nvSpPr>
          <p:spPr>
            <a:xfrm>
              <a:off x="0" y="-38100"/>
              <a:ext cx="4486390" cy="2444012"/>
            </a:xfrm>
            <a:prstGeom prst="rect">
              <a:avLst/>
            </a:prstGeom>
          </p:spPr>
          <p:txBody>
            <a:bodyPr anchor="ctr" rtlCol="false" tIns="50800" lIns="50800" bIns="50800" rIns="50800"/>
            <a:lstStyle/>
            <a:p>
              <a:pPr algn="ctr">
                <a:lnSpc>
                  <a:spcPts val="2659"/>
                </a:lnSpc>
              </a:pPr>
            </a:p>
          </p:txBody>
        </p:sp>
      </p:grpSp>
      <p:sp>
        <p:nvSpPr>
          <p:cNvPr id="5" name="TextBox 4"/>
          <p:cNvSpPr txBox="1"/>
          <p:nvPr/>
        </p:nvSpPr>
        <p:spPr>
          <a:xfrm>
            <a:off x="960120" y="914400"/>
            <a:ext cx="16276320" cy="731520"/>
          </a:xfrm>
          <a:prstGeom prst="rect">
            <a:avLst/>
          </a:prstGeom>
          <a:noFill/>
        </p:spPr>
        <p:txBody>
          <a:bodyPr wrap="square" lIns="27432" rIns="27432" tIns="18288" bIns="18288">
            <a:spAutoFit/>
          </a:bodyPr>
          <a:lstStyle/>
          <a:p>
            <a:pPr>
              <a:spcAft>
                <a:spcPts val="1200"/>
              </a:spcAft>
              <a:defRPr sz="4300" b="0">
                <a:solidFill>
                  <a:srgbClr val="111511"/>
                </a:solidFill>
                <a:latin typeface="Pixellance"/>
              </a:defRPr>
            </a:pPr>
            <a:r>
              <a:t>RELATIVE ACTIONS AND REWARDS</a:t>
            </a:r>
          </a:p>
        </p:txBody>
      </p:sp>
      <p:sp>
        <p:nvSpPr>
          <p:cNvPr id="6" name="TextBox 5"/>
          <p:cNvSpPr txBox="1"/>
          <p:nvPr/>
        </p:nvSpPr>
        <p:spPr>
          <a:xfrm>
            <a:off x="1005840" y="9098280"/>
            <a:ext cx="11887200" cy="320040"/>
          </a:xfrm>
          <a:prstGeom prst="rect">
            <a:avLst/>
          </a:prstGeom>
          <a:noFill/>
        </p:spPr>
        <p:txBody>
          <a:bodyPr wrap="square" lIns="27432" rIns="27432" tIns="18288" bIns="18288">
            <a:spAutoFit/>
          </a:bodyPr>
          <a:lstStyle/>
          <a:p>
            <a:pPr>
              <a:spcAft>
                <a:spcPts val="1200"/>
              </a:spcAft>
              <a:defRPr sz="1500" b="0">
                <a:solidFill>
                  <a:srgbClr val="111511"/>
                </a:solidFill>
                <a:latin typeface="Aptos"/>
              </a:defRPr>
            </a:pPr>
            <a:r>
              <a:t>SNAKE / DUELING DOUBLE DQN</a:t>
            </a:r>
          </a:p>
        </p:txBody>
      </p:sp>
      <p:sp>
        <p:nvSpPr>
          <p:cNvPr id="7" name="TextBox 6"/>
          <p:cNvSpPr txBox="1"/>
          <p:nvPr/>
        </p:nvSpPr>
        <p:spPr>
          <a:xfrm>
            <a:off x="16184880" y="9052560"/>
            <a:ext cx="914400" cy="365760"/>
          </a:xfrm>
          <a:prstGeom prst="rect">
            <a:avLst/>
          </a:prstGeom>
          <a:noFill/>
        </p:spPr>
        <p:txBody>
          <a:bodyPr wrap="square" lIns="27432" rIns="27432" tIns="18288" bIns="18288">
            <a:spAutoFit/>
          </a:bodyPr>
          <a:lstStyle/>
          <a:p>
            <a:pPr algn="r">
              <a:spcAft>
                <a:spcPts val="1200"/>
              </a:spcAft>
              <a:defRPr sz="1800" b="0">
                <a:solidFill>
                  <a:srgbClr val="111511"/>
                </a:solidFill>
                <a:latin typeface="Aptos"/>
              </a:defRPr>
            </a:pPr>
            <a:r>
              <a:t>06</a:t>
            </a:r>
          </a:p>
        </p:txBody>
      </p:sp>
      <p:sp>
        <p:nvSpPr>
          <p:cNvPr id="8" name="TextBox 7"/>
          <p:cNvSpPr txBox="1"/>
          <p:nvPr/>
        </p:nvSpPr>
        <p:spPr>
          <a:xfrm>
            <a:off x="1005840" y="8595360"/>
            <a:ext cx="16093440" cy="365760"/>
          </a:xfrm>
          <a:prstGeom prst="rect">
            <a:avLst/>
          </a:prstGeom>
          <a:noFill/>
        </p:spPr>
        <p:txBody>
          <a:bodyPr wrap="square" lIns="27432" rIns="27432" tIns="18288" bIns="18288">
            <a:spAutoFit/>
          </a:bodyPr>
          <a:lstStyle/>
          <a:p>
            <a:pPr>
              <a:spcAft>
                <a:spcPts val="1200"/>
              </a:spcAft>
              <a:defRPr sz="1500" b="0">
                <a:solidFill>
                  <a:srgbClr val="111511"/>
                </a:solidFill>
                <a:latin typeface="Aptos"/>
              </a:defRPr>
            </a:pPr>
            <a:r>
              <a:t>Source: project implementation and latex/main.tex</a:t>
            </a:r>
          </a:p>
        </p:txBody>
      </p:sp>
      <p:sp>
        <p:nvSpPr>
          <p:cNvPr id="9" name="Rectangle 8"/>
          <p:cNvSpPr/>
          <p:nvPr/>
        </p:nvSpPr>
        <p:spPr>
          <a:xfrm>
            <a:off x="1051560" y="2103120"/>
            <a:ext cx="5074920" cy="429768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80160" y="2423160"/>
            <a:ext cx="4617720" cy="1097280"/>
          </a:xfrm>
          <a:prstGeom prst="rect">
            <a:avLst/>
          </a:prstGeom>
          <a:noFill/>
        </p:spPr>
        <p:txBody>
          <a:bodyPr wrap="square" lIns="27432" rIns="27432" tIns="18288" bIns="18288">
            <a:spAutoFit/>
          </a:bodyPr>
          <a:lstStyle/>
          <a:p>
            <a:pPr>
              <a:spcAft>
                <a:spcPts val="1200"/>
              </a:spcAft>
              <a:defRPr sz="3400" b="0">
                <a:solidFill>
                  <a:srgbClr val="111511"/>
                </a:solidFill>
                <a:latin typeface="Pixellance"/>
              </a:defRPr>
            </a:pPr>
            <a:r>
              <a:t>STRAIGHT</a:t>
            </a:r>
          </a:p>
        </p:txBody>
      </p:sp>
      <p:sp>
        <p:nvSpPr>
          <p:cNvPr id="11" name="TextBox 10"/>
          <p:cNvSpPr txBox="1"/>
          <p:nvPr/>
        </p:nvSpPr>
        <p:spPr>
          <a:xfrm>
            <a:off x="1280160" y="3794760"/>
            <a:ext cx="4617720" cy="2286000"/>
          </a:xfrm>
          <a:prstGeom prst="rect">
            <a:avLst/>
          </a:prstGeom>
          <a:noFill/>
        </p:spPr>
        <p:txBody>
          <a:bodyPr wrap="square" lIns="27432" rIns="27432" tIns="18288" bIns="18288">
            <a:spAutoFit/>
          </a:bodyPr>
          <a:lstStyle/>
          <a:p>
            <a:pPr>
              <a:spcAft>
                <a:spcPts val="1200"/>
              </a:spcAft>
              <a:defRPr sz="2900" b="0">
                <a:solidFill>
                  <a:srgbClr val="111511"/>
                </a:solidFill>
                <a:latin typeface="Aptos"/>
              </a:defRPr>
            </a:pPr>
            <a:r>
              <a:t>Continue in the current direction.</a:t>
            </a:r>
          </a:p>
        </p:txBody>
      </p:sp>
      <p:sp>
        <p:nvSpPr>
          <p:cNvPr id="12" name="Rectangle 11"/>
          <p:cNvSpPr/>
          <p:nvPr/>
        </p:nvSpPr>
        <p:spPr>
          <a:xfrm>
            <a:off x="6583679" y="2103120"/>
            <a:ext cx="5074920" cy="429768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12279" y="2423160"/>
            <a:ext cx="4617720" cy="1097280"/>
          </a:xfrm>
          <a:prstGeom prst="rect">
            <a:avLst/>
          </a:prstGeom>
          <a:noFill/>
        </p:spPr>
        <p:txBody>
          <a:bodyPr wrap="square" lIns="27432" rIns="27432" tIns="18288" bIns="18288">
            <a:spAutoFit/>
          </a:bodyPr>
          <a:lstStyle/>
          <a:p>
            <a:pPr>
              <a:spcAft>
                <a:spcPts val="1200"/>
              </a:spcAft>
              <a:defRPr sz="3400" b="0">
                <a:solidFill>
                  <a:srgbClr val="111511"/>
                </a:solidFill>
                <a:latin typeface="Pixellance"/>
              </a:defRPr>
            </a:pPr>
            <a:r>
              <a:t>TURN RIGHT</a:t>
            </a:r>
          </a:p>
        </p:txBody>
      </p:sp>
      <p:sp>
        <p:nvSpPr>
          <p:cNvPr id="14" name="TextBox 13"/>
          <p:cNvSpPr txBox="1"/>
          <p:nvPr/>
        </p:nvSpPr>
        <p:spPr>
          <a:xfrm>
            <a:off x="6812279" y="3794760"/>
            <a:ext cx="4617720" cy="2286000"/>
          </a:xfrm>
          <a:prstGeom prst="rect">
            <a:avLst/>
          </a:prstGeom>
          <a:noFill/>
        </p:spPr>
        <p:txBody>
          <a:bodyPr wrap="square" lIns="27432" rIns="27432" tIns="18288" bIns="18288">
            <a:spAutoFit/>
          </a:bodyPr>
          <a:lstStyle/>
          <a:p>
            <a:pPr>
              <a:spcAft>
                <a:spcPts val="1200"/>
              </a:spcAft>
              <a:defRPr sz="2900" b="0">
                <a:solidFill>
                  <a:srgbClr val="111511"/>
                </a:solidFill>
                <a:latin typeface="Aptos"/>
              </a:defRPr>
            </a:pPr>
            <a:r>
              <a:t>Rotate relative to the current heading.</a:t>
            </a:r>
          </a:p>
        </p:txBody>
      </p:sp>
      <p:sp>
        <p:nvSpPr>
          <p:cNvPr id="15" name="Rectangle 14"/>
          <p:cNvSpPr/>
          <p:nvPr/>
        </p:nvSpPr>
        <p:spPr>
          <a:xfrm>
            <a:off x="12115800" y="2103120"/>
            <a:ext cx="5074920" cy="429768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344400" y="2423160"/>
            <a:ext cx="4617720" cy="1097280"/>
          </a:xfrm>
          <a:prstGeom prst="rect">
            <a:avLst/>
          </a:prstGeom>
          <a:noFill/>
        </p:spPr>
        <p:txBody>
          <a:bodyPr wrap="square" lIns="27432" rIns="27432" tIns="18288" bIns="18288">
            <a:spAutoFit/>
          </a:bodyPr>
          <a:lstStyle/>
          <a:p>
            <a:pPr>
              <a:spcAft>
                <a:spcPts val="1200"/>
              </a:spcAft>
              <a:defRPr sz="3400" b="0">
                <a:solidFill>
                  <a:srgbClr val="111511"/>
                </a:solidFill>
                <a:latin typeface="Pixellance"/>
              </a:defRPr>
            </a:pPr>
            <a:r>
              <a:t>TURN LEFT</a:t>
            </a:r>
          </a:p>
        </p:txBody>
      </p:sp>
      <p:sp>
        <p:nvSpPr>
          <p:cNvPr id="17" name="TextBox 16"/>
          <p:cNvSpPr txBox="1"/>
          <p:nvPr/>
        </p:nvSpPr>
        <p:spPr>
          <a:xfrm>
            <a:off x="12344400" y="3794760"/>
            <a:ext cx="4617720" cy="2286000"/>
          </a:xfrm>
          <a:prstGeom prst="rect">
            <a:avLst/>
          </a:prstGeom>
          <a:noFill/>
        </p:spPr>
        <p:txBody>
          <a:bodyPr wrap="square" lIns="27432" rIns="27432" tIns="18288" bIns="18288">
            <a:spAutoFit/>
          </a:bodyPr>
          <a:lstStyle/>
          <a:p>
            <a:pPr>
              <a:spcAft>
                <a:spcPts val="1200"/>
              </a:spcAft>
              <a:defRPr sz="2900" b="0">
                <a:solidFill>
                  <a:srgbClr val="111511"/>
                </a:solidFill>
                <a:latin typeface="Aptos"/>
              </a:defRPr>
            </a:pPr>
            <a:r>
              <a:t>Rotate relative to the current heading.</a:t>
            </a:r>
          </a:p>
        </p:txBody>
      </p:sp>
      <p:sp>
        <p:nvSpPr>
          <p:cNvPr id="18" name="TextBox 17"/>
          <p:cNvSpPr txBox="1"/>
          <p:nvPr/>
        </p:nvSpPr>
        <p:spPr>
          <a:xfrm>
            <a:off x="1143000" y="6903720"/>
            <a:ext cx="16002000" cy="731520"/>
          </a:xfrm>
          <a:prstGeom prst="rect">
            <a:avLst/>
          </a:prstGeom>
          <a:noFill/>
        </p:spPr>
        <p:txBody>
          <a:bodyPr wrap="square" lIns="27432" rIns="27432" tIns="18288" bIns="18288">
            <a:spAutoFit/>
          </a:bodyPr>
          <a:lstStyle/>
          <a:p>
            <a:pPr>
              <a:spcAft>
                <a:spcPts val="1200"/>
              </a:spcAft>
              <a:defRPr sz="3000" b="1">
                <a:solidFill>
                  <a:srgbClr val="111511"/>
                </a:solidFill>
                <a:latin typeface="Aptos"/>
              </a:defRPr>
            </a:pPr>
            <a:r>
              <a:t>Food +10     Collision −20     Closer +0.015     Otherwise −0.025</a:t>
            </a:r>
          </a:p>
        </p:txBody>
      </p:sp>
      <p:sp>
        <p:nvSpPr>
          <p:cNvPr id="19" name="TextBox 18"/>
          <p:cNvSpPr txBox="1"/>
          <p:nvPr/>
        </p:nvSpPr>
        <p:spPr>
          <a:xfrm>
            <a:off x="1143000" y="7772400"/>
            <a:ext cx="16002000" cy="548640"/>
          </a:xfrm>
          <a:prstGeom prst="rect">
            <a:avLst/>
          </a:prstGeom>
          <a:noFill/>
        </p:spPr>
        <p:txBody>
          <a:bodyPr wrap="square" lIns="27432" rIns="27432" tIns="18288" bIns="18288">
            <a:spAutoFit/>
          </a:bodyPr>
          <a:lstStyle/>
          <a:p>
            <a:pPr>
              <a:spcAft>
                <a:spcPts val="1200"/>
              </a:spcAft>
              <a:defRPr sz="2800" b="0">
                <a:solidFill>
                  <a:srgbClr val="111511"/>
                </a:solidFill>
                <a:latin typeface="Aptos"/>
              </a:defRPr>
            </a:pPr>
            <a:r>
              <a:t>No-food timeout: 2 × board cells; counter resets after eating.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788B73"/>
        </a:solidFill>
      </p:bgPr>
    </p:bg>
    <p:spTree>
      <p:nvGrpSpPr>
        <p:cNvPr id="1" name=""/>
        <p:cNvGrpSpPr/>
        <p:nvPr/>
      </p:nvGrpSpPr>
      <p:grpSpPr/>
      <p:grpSp>
        <p:nvGrpSpPr>
          <p:cNvPr name="Group 2" id="2"/>
          <p:cNvGrpSpPr/>
          <p:nvPr/>
        </p:nvGrpSpPr>
        <p:grpSpPr>
          <a:xfrm rot="0">
            <a:off x="626868" y="576026"/>
            <a:ext cx="17034264" cy="9134947"/>
            <a:chOff x="0" y="0"/>
            <a:chExt cx="4486390" cy="2405912"/>
          </a:xfrm>
        </p:grpSpPr>
        <p:sp>
          <p:nvSpPr>
            <p:cNvPr name="Freeform 3" id="3"/>
            <p:cNvSpPr/>
            <p:nvPr/>
          </p:nvSpPr>
          <p:spPr>
            <a:xfrm flipH="false" flipV="false" rot="0">
              <a:off x="0" y="0"/>
              <a:ext cx="4486390" cy="2405912"/>
            </a:xfrm>
            <a:custGeom>
              <a:avLst/>
              <a:gdLst/>
              <a:ahLst/>
              <a:cxnLst/>
              <a:rect r="r" b="b" t="t" l="l"/>
              <a:pathLst>
                <a:path h="2405912" w="4486390">
                  <a:moveTo>
                    <a:pt x="0" y="0"/>
                  </a:moveTo>
                  <a:lnTo>
                    <a:pt x="4486390" y="0"/>
                  </a:lnTo>
                  <a:lnTo>
                    <a:pt x="4486390" y="2405912"/>
                  </a:lnTo>
                  <a:lnTo>
                    <a:pt x="0" y="2405912"/>
                  </a:lnTo>
                  <a:close/>
                </a:path>
              </a:pathLst>
            </a:custGeom>
            <a:ln w="85725" cap="sq">
              <a:solidFill>
                <a:srgbClr val="000000"/>
              </a:solidFill>
              <a:prstDash val="solid"/>
              <a:miter/>
            </a:ln>
          </p:spPr>
        </p:sp>
        <p:sp>
          <p:nvSpPr>
            <p:cNvPr name="TextBox 4" id="4"/>
            <p:cNvSpPr txBox="true"/>
            <p:nvPr/>
          </p:nvSpPr>
          <p:spPr>
            <a:xfrm>
              <a:off x="0" y="-38100"/>
              <a:ext cx="4486390" cy="2444012"/>
            </a:xfrm>
            <a:prstGeom prst="rect">
              <a:avLst/>
            </a:prstGeom>
          </p:spPr>
          <p:txBody>
            <a:bodyPr anchor="ctr" rtlCol="false" tIns="50800" lIns="50800" bIns="50800" rIns="50800"/>
            <a:lstStyle/>
            <a:p>
              <a:pPr algn="ctr">
                <a:lnSpc>
                  <a:spcPts val="2659"/>
                </a:lnSpc>
              </a:pPr>
            </a:p>
          </p:txBody>
        </p:sp>
      </p:grpSp>
      <p:sp>
        <p:nvSpPr>
          <p:cNvPr id="5" name="TextBox 4"/>
          <p:cNvSpPr txBox="1"/>
          <p:nvPr/>
        </p:nvSpPr>
        <p:spPr>
          <a:xfrm>
            <a:off x="960120" y="914400"/>
            <a:ext cx="16276320" cy="731520"/>
          </a:xfrm>
          <a:prstGeom prst="rect">
            <a:avLst/>
          </a:prstGeom>
          <a:noFill/>
        </p:spPr>
        <p:txBody>
          <a:bodyPr wrap="square" lIns="27432" rIns="27432" tIns="18288" bIns="18288">
            <a:spAutoFit/>
          </a:bodyPr>
          <a:lstStyle/>
          <a:p>
            <a:pPr>
              <a:spcAft>
                <a:spcPts val="1200"/>
              </a:spcAft>
              <a:defRPr sz="4300" b="0">
                <a:solidFill>
                  <a:srgbClr val="111511"/>
                </a:solidFill>
                <a:latin typeface="Pixellance"/>
              </a:defRPr>
            </a:pPr>
            <a:r>
              <a:t>DUELING DOUBLE DQN</a:t>
            </a:r>
          </a:p>
        </p:txBody>
      </p:sp>
      <p:sp>
        <p:nvSpPr>
          <p:cNvPr id="6" name="TextBox 5"/>
          <p:cNvSpPr txBox="1"/>
          <p:nvPr/>
        </p:nvSpPr>
        <p:spPr>
          <a:xfrm>
            <a:off x="1005840" y="9098280"/>
            <a:ext cx="11887200" cy="320040"/>
          </a:xfrm>
          <a:prstGeom prst="rect">
            <a:avLst/>
          </a:prstGeom>
          <a:noFill/>
        </p:spPr>
        <p:txBody>
          <a:bodyPr wrap="square" lIns="27432" rIns="27432" tIns="18288" bIns="18288">
            <a:spAutoFit/>
          </a:bodyPr>
          <a:lstStyle/>
          <a:p>
            <a:pPr>
              <a:spcAft>
                <a:spcPts val="1200"/>
              </a:spcAft>
              <a:defRPr sz="1500" b="0">
                <a:solidFill>
                  <a:srgbClr val="111511"/>
                </a:solidFill>
                <a:latin typeface="Aptos"/>
              </a:defRPr>
            </a:pPr>
            <a:r>
              <a:t>SNAKE / DUELING DOUBLE DQN</a:t>
            </a:r>
          </a:p>
        </p:txBody>
      </p:sp>
      <p:sp>
        <p:nvSpPr>
          <p:cNvPr id="7" name="TextBox 6"/>
          <p:cNvSpPr txBox="1"/>
          <p:nvPr/>
        </p:nvSpPr>
        <p:spPr>
          <a:xfrm>
            <a:off x="16184880" y="9052560"/>
            <a:ext cx="914400" cy="365760"/>
          </a:xfrm>
          <a:prstGeom prst="rect">
            <a:avLst/>
          </a:prstGeom>
          <a:noFill/>
        </p:spPr>
        <p:txBody>
          <a:bodyPr wrap="square" lIns="27432" rIns="27432" tIns="18288" bIns="18288">
            <a:spAutoFit/>
          </a:bodyPr>
          <a:lstStyle/>
          <a:p>
            <a:pPr algn="r">
              <a:spcAft>
                <a:spcPts val="1200"/>
              </a:spcAft>
              <a:defRPr sz="1800" b="0">
                <a:solidFill>
                  <a:srgbClr val="111511"/>
                </a:solidFill>
                <a:latin typeface="Aptos"/>
              </a:defRPr>
            </a:pPr>
            <a:r>
              <a:t>07</a:t>
            </a:r>
          </a:p>
        </p:txBody>
      </p:sp>
      <p:sp>
        <p:nvSpPr>
          <p:cNvPr id="8" name="TextBox 7"/>
          <p:cNvSpPr txBox="1"/>
          <p:nvPr/>
        </p:nvSpPr>
        <p:spPr>
          <a:xfrm>
            <a:off x="1005840" y="8595360"/>
            <a:ext cx="16093440" cy="365760"/>
          </a:xfrm>
          <a:prstGeom prst="rect">
            <a:avLst/>
          </a:prstGeom>
          <a:noFill/>
        </p:spPr>
        <p:txBody>
          <a:bodyPr wrap="square" lIns="27432" rIns="27432" tIns="18288" bIns="18288">
            <a:spAutoFit/>
          </a:bodyPr>
          <a:lstStyle/>
          <a:p>
            <a:pPr>
              <a:spcAft>
                <a:spcPts val="1200"/>
              </a:spcAft>
              <a:defRPr sz="1500" b="0">
                <a:solidFill>
                  <a:srgbClr val="111511"/>
                </a:solidFill>
                <a:latin typeface="Aptos"/>
              </a:defRPr>
            </a:pPr>
            <a:r>
              <a:t>Sources: van Hasselt et al. (AAAI 2016); Wang et al. (ICML 2016); project agent.</a:t>
            </a:r>
          </a:p>
        </p:txBody>
      </p:sp>
      <p:sp>
        <p:nvSpPr>
          <p:cNvPr id="9" name="Rectangle 8"/>
          <p:cNvSpPr/>
          <p:nvPr/>
        </p:nvSpPr>
        <p:spPr>
          <a:xfrm>
            <a:off x="1051560" y="2423160"/>
            <a:ext cx="5074920" cy="429768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80160" y="2743200"/>
            <a:ext cx="4617720" cy="1097280"/>
          </a:xfrm>
          <a:prstGeom prst="rect">
            <a:avLst/>
          </a:prstGeom>
          <a:noFill/>
        </p:spPr>
        <p:txBody>
          <a:bodyPr wrap="square" lIns="27432" rIns="27432" tIns="18288" bIns="18288">
            <a:spAutoFit/>
          </a:bodyPr>
          <a:lstStyle/>
          <a:p>
            <a:pPr>
              <a:spcAft>
                <a:spcPts val="1200"/>
              </a:spcAft>
              <a:defRPr sz="3400" b="0">
                <a:solidFill>
                  <a:srgbClr val="111511"/>
                </a:solidFill>
                <a:latin typeface="Pixellance"/>
              </a:defRPr>
            </a:pPr>
            <a:r>
              <a:t>ENCODE</a:t>
            </a:r>
          </a:p>
        </p:txBody>
      </p:sp>
      <p:sp>
        <p:nvSpPr>
          <p:cNvPr id="11" name="TextBox 10"/>
          <p:cNvSpPr txBox="1"/>
          <p:nvPr/>
        </p:nvSpPr>
        <p:spPr>
          <a:xfrm>
            <a:off x="1280160" y="4114800"/>
            <a:ext cx="4617720" cy="2286000"/>
          </a:xfrm>
          <a:prstGeom prst="rect">
            <a:avLst/>
          </a:prstGeom>
          <a:noFill/>
        </p:spPr>
        <p:txBody>
          <a:bodyPr wrap="square" lIns="27432" rIns="27432" tIns="18288" bIns="18288">
            <a:spAutoFit/>
          </a:bodyPr>
          <a:lstStyle/>
          <a:p>
            <a:pPr>
              <a:spcAft>
                <a:spcPts val="1200"/>
              </a:spcAft>
              <a:defRPr sz="2900" b="0">
                <a:solidFill>
                  <a:srgbClr val="111511"/>
                </a:solidFill>
                <a:latin typeface="Aptos"/>
              </a:defRPr>
            </a:pPr>
            <a:r>
              <a:t>27 features</a:t>
            </a:r>
          </a:p>
          <a:p>
            <a:pPr>
              <a:spcAft>
                <a:spcPts val="1200"/>
              </a:spcAft>
              <a:defRPr sz="2900" b="0">
                <a:solidFill>
                  <a:srgbClr val="111511"/>
                </a:solidFill>
                <a:latin typeface="Aptos"/>
              </a:defRPr>
            </a:pPr>
            <a:r>
              <a:t>→ 256 ReLU</a:t>
            </a:r>
          </a:p>
          <a:p>
            <a:pPr>
              <a:spcAft>
                <a:spcPts val="1200"/>
              </a:spcAft>
              <a:defRPr sz="2900" b="0">
                <a:solidFill>
                  <a:srgbClr val="111511"/>
                </a:solidFill>
                <a:latin typeface="Aptos"/>
              </a:defRPr>
            </a:pPr>
            <a:r>
              <a:t>→ 256 ReLU</a:t>
            </a:r>
          </a:p>
        </p:txBody>
      </p:sp>
      <p:sp>
        <p:nvSpPr>
          <p:cNvPr id="12" name="Rectangle 11"/>
          <p:cNvSpPr/>
          <p:nvPr/>
        </p:nvSpPr>
        <p:spPr>
          <a:xfrm>
            <a:off x="6583679" y="2423160"/>
            <a:ext cx="5074920" cy="429768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12279" y="2743200"/>
            <a:ext cx="4617720" cy="1097280"/>
          </a:xfrm>
          <a:prstGeom prst="rect">
            <a:avLst/>
          </a:prstGeom>
          <a:noFill/>
        </p:spPr>
        <p:txBody>
          <a:bodyPr wrap="square" lIns="27432" rIns="27432" tIns="18288" bIns="18288">
            <a:spAutoFit/>
          </a:bodyPr>
          <a:lstStyle/>
          <a:p>
            <a:pPr>
              <a:spcAft>
                <a:spcPts val="1200"/>
              </a:spcAft>
              <a:defRPr sz="3400" b="0">
                <a:solidFill>
                  <a:srgbClr val="111511"/>
                </a:solidFill>
                <a:latin typeface="Pixellance"/>
              </a:defRPr>
            </a:pPr>
            <a:r>
              <a:t>DUELING</a:t>
            </a:r>
          </a:p>
        </p:txBody>
      </p:sp>
      <p:sp>
        <p:nvSpPr>
          <p:cNvPr id="14" name="TextBox 13"/>
          <p:cNvSpPr txBox="1"/>
          <p:nvPr/>
        </p:nvSpPr>
        <p:spPr>
          <a:xfrm>
            <a:off x="6812279" y="4114800"/>
            <a:ext cx="4617720" cy="2286000"/>
          </a:xfrm>
          <a:prstGeom prst="rect">
            <a:avLst/>
          </a:prstGeom>
          <a:noFill/>
        </p:spPr>
        <p:txBody>
          <a:bodyPr wrap="square" lIns="27432" rIns="27432" tIns="18288" bIns="18288">
            <a:spAutoFit/>
          </a:bodyPr>
          <a:lstStyle/>
          <a:p>
            <a:pPr>
              <a:spcAft>
                <a:spcPts val="1200"/>
              </a:spcAft>
              <a:defRPr sz="2900" b="0">
                <a:solidFill>
                  <a:srgbClr val="111511"/>
                </a:solidFill>
                <a:latin typeface="Aptos"/>
              </a:defRPr>
            </a:pPr>
            <a:r>
              <a:t>State value V(s)</a:t>
            </a:r>
          </a:p>
          <a:p>
            <a:pPr>
              <a:spcAft>
                <a:spcPts val="1200"/>
              </a:spcAft>
              <a:defRPr sz="2900" b="0">
                <a:solidFill>
                  <a:srgbClr val="111511"/>
                </a:solidFill>
                <a:latin typeface="Aptos"/>
              </a:defRPr>
            </a:pPr>
            <a:r>
              <a:t>Action advantages A(s,a)</a:t>
            </a:r>
          </a:p>
          <a:p>
            <a:pPr>
              <a:spcAft>
                <a:spcPts val="1200"/>
              </a:spcAft>
              <a:defRPr sz="2900" b="0">
                <a:solidFill>
                  <a:srgbClr val="111511"/>
                </a:solidFill>
                <a:latin typeface="Aptos"/>
              </a:defRPr>
            </a:pPr>
            <a:r>
              <a:t>→ three Q-values</a:t>
            </a:r>
          </a:p>
        </p:txBody>
      </p:sp>
      <p:sp>
        <p:nvSpPr>
          <p:cNvPr id="15" name="Rectangle 14"/>
          <p:cNvSpPr/>
          <p:nvPr/>
        </p:nvSpPr>
        <p:spPr>
          <a:xfrm>
            <a:off x="12115800" y="2423160"/>
            <a:ext cx="5074920" cy="429768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344400" y="2743200"/>
            <a:ext cx="4617720" cy="1097280"/>
          </a:xfrm>
          <a:prstGeom prst="rect">
            <a:avLst/>
          </a:prstGeom>
          <a:noFill/>
        </p:spPr>
        <p:txBody>
          <a:bodyPr wrap="square" lIns="27432" rIns="27432" tIns="18288" bIns="18288">
            <a:spAutoFit/>
          </a:bodyPr>
          <a:lstStyle/>
          <a:p>
            <a:pPr>
              <a:spcAft>
                <a:spcPts val="1200"/>
              </a:spcAft>
              <a:defRPr sz="3400" b="0">
                <a:solidFill>
                  <a:srgbClr val="111511"/>
                </a:solidFill>
                <a:latin typeface="Pixellance"/>
              </a:defRPr>
            </a:pPr>
            <a:r>
              <a:t>DOUBLE DQN</a:t>
            </a:r>
          </a:p>
        </p:txBody>
      </p:sp>
      <p:sp>
        <p:nvSpPr>
          <p:cNvPr id="17" name="TextBox 16"/>
          <p:cNvSpPr txBox="1"/>
          <p:nvPr/>
        </p:nvSpPr>
        <p:spPr>
          <a:xfrm>
            <a:off x="12344400" y="4114800"/>
            <a:ext cx="4617720" cy="2286000"/>
          </a:xfrm>
          <a:prstGeom prst="rect">
            <a:avLst/>
          </a:prstGeom>
          <a:noFill/>
        </p:spPr>
        <p:txBody>
          <a:bodyPr wrap="square" lIns="27432" rIns="27432" tIns="18288" bIns="18288">
            <a:spAutoFit/>
          </a:bodyPr>
          <a:lstStyle/>
          <a:p>
            <a:pPr>
              <a:spcAft>
                <a:spcPts val="1200"/>
              </a:spcAft>
              <a:defRPr sz="2900" b="0">
                <a:solidFill>
                  <a:srgbClr val="111511"/>
                </a:solidFill>
                <a:latin typeface="Aptos"/>
              </a:defRPr>
            </a:pPr>
            <a:r>
              <a:t>Online network selects</a:t>
            </a:r>
          </a:p>
          <a:p>
            <a:pPr>
              <a:spcAft>
                <a:spcPts val="1200"/>
              </a:spcAft>
              <a:defRPr sz="2900" b="0">
                <a:solidFill>
                  <a:srgbClr val="111511"/>
                </a:solidFill>
                <a:latin typeface="Aptos"/>
              </a:defRPr>
            </a:pPr>
            <a:r>
              <a:t>Target network evaluates</a:t>
            </a:r>
          </a:p>
          <a:p>
            <a:pPr>
              <a:spcAft>
                <a:spcPts val="1200"/>
              </a:spcAft>
              <a:defRPr sz="2900" b="0">
                <a:solidFill>
                  <a:srgbClr val="111511"/>
                </a:solidFill>
                <a:latin typeface="Aptos"/>
              </a:defRPr>
            </a:pPr>
            <a:r>
              <a:t>→ Huber loss update</a:t>
            </a:r>
          </a:p>
        </p:txBody>
      </p:sp>
      <p:sp>
        <p:nvSpPr>
          <p:cNvPr id="18" name="TextBox 17"/>
          <p:cNvSpPr txBox="1"/>
          <p:nvPr/>
        </p:nvSpPr>
        <p:spPr>
          <a:xfrm>
            <a:off x="1188720" y="7452360"/>
            <a:ext cx="15910559" cy="731520"/>
          </a:xfrm>
          <a:prstGeom prst="rect">
            <a:avLst/>
          </a:prstGeom>
          <a:noFill/>
        </p:spPr>
        <p:txBody>
          <a:bodyPr wrap="square" lIns="27432" rIns="27432" tIns="18288" bIns="18288">
            <a:spAutoFit/>
          </a:bodyPr>
          <a:lstStyle/>
          <a:p>
            <a:pPr>
              <a:spcAft>
                <a:spcPts val="1200"/>
              </a:spcAft>
              <a:defRPr sz="3400" b="1">
                <a:solidFill>
                  <a:srgbClr val="111511"/>
                </a:solidFill>
                <a:latin typeface="Aptos"/>
              </a:defRPr>
            </a:pPr>
            <a:r>
              <a:t>Q(s,a) = V(s) + A(s,a) − mean A(s,·)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788B73"/>
        </a:solidFill>
      </p:bgPr>
    </p:bg>
    <p:spTree>
      <p:nvGrpSpPr>
        <p:cNvPr id="1" name=""/>
        <p:cNvGrpSpPr/>
        <p:nvPr/>
      </p:nvGrpSpPr>
      <p:grpSpPr/>
      <p:grpSp>
        <p:nvGrpSpPr>
          <p:cNvPr name="Group 2" id="2"/>
          <p:cNvGrpSpPr/>
          <p:nvPr/>
        </p:nvGrpSpPr>
        <p:grpSpPr>
          <a:xfrm rot="0">
            <a:off x="626868" y="576026"/>
            <a:ext cx="17034264" cy="9134947"/>
            <a:chOff x="0" y="0"/>
            <a:chExt cx="4486390" cy="2405912"/>
          </a:xfrm>
        </p:grpSpPr>
        <p:sp>
          <p:nvSpPr>
            <p:cNvPr name="Freeform 3" id="3"/>
            <p:cNvSpPr/>
            <p:nvPr/>
          </p:nvSpPr>
          <p:spPr>
            <a:xfrm flipH="false" flipV="false" rot="0">
              <a:off x="0" y="0"/>
              <a:ext cx="4486390" cy="2405912"/>
            </a:xfrm>
            <a:custGeom>
              <a:avLst/>
              <a:gdLst/>
              <a:ahLst/>
              <a:cxnLst/>
              <a:rect r="r" b="b" t="t" l="l"/>
              <a:pathLst>
                <a:path h="2405912" w="4486390">
                  <a:moveTo>
                    <a:pt x="0" y="0"/>
                  </a:moveTo>
                  <a:lnTo>
                    <a:pt x="4486390" y="0"/>
                  </a:lnTo>
                  <a:lnTo>
                    <a:pt x="4486390" y="2405912"/>
                  </a:lnTo>
                  <a:lnTo>
                    <a:pt x="0" y="2405912"/>
                  </a:lnTo>
                  <a:close/>
                </a:path>
              </a:pathLst>
            </a:custGeom>
            <a:ln w="85725" cap="sq">
              <a:solidFill>
                <a:srgbClr val="000000"/>
              </a:solidFill>
              <a:prstDash val="solid"/>
              <a:miter/>
            </a:ln>
          </p:spPr>
        </p:sp>
        <p:sp>
          <p:nvSpPr>
            <p:cNvPr name="TextBox 4" id="4"/>
            <p:cNvSpPr txBox="true"/>
            <p:nvPr/>
          </p:nvSpPr>
          <p:spPr>
            <a:xfrm>
              <a:off x="0" y="-38100"/>
              <a:ext cx="4486390" cy="2444012"/>
            </a:xfrm>
            <a:prstGeom prst="rect">
              <a:avLst/>
            </a:prstGeom>
          </p:spPr>
          <p:txBody>
            <a:bodyPr anchor="ctr" rtlCol="false" tIns="50800" lIns="50800" bIns="50800" rIns="50800"/>
            <a:lstStyle/>
            <a:p>
              <a:pPr algn="ctr">
                <a:lnSpc>
                  <a:spcPts val="2659"/>
                </a:lnSpc>
              </a:pPr>
            </a:p>
          </p:txBody>
        </p:sp>
      </p:grpSp>
      <p:sp>
        <p:nvSpPr>
          <p:cNvPr id="5" name="TextBox 4"/>
          <p:cNvSpPr txBox="1"/>
          <p:nvPr/>
        </p:nvSpPr>
        <p:spPr>
          <a:xfrm>
            <a:off x="960120" y="914400"/>
            <a:ext cx="16276320" cy="731520"/>
          </a:xfrm>
          <a:prstGeom prst="rect">
            <a:avLst/>
          </a:prstGeom>
          <a:noFill/>
        </p:spPr>
        <p:txBody>
          <a:bodyPr wrap="square" lIns="27432" rIns="27432" tIns="18288" bIns="18288">
            <a:spAutoFit/>
          </a:bodyPr>
          <a:lstStyle/>
          <a:p>
            <a:pPr>
              <a:spcAft>
                <a:spcPts val="1200"/>
              </a:spcAft>
              <a:defRPr sz="4300" b="0">
                <a:solidFill>
                  <a:srgbClr val="111511"/>
                </a:solidFill>
                <a:latin typeface="Pixellance"/>
              </a:defRPr>
            </a:pPr>
            <a:r>
              <a:t>TRAINING CONFIGURATION</a:t>
            </a:r>
          </a:p>
        </p:txBody>
      </p:sp>
      <p:sp>
        <p:nvSpPr>
          <p:cNvPr id="6" name="TextBox 5"/>
          <p:cNvSpPr txBox="1"/>
          <p:nvPr/>
        </p:nvSpPr>
        <p:spPr>
          <a:xfrm>
            <a:off x="1005840" y="9098280"/>
            <a:ext cx="11887200" cy="320040"/>
          </a:xfrm>
          <a:prstGeom prst="rect">
            <a:avLst/>
          </a:prstGeom>
          <a:noFill/>
        </p:spPr>
        <p:txBody>
          <a:bodyPr wrap="square" lIns="27432" rIns="27432" tIns="18288" bIns="18288">
            <a:spAutoFit/>
          </a:bodyPr>
          <a:lstStyle/>
          <a:p>
            <a:pPr>
              <a:spcAft>
                <a:spcPts val="1200"/>
              </a:spcAft>
              <a:defRPr sz="1500" b="0">
                <a:solidFill>
                  <a:srgbClr val="111511"/>
                </a:solidFill>
                <a:latin typeface="Aptos"/>
              </a:defRPr>
            </a:pPr>
            <a:r>
              <a:t>SNAKE / DUELING DOUBLE DQN</a:t>
            </a:r>
          </a:p>
        </p:txBody>
      </p:sp>
      <p:sp>
        <p:nvSpPr>
          <p:cNvPr id="7" name="TextBox 6"/>
          <p:cNvSpPr txBox="1"/>
          <p:nvPr/>
        </p:nvSpPr>
        <p:spPr>
          <a:xfrm>
            <a:off x="16184880" y="9052560"/>
            <a:ext cx="914400" cy="365760"/>
          </a:xfrm>
          <a:prstGeom prst="rect">
            <a:avLst/>
          </a:prstGeom>
          <a:noFill/>
        </p:spPr>
        <p:txBody>
          <a:bodyPr wrap="square" lIns="27432" rIns="27432" tIns="18288" bIns="18288">
            <a:spAutoFit/>
          </a:bodyPr>
          <a:lstStyle/>
          <a:p>
            <a:pPr algn="r">
              <a:spcAft>
                <a:spcPts val="1200"/>
              </a:spcAft>
              <a:defRPr sz="1800" b="0">
                <a:solidFill>
                  <a:srgbClr val="111511"/>
                </a:solidFill>
                <a:latin typeface="Aptos"/>
              </a:defRPr>
            </a:pPr>
            <a:r>
              <a:t>08</a:t>
            </a:r>
          </a:p>
        </p:txBody>
      </p:sp>
      <p:sp>
        <p:nvSpPr>
          <p:cNvPr id="8" name="TextBox 7"/>
          <p:cNvSpPr txBox="1"/>
          <p:nvPr/>
        </p:nvSpPr>
        <p:spPr>
          <a:xfrm>
            <a:off x="1005840" y="8595360"/>
            <a:ext cx="16093440" cy="365760"/>
          </a:xfrm>
          <a:prstGeom prst="rect">
            <a:avLst/>
          </a:prstGeom>
          <a:noFill/>
        </p:spPr>
        <p:txBody>
          <a:bodyPr wrap="square" lIns="27432" rIns="27432" tIns="18288" bIns="18288">
            <a:spAutoFit/>
          </a:bodyPr>
          <a:lstStyle/>
          <a:p>
            <a:pPr>
              <a:spcAft>
                <a:spcPts val="1200"/>
              </a:spcAft>
              <a:defRPr sz="1500" b="0">
                <a:solidFill>
                  <a:srgbClr val="111511"/>
                </a:solidFill>
                <a:latin typeface="Aptos"/>
              </a:defRPr>
            </a:pPr>
            <a:r>
              <a:t>Source: project implementation and latex/main.tex</a:t>
            </a:r>
          </a:p>
        </p:txBody>
      </p:sp>
      <p:sp>
        <p:nvSpPr>
          <p:cNvPr id="9" name="Rectangle 8"/>
          <p:cNvSpPr/>
          <p:nvPr/>
        </p:nvSpPr>
        <p:spPr>
          <a:xfrm>
            <a:off x="1051560" y="2240280"/>
            <a:ext cx="4572000" cy="822960"/>
          </a:xfrm>
          <a:prstGeom prst="rect">
            <a:avLst/>
          </a:prstGeom>
          <a:solidFill>
            <a:srgbClr val="111511"/>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61288" y="2350008"/>
            <a:ext cx="4352544" cy="658368"/>
          </a:xfrm>
          <a:prstGeom prst="rect">
            <a:avLst/>
          </a:prstGeom>
          <a:noFill/>
        </p:spPr>
        <p:txBody>
          <a:bodyPr wrap="square" lIns="27432" rIns="27432" tIns="18288" bIns="18288">
            <a:spAutoFit/>
          </a:bodyPr>
          <a:lstStyle/>
          <a:p>
            <a:pPr>
              <a:spcAft>
                <a:spcPts val="1200"/>
              </a:spcAft>
              <a:defRPr sz="2600" b="1">
                <a:solidFill>
                  <a:srgbClr val="F4F6F0"/>
                </a:solidFill>
                <a:latin typeface="Aptos"/>
              </a:defRPr>
            </a:pPr>
            <a:r>
              <a:t>Setting</a:t>
            </a:r>
          </a:p>
        </p:txBody>
      </p:sp>
      <p:sp>
        <p:nvSpPr>
          <p:cNvPr id="11" name="Rectangle 10"/>
          <p:cNvSpPr/>
          <p:nvPr/>
        </p:nvSpPr>
        <p:spPr>
          <a:xfrm>
            <a:off x="5623560" y="2240280"/>
            <a:ext cx="3017520" cy="822960"/>
          </a:xfrm>
          <a:prstGeom prst="rect">
            <a:avLst/>
          </a:prstGeom>
          <a:solidFill>
            <a:srgbClr val="111511"/>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33288" y="2350008"/>
            <a:ext cx="2798063" cy="658368"/>
          </a:xfrm>
          <a:prstGeom prst="rect">
            <a:avLst/>
          </a:prstGeom>
          <a:noFill/>
        </p:spPr>
        <p:txBody>
          <a:bodyPr wrap="square" lIns="27432" rIns="27432" tIns="18288" bIns="18288">
            <a:spAutoFit/>
          </a:bodyPr>
          <a:lstStyle/>
          <a:p>
            <a:pPr>
              <a:spcAft>
                <a:spcPts val="1200"/>
              </a:spcAft>
              <a:defRPr sz="2600" b="1">
                <a:solidFill>
                  <a:srgbClr val="F4F6F0"/>
                </a:solidFill>
                <a:latin typeface="Aptos"/>
              </a:defRPr>
            </a:pPr>
            <a:r>
              <a:t>Value</a:t>
            </a:r>
          </a:p>
        </p:txBody>
      </p:sp>
      <p:sp>
        <p:nvSpPr>
          <p:cNvPr id="13" name="Rectangle 12"/>
          <p:cNvSpPr/>
          <p:nvPr/>
        </p:nvSpPr>
        <p:spPr>
          <a:xfrm>
            <a:off x="8641080" y="2240280"/>
            <a:ext cx="4846320" cy="822960"/>
          </a:xfrm>
          <a:prstGeom prst="rect">
            <a:avLst/>
          </a:prstGeom>
          <a:solidFill>
            <a:srgbClr val="111511"/>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50807" y="2350008"/>
            <a:ext cx="4626864" cy="658368"/>
          </a:xfrm>
          <a:prstGeom prst="rect">
            <a:avLst/>
          </a:prstGeom>
          <a:noFill/>
        </p:spPr>
        <p:txBody>
          <a:bodyPr wrap="square" lIns="27432" rIns="27432" tIns="18288" bIns="18288">
            <a:spAutoFit/>
          </a:bodyPr>
          <a:lstStyle/>
          <a:p>
            <a:pPr>
              <a:spcAft>
                <a:spcPts val="1200"/>
              </a:spcAft>
              <a:defRPr sz="2600" b="1">
                <a:solidFill>
                  <a:srgbClr val="F4F6F0"/>
                </a:solidFill>
                <a:latin typeface="Aptos"/>
              </a:defRPr>
            </a:pPr>
            <a:r>
              <a:t>Setting</a:t>
            </a:r>
          </a:p>
        </p:txBody>
      </p:sp>
      <p:sp>
        <p:nvSpPr>
          <p:cNvPr id="15" name="Rectangle 14"/>
          <p:cNvSpPr/>
          <p:nvPr/>
        </p:nvSpPr>
        <p:spPr>
          <a:xfrm>
            <a:off x="13487400" y="2240280"/>
            <a:ext cx="3657600" cy="822960"/>
          </a:xfrm>
          <a:prstGeom prst="rect">
            <a:avLst/>
          </a:prstGeom>
          <a:solidFill>
            <a:srgbClr val="111511"/>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597128" y="2350008"/>
            <a:ext cx="3438144" cy="658368"/>
          </a:xfrm>
          <a:prstGeom prst="rect">
            <a:avLst/>
          </a:prstGeom>
          <a:noFill/>
        </p:spPr>
        <p:txBody>
          <a:bodyPr wrap="square" lIns="27432" rIns="27432" tIns="18288" bIns="18288">
            <a:spAutoFit/>
          </a:bodyPr>
          <a:lstStyle/>
          <a:p>
            <a:pPr>
              <a:spcAft>
                <a:spcPts val="1200"/>
              </a:spcAft>
              <a:defRPr sz="2600" b="1">
                <a:solidFill>
                  <a:srgbClr val="F4F6F0"/>
                </a:solidFill>
                <a:latin typeface="Aptos"/>
              </a:defRPr>
            </a:pPr>
            <a:r>
              <a:t>Value</a:t>
            </a:r>
          </a:p>
        </p:txBody>
      </p:sp>
      <p:sp>
        <p:nvSpPr>
          <p:cNvPr id="17" name="Rectangle 16"/>
          <p:cNvSpPr/>
          <p:nvPr/>
        </p:nvSpPr>
        <p:spPr>
          <a:xfrm>
            <a:off x="1051560" y="3063240"/>
            <a:ext cx="4572000" cy="82296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61288" y="3172968"/>
            <a:ext cx="4352544" cy="658368"/>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Learning rate</a:t>
            </a:r>
          </a:p>
        </p:txBody>
      </p:sp>
      <p:sp>
        <p:nvSpPr>
          <p:cNvPr id="19" name="Rectangle 18"/>
          <p:cNvSpPr/>
          <p:nvPr/>
        </p:nvSpPr>
        <p:spPr>
          <a:xfrm>
            <a:off x="5623560" y="3063240"/>
            <a:ext cx="3017520" cy="82296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33288" y="3172968"/>
            <a:ext cx="2798063" cy="658368"/>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0.0003</a:t>
            </a:r>
          </a:p>
        </p:txBody>
      </p:sp>
      <p:sp>
        <p:nvSpPr>
          <p:cNvPr id="21" name="Rectangle 20"/>
          <p:cNvSpPr/>
          <p:nvPr/>
        </p:nvSpPr>
        <p:spPr>
          <a:xfrm>
            <a:off x="8641080" y="3063240"/>
            <a:ext cx="4846320" cy="82296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50807" y="3172968"/>
            <a:ext cx="4626864" cy="658368"/>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Discount</a:t>
            </a:r>
          </a:p>
        </p:txBody>
      </p:sp>
      <p:sp>
        <p:nvSpPr>
          <p:cNvPr id="23" name="Rectangle 22"/>
          <p:cNvSpPr/>
          <p:nvPr/>
        </p:nvSpPr>
        <p:spPr>
          <a:xfrm>
            <a:off x="13487400" y="3063240"/>
            <a:ext cx="3657600" cy="82296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597128" y="3172968"/>
            <a:ext cx="3438144" cy="658368"/>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0.995</a:t>
            </a:r>
          </a:p>
        </p:txBody>
      </p:sp>
      <p:sp>
        <p:nvSpPr>
          <p:cNvPr id="25" name="Rectangle 24"/>
          <p:cNvSpPr/>
          <p:nvPr/>
        </p:nvSpPr>
        <p:spPr>
          <a:xfrm>
            <a:off x="1051560" y="3886200"/>
            <a:ext cx="4572000" cy="82296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61288" y="3995928"/>
            <a:ext cx="4352544" cy="658368"/>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Batch size</a:t>
            </a:r>
          </a:p>
        </p:txBody>
      </p:sp>
      <p:sp>
        <p:nvSpPr>
          <p:cNvPr id="27" name="Rectangle 26"/>
          <p:cNvSpPr/>
          <p:nvPr/>
        </p:nvSpPr>
        <p:spPr>
          <a:xfrm>
            <a:off x="5623560" y="3886200"/>
            <a:ext cx="3017520" cy="82296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733288" y="3995928"/>
            <a:ext cx="2798063" cy="658368"/>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256</a:t>
            </a:r>
          </a:p>
        </p:txBody>
      </p:sp>
      <p:sp>
        <p:nvSpPr>
          <p:cNvPr id="29" name="Rectangle 28"/>
          <p:cNvSpPr/>
          <p:nvPr/>
        </p:nvSpPr>
        <p:spPr>
          <a:xfrm>
            <a:off x="8641080" y="3886200"/>
            <a:ext cx="4846320" cy="82296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750807" y="3995928"/>
            <a:ext cx="4626864" cy="658368"/>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Replay capacity</a:t>
            </a:r>
          </a:p>
        </p:txBody>
      </p:sp>
      <p:sp>
        <p:nvSpPr>
          <p:cNvPr id="31" name="Rectangle 30"/>
          <p:cNvSpPr/>
          <p:nvPr/>
        </p:nvSpPr>
        <p:spPr>
          <a:xfrm>
            <a:off x="13487400" y="3886200"/>
            <a:ext cx="3657600" cy="82296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3597128" y="3995928"/>
            <a:ext cx="3438144" cy="658368"/>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300,000</a:t>
            </a:r>
          </a:p>
        </p:txBody>
      </p:sp>
      <p:sp>
        <p:nvSpPr>
          <p:cNvPr id="33" name="Rectangle 32"/>
          <p:cNvSpPr/>
          <p:nvPr/>
        </p:nvSpPr>
        <p:spPr>
          <a:xfrm>
            <a:off x="1051560" y="4709160"/>
            <a:ext cx="4572000" cy="82296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61288" y="4818888"/>
            <a:ext cx="4352544" cy="658368"/>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Warm-up steps</a:t>
            </a:r>
          </a:p>
        </p:txBody>
      </p:sp>
      <p:sp>
        <p:nvSpPr>
          <p:cNvPr id="35" name="Rectangle 34"/>
          <p:cNvSpPr/>
          <p:nvPr/>
        </p:nvSpPr>
        <p:spPr>
          <a:xfrm>
            <a:off x="5623560" y="4709160"/>
            <a:ext cx="3017520" cy="82296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733288" y="4818888"/>
            <a:ext cx="2798063" cy="658368"/>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5,000</a:t>
            </a:r>
          </a:p>
        </p:txBody>
      </p:sp>
      <p:sp>
        <p:nvSpPr>
          <p:cNvPr id="37" name="Rectangle 36"/>
          <p:cNvSpPr/>
          <p:nvPr/>
        </p:nvSpPr>
        <p:spPr>
          <a:xfrm>
            <a:off x="8641080" y="4709160"/>
            <a:ext cx="4846320" cy="82296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750807" y="4818888"/>
            <a:ext cx="4626864" cy="658368"/>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Target update</a:t>
            </a:r>
          </a:p>
        </p:txBody>
      </p:sp>
      <p:sp>
        <p:nvSpPr>
          <p:cNvPr id="39" name="Rectangle 38"/>
          <p:cNvSpPr/>
          <p:nvPr/>
        </p:nvSpPr>
        <p:spPr>
          <a:xfrm>
            <a:off x="13487400" y="4709160"/>
            <a:ext cx="3657600" cy="82296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3597128" y="4818888"/>
            <a:ext cx="3438144" cy="658368"/>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5,000 steps</a:t>
            </a:r>
          </a:p>
        </p:txBody>
      </p:sp>
      <p:sp>
        <p:nvSpPr>
          <p:cNvPr id="41" name="Rectangle 40"/>
          <p:cNvSpPr/>
          <p:nvPr/>
        </p:nvSpPr>
        <p:spPr>
          <a:xfrm>
            <a:off x="1051560" y="5532120"/>
            <a:ext cx="4572000" cy="82296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161288" y="5641848"/>
            <a:ext cx="4352544" cy="658368"/>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Update frequency</a:t>
            </a:r>
          </a:p>
        </p:txBody>
      </p:sp>
      <p:sp>
        <p:nvSpPr>
          <p:cNvPr id="43" name="Rectangle 42"/>
          <p:cNvSpPr/>
          <p:nvPr/>
        </p:nvSpPr>
        <p:spPr>
          <a:xfrm>
            <a:off x="5623560" y="5532120"/>
            <a:ext cx="3017520" cy="82296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733288" y="5641848"/>
            <a:ext cx="2798063" cy="658368"/>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Every 2 steps</a:t>
            </a:r>
          </a:p>
        </p:txBody>
      </p:sp>
      <p:sp>
        <p:nvSpPr>
          <p:cNvPr id="45" name="Rectangle 44"/>
          <p:cNvSpPr/>
          <p:nvPr/>
        </p:nvSpPr>
        <p:spPr>
          <a:xfrm>
            <a:off x="8641080" y="5532120"/>
            <a:ext cx="4846320" cy="82296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750807" y="5641848"/>
            <a:ext cx="4626864" cy="658368"/>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Exploration ε</a:t>
            </a:r>
          </a:p>
        </p:txBody>
      </p:sp>
      <p:sp>
        <p:nvSpPr>
          <p:cNvPr id="47" name="Rectangle 46"/>
          <p:cNvSpPr/>
          <p:nvPr/>
        </p:nvSpPr>
        <p:spPr>
          <a:xfrm>
            <a:off x="13487400" y="5532120"/>
            <a:ext cx="3657600" cy="82296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3597128" y="5641848"/>
            <a:ext cx="3438144" cy="658368"/>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1.00 → 0.01</a:t>
            </a:r>
          </a:p>
        </p:txBody>
      </p:sp>
      <p:sp>
        <p:nvSpPr>
          <p:cNvPr id="49" name="Rectangle 48"/>
          <p:cNvSpPr/>
          <p:nvPr/>
        </p:nvSpPr>
        <p:spPr>
          <a:xfrm>
            <a:off x="1051560" y="6355080"/>
            <a:ext cx="4572000" cy="82296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161288" y="6464808"/>
            <a:ext cx="4352544" cy="658368"/>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Environment steps</a:t>
            </a:r>
          </a:p>
        </p:txBody>
      </p:sp>
      <p:sp>
        <p:nvSpPr>
          <p:cNvPr id="51" name="Rectangle 50"/>
          <p:cNvSpPr/>
          <p:nvPr/>
        </p:nvSpPr>
        <p:spPr>
          <a:xfrm>
            <a:off x="5623560" y="6355080"/>
            <a:ext cx="3017520" cy="82296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733288" y="6464808"/>
            <a:ext cx="2798063" cy="658368"/>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14,293,725</a:t>
            </a:r>
          </a:p>
        </p:txBody>
      </p:sp>
      <p:sp>
        <p:nvSpPr>
          <p:cNvPr id="53" name="Rectangle 52"/>
          <p:cNvSpPr/>
          <p:nvPr/>
        </p:nvSpPr>
        <p:spPr>
          <a:xfrm>
            <a:off x="8641080" y="6355080"/>
            <a:ext cx="4846320" cy="82296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750807" y="6464808"/>
            <a:ext cx="4626864" cy="658368"/>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Training seed</a:t>
            </a:r>
          </a:p>
        </p:txBody>
      </p:sp>
      <p:sp>
        <p:nvSpPr>
          <p:cNvPr id="55" name="Rectangle 54"/>
          <p:cNvSpPr/>
          <p:nvPr/>
        </p:nvSpPr>
        <p:spPr>
          <a:xfrm>
            <a:off x="13487400" y="6355080"/>
            <a:ext cx="3657600" cy="82296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3597128" y="6464808"/>
            <a:ext cx="3438144" cy="658368"/>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0</a:t>
            </a:r>
          </a:p>
        </p:txBody>
      </p:sp>
      <p:sp>
        <p:nvSpPr>
          <p:cNvPr id="57" name="TextBox 56"/>
          <p:cNvSpPr txBox="1"/>
          <p:nvPr/>
        </p:nvSpPr>
        <p:spPr>
          <a:xfrm>
            <a:off x="1143000" y="7543800"/>
            <a:ext cx="15819120" cy="640080"/>
          </a:xfrm>
          <a:prstGeom prst="rect">
            <a:avLst/>
          </a:prstGeom>
          <a:noFill/>
        </p:spPr>
        <p:txBody>
          <a:bodyPr wrap="square" lIns="27432" rIns="27432" tIns="18288" bIns="18288">
            <a:spAutoFit/>
          </a:bodyPr>
          <a:lstStyle/>
          <a:p>
            <a:pPr>
              <a:spcAft>
                <a:spcPts val="1200"/>
              </a:spcAft>
              <a:defRPr sz="3000" b="1">
                <a:solidFill>
                  <a:srgbClr val="111511"/>
                </a:solidFill>
                <a:latin typeface="Aptos"/>
              </a:defRPr>
            </a:pPr>
            <a:r>
              <a:t>Selected checkpoint: episode 17,000 | training rolling mean: 52.09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788B73"/>
        </a:solidFill>
      </p:bgPr>
    </p:bg>
    <p:spTree>
      <p:nvGrpSpPr>
        <p:cNvPr id="1" name=""/>
        <p:cNvGrpSpPr/>
        <p:nvPr/>
      </p:nvGrpSpPr>
      <p:grpSpPr/>
      <p:grpSp>
        <p:nvGrpSpPr>
          <p:cNvPr name="Group 2" id="2"/>
          <p:cNvGrpSpPr/>
          <p:nvPr/>
        </p:nvGrpSpPr>
        <p:grpSpPr>
          <a:xfrm rot="0">
            <a:off x="626868" y="576026"/>
            <a:ext cx="17034264" cy="9134947"/>
            <a:chOff x="0" y="0"/>
            <a:chExt cx="4486390" cy="2405912"/>
          </a:xfrm>
        </p:grpSpPr>
        <p:sp>
          <p:nvSpPr>
            <p:cNvPr name="Freeform 3" id="3"/>
            <p:cNvSpPr/>
            <p:nvPr/>
          </p:nvSpPr>
          <p:spPr>
            <a:xfrm flipH="false" flipV="false" rot="0">
              <a:off x="0" y="0"/>
              <a:ext cx="4486390" cy="2405912"/>
            </a:xfrm>
            <a:custGeom>
              <a:avLst/>
              <a:gdLst/>
              <a:ahLst/>
              <a:cxnLst/>
              <a:rect r="r" b="b" t="t" l="l"/>
              <a:pathLst>
                <a:path h="2405912" w="4486390">
                  <a:moveTo>
                    <a:pt x="0" y="0"/>
                  </a:moveTo>
                  <a:lnTo>
                    <a:pt x="4486390" y="0"/>
                  </a:lnTo>
                  <a:lnTo>
                    <a:pt x="4486390" y="2405912"/>
                  </a:lnTo>
                  <a:lnTo>
                    <a:pt x="0" y="2405912"/>
                  </a:lnTo>
                  <a:close/>
                </a:path>
              </a:pathLst>
            </a:custGeom>
            <a:ln w="85725" cap="sq">
              <a:solidFill>
                <a:srgbClr val="000000"/>
              </a:solidFill>
              <a:prstDash val="solid"/>
              <a:miter/>
            </a:ln>
          </p:spPr>
        </p:sp>
        <p:sp>
          <p:nvSpPr>
            <p:cNvPr name="TextBox 4" id="4"/>
            <p:cNvSpPr txBox="true"/>
            <p:nvPr/>
          </p:nvSpPr>
          <p:spPr>
            <a:xfrm>
              <a:off x="0" y="-38100"/>
              <a:ext cx="4486390" cy="2444012"/>
            </a:xfrm>
            <a:prstGeom prst="rect">
              <a:avLst/>
            </a:prstGeom>
          </p:spPr>
          <p:txBody>
            <a:bodyPr anchor="ctr" rtlCol="false" tIns="50800" lIns="50800" bIns="50800" rIns="50800"/>
            <a:lstStyle/>
            <a:p>
              <a:pPr algn="ctr">
                <a:lnSpc>
                  <a:spcPts val="2659"/>
                </a:lnSpc>
              </a:pPr>
            </a:p>
          </p:txBody>
        </p:sp>
      </p:grpSp>
      <p:sp>
        <p:nvSpPr>
          <p:cNvPr id="5" name="TextBox 4"/>
          <p:cNvSpPr txBox="1"/>
          <p:nvPr/>
        </p:nvSpPr>
        <p:spPr>
          <a:xfrm>
            <a:off x="960120" y="914400"/>
            <a:ext cx="16276320" cy="731520"/>
          </a:xfrm>
          <a:prstGeom prst="rect">
            <a:avLst/>
          </a:prstGeom>
          <a:noFill/>
        </p:spPr>
        <p:txBody>
          <a:bodyPr wrap="square" lIns="27432" rIns="27432" tIns="18288" bIns="18288">
            <a:spAutoFit/>
          </a:bodyPr>
          <a:lstStyle/>
          <a:p>
            <a:pPr>
              <a:spcAft>
                <a:spcPts val="1200"/>
              </a:spcAft>
              <a:defRPr sz="4300" b="0">
                <a:solidFill>
                  <a:srgbClr val="111511"/>
                </a:solidFill>
                <a:latin typeface="Pixellance"/>
              </a:defRPr>
            </a:pPr>
            <a:r>
              <a:t>LEARNING ON LEVEL 4</a:t>
            </a:r>
          </a:p>
        </p:txBody>
      </p:sp>
      <p:sp>
        <p:nvSpPr>
          <p:cNvPr id="6" name="TextBox 5"/>
          <p:cNvSpPr txBox="1"/>
          <p:nvPr/>
        </p:nvSpPr>
        <p:spPr>
          <a:xfrm>
            <a:off x="1005840" y="9098280"/>
            <a:ext cx="11887200" cy="320040"/>
          </a:xfrm>
          <a:prstGeom prst="rect">
            <a:avLst/>
          </a:prstGeom>
          <a:noFill/>
        </p:spPr>
        <p:txBody>
          <a:bodyPr wrap="square" lIns="27432" rIns="27432" tIns="18288" bIns="18288">
            <a:spAutoFit/>
          </a:bodyPr>
          <a:lstStyle/>
          <a:p>
            <a:pPr>
              <a:spcAft>
                <a:spcPts val="1200"/>
              </a:spcAft>
              <a:defRPr sz="1500" b="0">
                <a:solidFill>
                  <a:srgbClr val="111511"/>
                </a:solidFill>
                <a:latin typeface="Aptos"/>
              </a:defRPr>
            </a:pPr>
            <a:r>
              <a:t>SNAKE / DUELING DOUBLE DQN</a:t>
            </a:r>
          </a:p>
        </p:txBody>
      </p:sp>
      <p:sp>
        <p:nvSpPr>
          <p:cNvPr id="7" name="TextBox 6"/>
          <p:cNvSpPr txBox="1"/>
          <p:nvPr/>
        </p:nvSpPr>
        <p:spPr>
          <a:xfrm>
            <a:off x="16184880" y="9052560"/>
            <a:ext cx="914400" cy="365760"/>
          </a:xfrm>
          <a:prstGeom prst="rect">
            <a:avLst/>
          </a:prstGeom>
          <a:noFill/>
        </p:spPr>
        <p:txBody>
          <a:bodyPr wrap="square" lIns="27432" rIns="27432" tIns="18288" bIns="18288">
            <a:spAutoFit/>
          </a:bodyPr>
          <a:lstStyle/>
          <a:p>
            <a:pPr algn="r">
              <a:spcAft>
                <a:spcPts val="1200"/>
              </a:spcAft>
              <a:defRPr sz="1800" b="0">
                <a:solidFill>
                  <a:srgbClr val="111511"/>
                </a:solidFill>
                <a:latin typeface="Aptos"/>
              </a:defRPr>
            </a:pPr>
            <a:r>
              <a:t>09</a:t>
            </a:r>
          </a:p>
        </p:txBody>
      </p:sp>
      <p:sp>
        <p:nvSpPr>
          <p:cNvPr id="8" name="TextBox 7"/>
          <p:cNvSpPr txBox="1"/>
          <p:nvPr/>
        </p:nvSpPr>
        <p:spPr>
          <a:xfrm>
            <a:off x="1005840" y="8595360"/>
            <a:ext cx="16093440" cy="365760"/>
          </a:xfrm>
          <a:prstGeom prst="rect">
            <a:avLst/>
          </a:prstGeom>
          <a:noFill/>
        </p:spPr>
        <p:txBody>
          <a:bodyPr wrap="square" lIns="27432" rIns="27432" tIns="18288" bIns="18288">
            <a:spAutoFit/>
          </a:bodyPr>
          <a:lstStyle/>
          <a:p>
            <a:pPr>
              <a:spcAft>
                <a:spcPts val="1200"/>
              </a:spcAft>
              <a:defRPr sz="1500" b="0">
                <a:solidFill>
                  <a:srgbClr val="111511"/>
                </a:solidFill>
                <a:latin typeface="Aptos"/>
              </a:defRPr>
            </a:pPr>
            <a:r>
              <a:t>Source: project implementation and latex/main.tex</a:t>
            </a:r>
          </a:p>
        </p:txBody>
      </p:sp>
      <p:pic>
        <p:nvPicPr>
          <p:cNvPr id="9" name="Picture 8" descr="training_curve.png"/>
          <p:cNvPicPr>
            <a:picLocks noChangeAspect="1"/>
          </p:cNvPicPr>
          <p:nvPr/>
        </p:nvPicPr>
        <p:blipFill>
          <a:blip r:embed="rId3"/>
          <a:stretch>
            <a:fillRect/>
          </a:stretch>
        </p:blipFill>
        <p:spPr>
          <a:xfrm>
            <a:off x="1097280" y="2103120"/>
            <a:ext cx="11470157" cy="5577840"/>
          </a:xfrm>
          <a:prstGeom prst="rect">
            <a:avLst/>
          </a:prstGeom>
        </p:spPr>
      </p:pic>
      <p:sp>
        <p:nvSpPr>
          <p:cNvPr id="10" name="TextBox 9"/>
          <p:cNvSpPr txBox="1"/>
          <p:nvPr/>
        </p:nvSpPr>
        <p:spPr>
          <a:xfrm>
            <a:off x="13807440" y="2560320"/>
            <a:ext cx="3200400" cy="822960"/>
          </a:xfrm>
          <a:prstGeom prst="rect">
            <a:avLst/>
          </a:prstGeom>
          <a:noFill/>
        </p:spPr>
        <p:txBody>
          <a:bodyPr wrap="square" lIns="27432" rIns="27432" tIns="18288" bIns="18288">
            <a:spAutoFit/>
          </a:bodyPr>
          <a:lstStyle/>
          <a:p>
            <a:pPr>
              <a:spcAft>
                <a:spcPts val="1200"/>
              </a:spcAft>
              <a:defRPr sz="5200" b="0">
                <a:solidFill>
                  <a:srgbClr val="111511"/>
                </a:solidFill>
                <a:latin typeface="Pixellance"/>
              </a:defRPr>
            </a:pPr>
            <a:r>
              <a:t>52.09</a:t>
            </a:r>
          </a:p>
        </p:txBody>
      </p:sp>
      <p:sp>
        <p:nvSpPr>
          <p:cNvPr id="11" name="TextBox 10"/>
          <p:cNvSpPr txBox="1"/>
          <p:nvPr/>
        </p:nvSpPr>
        <p:spPr>
          <a:xfrm>
            <a:off x="13807440" y="3794760"/>
            <a:ext cx="3154680" cy="1828800"/>
          </a:xfrm>
          <a:prstGeom prst="rect">
            <a:avLst/>
          </a:prstGeom>
          <a:noFill/>
        </p:spPr>
        <p:txBody>
          <a:bodyPr wrap="square" lIns="27432" rIns="27432" tIns="18288" bIns="18288">
            <a:spAutoFit/>
          </a:bodyPr>
          <a:lstStyle/>
          <a:p>
            <a:pPr>
              <a:spcAft>
                <a:spcPts val="1200"/>
              </a:spcAft>
              <a:defRPr sz="2700" b="0">
                <a:solidFill>
                  <a:srgbClr val="111511"/>
                </a:solidFill>
                <a:latin typeface="Aptos"/>
              </a:defRPr>
            </a:pPr>
            <a:r>
              <a:t>Selected checkpoint</a:t>
            </a:r>
          </a:p>
          <a:p>
            <a:pPr>
              <a:spcAft>
                <a:spcPts val="1200"/>
              </a:spcAft>
              <a:defRPr sz="2700" b="0">
                <a:solidFill>
                  <a:srgbClr val="111511"/>
                </a:solidFill>
                <a:latin typeface="Aptos"/>
              </a:defRPr>
            </a:pPr>
            <a:r>
              <a:t>100-episode training mean</a:t>
            </a:r>
          </a:p>
        </p:txBody>
      </p:sp>
      <p:sp>
        <p:nvSpPr>
          <p:cNvPr id="12" name="TextBox 11"/>
          <p:cNvSpPr txBox="1"/>
          <p:nvPr/>
        </p:nvSpPr>
        <p:spPr>
          <a:xfrm>
            <a:off x="1188720" y="8046720"/>
            <a:ext cx="15910559" cy="457200"/>
          </a:xfrm>
          <a:prstGeom prst="rect">
            <a:avLst/>
          </a:prstGeom>
          <a:noFill/>
        </p:spPr>
        <p:txBody>
          <a:bodyPr wrap="square" lIns="27432" rIns="27432" tIns="18288" bIns="18288">
            <a:spAutoFit/>
          </a:bodyPr>
          <a:lstStyle/>
          <a:p>
            <a:pPr>
              <a:spcAft>
                <a:spcPts val="1200"/>
              </a:spcAft>
              <a:defRPr sz="2700" b="1">
                <a:solidFill>
                  <a:srgbClr val="111511"/>
                </a:solidFill>
                <a:latin typeface="Aptos"/>
              </a:defRPr>
            </a:pPr>
            <a:r>
              <a:t>Training statistics are separate from evaluation results.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788B73"/>
        </a:solidFill>
      </p:bgPr>
    </p:bg>
    <p:spTree>
      <p:nvGrpSpPr>
        <p:cNvPr id="1" name=""/>
        <p:cNvGrpSpPr/>
        <p:nvPr/>
      </p:nvGrpSpPr>
      <p:grpSpPr/>
      <p:grpSp>
        <p:nvGrpSpPr>
          <p:cNvPr name="Group 2" id="2"/>
          <p:cNvGrpSpPr/>
          <p:nvPr/>
        </p:nvGrpSpPr>
        <p:grpSpPr>
          <a:xfrm rot="0">
            <a:off x="626868" y="576026"/>
            <a:ext cx="17034264" cy="9134947"/>
            <a:chOff x="0" y="0"/>
            <a:chExt cx="4486390" cy="2405912"/>
          </a:xfrm>
        </p:grpSpPr>
        <p:sp>
          <p:nvSpPr>
            <p:cNvPr name="Freeform 3" id="3"/>
            <p:cNvSpPr/>
            <p:nvPr/>
          </p:nvSpPr>
          <p:spPr>
            <a:xfrm flipH="false" flipV="false" rot="0">
              <a:off x="0" y="0"/>
              <a:ext cx="4486390" cy="2405912"/>
            </a:xfrm>
            <a:custGeom>
              <a:avLst/>
              <a:gdLst/>
              <a:ahLst/>
              <a:cxnLst/>
              <a:rect r="r" b="b" t="t" l="l"/>
              <a:pathLst>
                <a:path h="2405912" w="4486390">
                  <a:moveTo>
                    <a:pt x="0" y="0"/>
                  </a:moveTo>
                  <a:lnTo>
                    <a:pt x="4486390" y="0"/>
                  </a:lnTo>
                  <a:lnTo>
                    <a:pt x="4486390" y="2405912"/>
                  </a:lnTo>
                  <a:lnTo>
                    <a:pt x="0" y="2405912"/>
                  </a:lnTo>
                  <a:close/>
                </a:path>
              </a:pathLst>
            </a:custGeom>
            <a:ln w="85725" cap="sq">
              <a:solidFill>
                <a:srgbClr val="000000"/>
              </a:solidFill>
              <a:prstDash val="solid"/>
              <a:miter/>
            </a:ln>
          </p:spPr>
        </p:sp>
        <p:sp>
          <p:nvSpPr>
            <p:cNvPr name="TextBox 4" id="4"/>
            <p:cNvSpPr txBox="true"/>
            <p:nvPr/>
          </p:nvSpPr>
          <p:spPr>
            <a:xfrm>
              <a:off x="0" y="-38100"/>
              <a:ext cx="4486390" cy="2444012"/>
            </a:xfrm>
            <a:prstGeom prst="rect">
              <a:avLst/>
            </a:prstGeom>
          </p:spPr>
          <p:txBody>
            <a:bodyPr anchor="ctr" rtlCol="false" tIns="50800" lIns="50800" bIns="50800" rIns="50800"/>
            <a:lstStyle/>
            <a:p>
              <a:pPr algn="ctr">
                <a:lnSpc>
                  <a:spcPts val="2659"/>
                </a:lnSpc>
              </a:pPr>
            </a:p>
          </p:txBody>
        </p:sp>
      </p:grpSp>
      <p:sp>
        <p:nvSpPr>
          <p:cNvPr id="5" name="TextBox 4"/>
          <p:cNvSpPr txBox="1"/>
          <p:nvPr/>
        </p:nvSpPr>
        <p:spPr>
          <a:xfrm>
            <a:off x="960120" y="914400"/>
            <a:ext cx="16276320" cy="731520"/>
          </a:xfrm>
          <a:prstGeom prst="rect">
            <a:avLst/>
          </a:prstGeom>
          <a:noFill/>
        </p:spPr>
        <p:txBody>
          <a:bodyPr wrap="square" lIns="27432" rIns="27432" tIns="18288" bIns="18288">
            <a:spAutoFit/>
          </a:bodyPr>
          <a:lstStyle/>
          <a:p>
            <a:pPr>
              <a:spcAft>
                <a:spcPts val="1200"/>
              </a:spcAft>
              <a:defRPr sz="4300" b="0">
                <a:solidFill>
                  <a:srgbClr val="111511"/>
                </a:solidFill>
                <a:latin typeface="Pixellance"/>
              </a:defRPr>
            </a:pPr>
            <a:r>
              <a:t>FROZEN-POLICY EVALUATION</a:t>
            </a:r>
          </a:p>
        </p:txBody>
      </p:sp>
      <p:sp>
        <p:nvSpPr>
          <p:cNvPr id="6" name="TextBox 5"/>
          <p:cNvSpPr txBox="1"/>
          <p:nvPr/>
        </p:nvSpPr>
        <p:spPr>
          <a:xfrm>
            <a:off x="1005840" y="9098280"/>
            <a:ext cx="11887200" cy="320040"/>
          </a:xfrm>
          <a:prstGeom prst="rect">
            <a:avLst/>
          </a:prstGeom>
          <a:noFill/>
        </p:spPr>
        <p:txBody>
          <a:bodyPr wrap="square" lIns="27432" rIns="27432" tIns="18288" bIns="18288">
            <a:spAutoFit/>
          </a:bodyPr>
          <a:lstStyle/>
          <a:p>
            <a:pPr>
              <a:spcAft>
                <a:spcPts val="1200"/>
              </a:spcAft>
              <a:defRPr sz="1500" b="0">
                <a:solidFill>
                  <a:srgbClr val="111511"/>
                </a:solidFill>
                <a:latin typeface="Aptos"/>
              </a:defRPr>
            </a:pPr>
            <a:r>
              <a:t>SNAKE / DUELING DOUBLE DQN</a:t>
            </a:r>
          </a:p>
        </p:txBody>
      </p:sp>
      <p:sp>
        <p:nvSpPr>
          <p:cNvPr id="7" name="TextBox 6"/>
          <p:cNvSpPr txBox="1"/>
          <p:nvPr/>
        </p:nvSpPr>
        <p:spPr>
          <a:xfrm>
            <a:off x="16184880" y="9052560"/>
            <a:ext cx="914400" cy="365760"/>
          </a:xfrm>
          <a:prstGeom prst="rect">
            <a:avLst/>
          </a:prstGeom>
          <a:noFill/>
        </p:spPr>
        <p:txBody>
          <a:bodyPr wrap="square" lIns="27432" rIns="27432" tIns="18288" bIns="18288">
            <a:spAutoFit/>
          </a:bodyPr>
          <a:lstStyle/>
          <a:p>
            <a:pPr algn="r">
              <a:spcAft>
                <a:spcPts val="1200"/>
              </a:spcAft>
              <a:defRPr sz="1800" b="0">
                <a:solidFill>
                  <a:srgbClr val="111511"/>
                </a:solidFill>
                <a:latin typeface="Aptos"/>
              </a:defRPr>
            </a:pPr>
            <a:r>
              <a:t>10</a:t>
            </a:r>
          </a:p>
        </p:txBody>
      </p:sp>
      <p:sp>
        <p:nvSpPr>
          <p:cNvPr id="8" name="TextBox 7"/>
          <p:cNvSpPr txBox="1"/>
          <p:nvPr/>
        </p:nvSpPr>
        <p:spPr>
          <a:xfrm>
            <a:off x="1005840" y="8595360"/>
            <a:ext cx="16093440" cy="365760"/>
          </a:xfrm>
          <a:prstGeom prst="rect">
            <a:avLst/>
          </a:prstGeom>
          <a:noFill/>
        </p:spPr>
        <p:txBody>
          <a:bodyPr wrap="square" lIns="27432" rIns="27432" tIns="18288" bIns="18288">
            <a:spAutoFit/>
          </a:bodyPr>
          <a:lstStyle/>
          <a:p>
            <a:pPr>
              <a:spcAft>
                <a:spcPts val="1200"/>
              </a:spcAft>
              <a:defRPr sz="1500" b="0">
                <a:solidFill>
                  <a:srgbClr val="111511"/>
                </a:solidFill>
                <a:latin typeface="Aptos"/>
              </a:defRPr>
            </a:pPr>
            <a:r>
              <a:t>Source: project implementation and latex/main.tex</a:t>
            </a:r>
          </a:p>
        </p:txBody>
      </p:sp>
      <p:sp>
        <p:nvSpPr>
          <p:cNvPr id="9" name="Rectangle 8"/>
          <p:cNvSpPr/>
          <p:nvPr/>
        </p:nvSpPr>
        <p:spPr>
          <a:xfrm>
            <a:off x="1097280" y="2249424"/>
            <a:ext cx="155448" cy="155448"/>
          </a:xfrm>
          <a:prstGeom prst="rect">
            <a:avLst/>
          </a:prstGeom>
          <a:solidFill>
            <a:srgbClr val="111511"/>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08760" y="2103120"/>
            <a:ext cx="15499080" cy="1033271"/>
          </a:xfrm>
          <a:prstGeom prst="rect">
            <a:avLst/>
          </a:prstGeom>
          <a:noFill/>
        </p:spPr>
        <p:txBody>
          <a:bodyPr wrap="square" lIns="27432" rIns="27432" tIns="18288" bIns="18288">
            <a:spAutoFit/>
          </a:bodyPr>
          <a:lstStyle/>
          <a:p>
            <a:pPr>
              <a:spcAft>
                <a:spcPts val="1200"/>
              </a:spcAft>
              <a:defRPr sz="3100" b="0">
                <a:solidFill>
                  <a:srgbClr val="111511"/>
                </a:solidFill>
                <a:latin typeface="Aptos"/>
              </a:defRPr>
            </a:pPr>
            <a:r>
              <a:t>100 episodes per policy–level pair; seeds 1234–1333.</a:t>
            </a:r>
          </a:p>
        </p:txBody>
      </p:sp>
      <p:sp>
        <p:nvSpPr>
          <p:cNvPr id="11" name="Rectangle 10"/>
          <p:cNvSpPr/>
          <p:nvPr/>
        </p:nvSpPr>
        <p:spPr>
          <a:xfrm>
            <a:off x="1097280" y="3392424"/>
            <a:ext cx="155448" cy="155448"/>
          </a:xfrm>
          <a:prstGeom prst="rect">
            <a:avLst/>
          </a:prstGeom>
          <a:solidFill>
            <a:srgbClr val="111511"/>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08760" y="3246120"/>
            <a:ext cx="15499080" cy="1033271"/>
          </a:xfrm>
          <a:prstGeom prst="rect">
            <a:avLst/>
          </a:prstGeom>
          <a:noFill/>
        </p:spPr>
        <p:txBody>
          <a:bodyPr wrap="square" lIns="27432" rIns="27432" tIns="18288" bIns="18288">
            <a:spAutoFit/>
          </a:bodyPr>
          <a:lstStyle/>
          <a:p>
            <a:pPr>
              <a:spcAft>
                <a:spcPts val="1200"/>
              </a:spcAft>
              <a:defRPr sz="3100" b="0">
                <a:solidFill>
                  <a:srgbClr val="111511"/>
                </a:solidFill>
                <a:latin typeface="Aptos"/>
              </a:defRPr>
            </a:pPr>
            <a:r>
              <a:t>Best DQN, final DQN and uniform random policy.</a:t>
            </a:r>
          </a:p>
        </p:txBody>
      </p:sp>
      <p:sp>
        <p:nvSpPr>
          <p:cNvPr id="13" name="Rectangle 12"/>
          <p:cNvSpPr/>
          <p:nvPr/>
        </p:nvSpPr>
        <p:spPr>
          <a:xfrm>
            <a:off x="1097280" y="4535424"/>
            <a:ext cx="155448" cy="155448"/>
          </a:xfrm>
          <a:prstGeom prst="rect">
            <a:avLst/>
          </a:prstGeom>
          <a:solidFill>
            <a:srgbClr val="111511"/>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08760" y="4389120"/>
            <a:ext cx="15499080" cy="1033271"/>
          </a:xfrm>
          <a:prstGeom prst="rect">
            <a:avLst/>
          </a:prstGeom>
          <a:noFill/>
        </p:spPr>
        <p:txBody>
          <a:bodyPr wrap="square" lIns="27432" rIns="27432" tIns="18288" bIns="18288">
            <a:spAutoFit/>
          </a:bodyPr>
          <a:lstStyle/>
          <a:p>
            <a:pPr>
              <a:spcAft>
                <a:spcPts val="1200"/>
              </a:spcAft>
              <a:defRPr sz="3100" b="0">
                <a:solidFill>
                  <a:srgbClr val="111511"/>
                </a:solidFill>
                <a:latin typeface="Aptos"/>
              </a:defRPr>
            </a:pPr>
            <a:r>
              <a:t>Frozen weights, greedy actions and headless evaluation.</a:t>
            </a:r>
          </a:p>
        </p:txBody>
      </p:sp>
      <p:sp>
        <p:nvSpPr>
          <p:cNvPr id="15" name="Rectangle 14"/>
          <p:cNvSpPr/>
          <p:nvPr/>
        </p:nvSpPr>
        <p:spPr>
          <a:xfrm>
            <a:off x="1097280" y="5678424"/>
            <a:ext cx="155448" cy="155448"/>
          </a:xfrm>
          <a:prstGeom prst="rect">
            <a:avLst/>
          </a:prstGeom>
          <a:solidFill>
            <a:srgbClr val="111511"/>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08760" y="5532120"/>
            <a:ext cx="15499080" cy="1033271"/>
          </a:xfrm>
          <a:prstGeom prst="rect">
            <a:avLst/>
          </a:prstGeom>
          <a:noFill/>
        </p:spPr>
        <p:txBody>
          <a:bodyPr wrap="square" lIns="27432" rIns="27432" tIns="18288" bIns="18288">
            <a:spAutoFit/>
          </a:bodyPr>
          <a:lstStyle/>
          <a:p>
            <a:pPr>
              <a:spcAft>
                <a:spcPts val="1200"/>
              </a:spcAft>
              <a:defRPr sz="3100" b="0">
                <a:solidFill>
                  <a:srgbClr val="111511"/>
                </a:solidFill>
                <a:latin typeface="Aptos"/>
              </a:defRPr>
            </a:pPr>
            <a:r>
              <a:t>Scores, target success, normalized scores and failure causes.</a:t>
            </a:r>
          </a:p>
        </p:txBody>
      </p:sp>
      <p:sp>
        <p:nvSpPr>
          <p:cNvPr id="17" name="Rectangle 16"/>
          <p:cNvSpPr/>
          <p:nvPr/>
        </p:nvSpPr>
        <p:spPr>
          <a:xfrm>
            <a:off x="1097280" y="6821424"/>
            <a:ext cx="155448" cy="155448"/>
          </a:xfrm>
          <a:prstGeom prst="rect">
            <a:avLst/>
          </a:prstGeom>
          <a:solidFill>
            <a:srgbClr val="111511"/>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508760" y="6675120"/>
            <a:ext cx="15499080" cy="1033271"/>
          </a:xfrm>
          <a:prstGeom prst="rect">
            <a:avLst/>
          </a:prstGeom>
          <a:noFill/>
        </p:spPr>
        <p:txBody>
          <a:bodyPr wrap="square" lIns="27432" rIns="27432" tIns="18288" bIns="18288">
            <a:spAutoFit/>
          </a:bodyPr>
          <a:lstStyle/>
          <a:p>
            <a:pPr>
              <a:spcAft>
                <a:spcPts val="1200"/>
              </a:spcAft>
              <a:defRPr sz="3100" b="0">
                <a:solidFill>
                  <a:srgbClr val="111511"/>
                </a:solidFill>
                <a:latin typeface="Aptos"/>
              </a:defRPr>
            </a:pPr>
            <a:r>
              <a:t>95% Wilson intervals for target success rates.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788B73"/>
        </a:solidFill>
      </p:bgPr>
    </p:bg>
    <p:spTree>
      <p:nvGrpSpPr>
        <p:cNvPr id="1" name=""/>
        <p:cNvGrpSpPr/>
        <p:nvPr/>
      </p:nvGrpSpPr>
      <p:grpSpPr/>
      <p:grpSp>
        <p:nvGrpSpPr>
          <p:cNvPr name="Group 2" id="2"/>
          <p:cNvGrpSpPr/>
          <p:nvPr/>
        </p:nvGrpSpPr>
        <p:grpSpPr>
          <a:xfrm rot="0">
            <a:off x="626868" y="576026"/>
            <a:ext cx="17034264" cy="9134947"/>
            <a:chOff x="0" y="0"/>
            <a:chExt cx="4486390" cy="2405912"/>
          </a:xfrm>
        </p:grpSpPr>
        <p:sp>
          <p:nvSpPr>
            <p:cNvPr name="Freeform 3" id="3"/>
            <p:cNvSpPr/>
            <p:nvPr/>
          </p:nvSpPr>
          <p:spPr>
            <a:xfrm flipH="false" flipV="false" rot="0">
              <a:off x="0" y="0"/>
              <a:ext cx="4486390" cy="2405912"/>
            </a:xfrm>
            <a:custGeom>
              <a:avLst/>
              <a:gdLst/>
              <a:ahLst/>
              <a:cxnLst/>
              <a:rect r="r" b="b" t="t" l="l"/>
              <a:pathLst>
                <a:path h="2405912" w="4486390">
                  <a:moveTo>
                    <a:pt x="0" y="0"/>
                  </a:moveTo>
                  <a:lnTo>
                    <a:pt x="4486390" y="0"/>
                  </a:lnTo>
                  <a:lnTo>
                    <a:pt x="4486390" y="2405912"/>
                  </a:lnTo>
                  <a:lnTo>
                    <a:pt x="0" y="2405912"/>
                  </a:lnTo>
                  <a:close/>
                </a:path>
              </a:pathLst>
            </a:custGeom>
            <a:ln w="85725" cap="sq">
              <a:solidFill>
                <a:srgbClr val="000000"/>
              </a:solidFill>
              <a:prstDash val="solid"/>
              <a:miter/>
            </a:ln>
          </p:spPr>
        </p:sp>
        <p:sp>
          <p:nvSpPr>
            <p:cNvPr name="TextBox 4" id="4"/>
            <p:cNvSpPr txBox="true"/>
            <p:nvPr/>
          </p:nvSpPr>
          <p:spPr>
            <a:xfrm>
              <a:off x="0" y="-38100"/>
              <a:ext cx="4486390" cy="2444012"/>
            </a:xfrm>
            <a:prstGeom prst="rect">
              <a:avLst/>
            </a:prstGeom>
          </p:spPr>
          <p:txBody>
            <a:bodyPr anchor="ctr" rtlCol="false" tIns="50800" lIns="50800" bIns="50800" rIns="50800"/>
            <a:lstStyle/>
            <a:p>
              <a:pPr algn="ctr">
                <a:lnSpc>
                  <a:spcPts val="2659"/>
                </a:lnSpc>
              </a:pPr>
            </a:p>
          </p:txBody>
        </p:sp>
      </p:grpSp>
      <p:sp>
        <p:nvSpPr>
          <p:cNvPr id="5" name="TextBox 4"/>
          <p:cNvSpPr txBox="1"/>
          <p:nvPr/>
        </p:nvSpPr>
        <p:spPr>
          <a:xfrm>
            <a:off x="960120" y="914400"/>
            <a:ext cx="16276320" cy="731520"/>
          </a:xfrm>
          <a:prstGeom prst="rect">
            <a:avLst/>
          </a:prstGeom>
          <a:noFill/>
        </p:spPr>
        <p:txBody>
          <a:bodyPr wrap="square" lIns="27432" rIns="27432" tIns="18288" bIns="18288">
            <a:spAutoFit/>
          </a:bodyPr>
          <a:lstStyle/>
          <a:p>
            <a:pPr>
              <a:spcAft>
                <a:spcPts val="1200"/>
              </a:spcAft>
              <a:defRPr sz="4300" b="0">
                <a:solidFill>
                  <a:srgbClr val="111511"/>
                </a:solidFill>
                <a:latin typeface="Pixellance"/>
              </a:defRPr>
            </a:pPr>
            <a:r>
              <a:t>ZERO-SHOT SUCCESS ACROSS LEVELS</a:t>
            </a:r>
          </a:p>
        </p:txBody>
      </p:sp>
      <p:sp>
        <p:nvSpPr>
          <p:cNvPr id="6" name="TextBox 5"/>
          <p:cNvSpPr txBox="1"/>
          <p:nvPr/>
        </p:nvSpPr>
        <p:spPr>
          <a:xfrm>
            <a:off x="1005840" y="9098280"/>
            <a:ext cx="11887200" cy="320040"/>
          </a:xfrm>
          <a:prstGeom prst="rect">
            <a:avLst/>
          </a:prstGeom>
          <a:noFill/>
        </p:spPr>
        <p:txBody>
          <a:bodyPr wrap="square" lIns="27432" rIns="27432" tIns="18288" bIns="18288">
            <a:spAutoFit/>
          </a:bodyPr>
          <a:lstStyle/>
          <a:p>
            <a:pPr>
              <a:spcAft>
                <a:spcPts val="1200"/>
              </a:spcAft>
              <a:defRPr sz="1500" b="0">
                <a:solidFill>
                  <a:srgbClr val="111511"/>
                </a:solidFill>
                <a:latin typeface="Aptos"/>
              </a:defRPr>
            </a:pPr>
            <a:r>
              <a:t>SNAKE / DUELING DOUBLE DQN</a:t>
            </a:r>
          </a:p>
        </p:txBody>
      </p:sp>
      <p:sp>
        <p:nvSpPr>
          <p:cNvPr id="7" name="TextBox 6"/>
          <p:cNvSpPr txBox="1"/>
          <p:nvPr/>
        </p:nvSpPr>
        <p:spPr>
          <a:xfrm>
            <a:off x="16184880" y="9052560"/>
            <a:ext cx="914400" cy="365760"/>
          </a:xfrm>
          <a:prstGeom prst="rect">
            <a:avLst/>
          </a:prstGeom>
          <a:noFill/>
        </p:spPr>
        <p:txBody>
          <a:bodyPr wrap="square" lIns="27432" rIns="27432" tIns="18288" bIns="18288">
            <a:spAutoFit/>
          </a:bodyPr>
          <a:lstStyle/>
          <a:p>
            <a:pPr algn="r">
              <a:spcAft>
                <a:spcPts val="1200"/>
              </a:spcAft>
              <a:defRPr sz="1800" b="0">
                <a:solidFill>
                  <a:srgbClr val="111511"/>
                </a:solidFill>
                <a:latin typeface="Aptos"/>
              </a:defRPr>
            </a:pPr>
            <a:r>
              <a:t>11</a:t>
            </a:r>
          </a:p>
        </p:txBody>
      </p:sp>
      <p:sp>
        <p:nvSpPr>
          <p:cNvPr id="8" name="TextBox 7"/>
          <p:cNvSpPr txBox="1"/>
          <p:nvPr/>
        </p:nvSpPr>
        <p:spPr>
          <a:xfrm>
            <a:off x="1005840" y="8595360"/>
            <a:ext cx="16093440" cy="365760"/>
          </a:xfrm>
          <a:prstGeom prst="rect">
            <a:avLst/>
          </a:prstGeom>
          <a:noFill/>
        </p:spPr>
        <p:txBody>
          <a:bodyPr wrap="square" lIns="27432" rIns="27432" tIns="18288" bIns="18288">
            <a:spAutoFit/>
          </a:bodyPr>
          <a:lstStyle/>
          <a:p>
            <a:pPr>
              <a:spcAft>
                <a:spcPts val="1200"/>
              </a:spcAft>
              <a:defRPr sz="1500" b="0">
                <a:solidFill>
                  <a:srgbClr val="111511"/>
                </a:solidFill>
                <a:latin typeface="Aptos"/>
              </a:defRPr>
            </a:pPr>
            <a:r>
              <a:t>Source: results/cross_level_evaluation/summary.csv | best_dqn | n = 100 per level</a:t>
            </a:r>
          </a:p>
        </p:txBody>
      </p:sp>
      <p:sp>
        <p:nvSpPr>
          <p:cNvPr id="9" name="TextBox 8"/>
          <p:cNvSpPr txBox="1"/>
          <p:nvPr/>
        </p:nvSpPr>
        <p:spPr>
          <a:xfrm>
            <a:off x="1097280" y="2377440"/>
            <a:ext cx="914400" cy="548640"/>
          </a:xfrm>
          <a:prstGeom prst="rect">
            <a:avLst/>
          </a:prstGeom>
          <a:noFill/>
        </p:spPr>
        <p:txBody>
          <a:bodyPr wrap="square" lIns="27432" rIns="27432" tIns="18288" bIns="18288">
            <a:spAutoFit/>
          </a:bodyPr>
          <a:lstStyle/>
          <a:p>
            <a:pPr>
              <a:spcAft>
                <a:spcPts val="1200"/>
              </a:spcAft>
              <a:defRPr sz="2900" b="1">
                <a:solidFill>
                  <a:srgbClr val="111511"/>
                </a:solidFill>
                <a:latin typeface="Aptos"/>
              </a:defRPr>
            </a:pPr>
            <a:r>
              <a:t>L1</a:t>
            </a:r>
          </a:p>
        </p:txBody>
      </p:sp>
      <p:sp>
        <p:nvSpPr>
          <p:cNvPr id="10" name="Rectangle 9"/>
          <p:cNvSpPr/>
          <p:nvPr/>
        </p:nvSpPr>
        <p:spPr>
          <a:xfrm>
            <a:off x="2286000" y="2450592"/>
            <a:ext cx="10789920" cy="50292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0" y="2450592"/>
            <a:ext cx="10789920" cy="502920"/>
          </a:xfrm>
          <a:prstGeom prst="rect">
            <a:avLst/>
          </a:prstGeom>
          <a:solidFill>
            <a:srgbClr val="111511"/>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676763" y="2596896"/>
            <a:ext cx="399156" cy="82296"/>
          </a:xfrm>
          <a:prstGeom prst="rect">
            <a:avLst/>
          </a:prstGeom>
          <a:solidFill>
            <a:srgbClr val="CAD2B6"/>
          </a:solidFill>
          <a:ln w="25400">
            <a:solidFill>
              <a:srgbClr val="CAD2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350240" y="2377440"/>
            <a:ext cx="3657600" cy="640080"/>
          </a:xfrm>
          <a:prstGeom prst="rect">
            <a:avLst/>
          </a:prstGeom>
          <a:noFill/>
        </p:spPr>
        <p:txBody>
          <a:bodyPr wrap="square" lIns="27432" rIns="27432" tIns="18288" bIns="18288">
            <a:spAutoFit/>
          </a:bodyPr>
          <a:lstStyle/>
          <a:p>
            <a:pPr>
              <a:spcAft>
                <a:spcPts val="1200"/>
              </a:spcAft>
              <a:defRPr sz="2800" b="0">
                <a:solidFill>
                  <a:srgbClr val="111511"/>
                </a:solidFill>
                <a:latin typeface="Aptos"/>
              </a:defRPr>
            </a:pPr>
            <a:r>
              <a:t>100%  [96.3–100.0]</a:t>
            </a:r>
          </a:p>
        </p:txBody>
      </p:sp>
      <p:sp>
        <p:nvSpPr>
          <p:cNvPr id="14" name="TextBox 13"/>
          <p:cNvSpPr txBox="1"/>
          <p:nvPr/>
        </p:nvSpPr>
        <p:spPr>
          <a:xfrm>
            <a:off x="1097280" y="3410712"/>
            <a:ext cx="914400" cy="548640"/>
          </a:xfrm>
          <a:prstGeom prst="rect">
            <a:avLst/>
          </a:prstGeom>
          <a:noFill/>
        </p:spPr>
        <p:txBody>
          <a:bodyPr wrap="square" lIns="27432" rIns="27432" tIns="18288" bIns="18288">
            <a:spAutoFit/>
          </a:bodyPr>
          <a:lstStyle/>
          <a:p>
            <a:pPr>
              <a:spcAft>
                <a:spcPts val="1200"/>
              </a:spcAft>
              <a:defRPr sz="2900" b="1">
                <a:solidFill>
                  <a:srgbClr val="111511"/>
                </a:solidFill>
                <a:latin typeface="Aptos"/>
              </a:defRPr>
            </a:pPr>
            <a:r>
              <a:t>L2</a:t>
            </a:r>
          </a:p>
        </p:txBody>
      </p:sp>
      <p:sp>
        <p:nvSpPr>
          <p:cNvPr id="15" name="Rectangle 14"/>
          <p:cNvSpPr/>
          <p:nvPr/>
        </p:nvSpPr>
        <p:spPr>
          <a:xfrm>
            <a:off x="2286000" y="3483864"/>
            <a:ext cx="10789920" cy="50292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286000" y="3483864"/>
            <a:ext cx="10466222" cy="502920"/>
          </a:xfrm>
          <a:prstGeom prst="rect">
            <a:avLst/>
          </a:prstGeom>
          <a:solidFill>
            <a:srgbClr val="111511"/>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163962" y="3630168"/>
            <a:ext cx="801311" cy="82296"/>
          </a:xfrm>
          <a:prstGeom prst="rect">
            <a:avLst/>
          </a:prstGeom>
          <a:solidFill>
            <a:srgbClr val="CAD2B6"/>
          </a:solidFill>
          <a:ln w="25400">
            <a:solidFill>
              <a:srgbClr val="CAD2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350240" y="3410712"/>
            <a:ext cx="3657600" cy="640080"/>
          </a:xfrm>
          <a:prstGeom prst="rect">
            <a:avLst/>
          </a:prstGeom>
          <a:noFill/>
        </p:spPr>
        <p:txBody>
          <a:bodyPr wrap="square" lIns="27432" rIns="27432" tIns="18288" bIns="18288">
            <a:spAutoFit/>
          </a:bodyPr>
          <a:lstStyle/>
          <a:p>
            <a:pPr>
              <a:spcAft>
                <a:spcPts val="1200"/>
              </a:spcAft>
              <a:defRPr sz="2800" b="0">
                <a:solidFill>
                  <a:srgbClr val="111511"/>
                </a:solidFill>
                <a:latin typeface="Aptos"/>
              </a:defRPr>
            </a:pPr>
            <a:r>
              <a:t>97%  [91.5–99.0]</a:t>
            </a:r>
          </a:p>
        </p:txBody>
      </p:sp>
      <p:sp>
        <p:nvSpPr>
          <p:cNvPr id="19" name="TextBox 18"/>
          <p:cNvSpPr txBox="1"/>
          <p:nvPr/>
        </p:nvSpPr>
        <p:spPr>
          <a:xfrm>
            <a:off x="1097280" y="4443983"/>
            <a:ext cx="914400" cy="548640"/>
          </a:xfrm>
          <a:prstGeom prst="rect">
            <a:avLst/>
          </a:prstGeom>
          <a:noFill/>
        </p:spPr>
        <p:txBody>
          <a:bodyPr wrap="square" lIns="27432" rIns="27432" tIns="18288" bIns="18288">
            <a:spAutoFit/>
          </a:bodyPr>
          <a:lstStyle/>
          <a:p>
            <a:pPr>
              <a:spcAft>
                <a:spcPts val="1200"/>
              </a:spcAft>
              <a:defRPr sz="2900" b="1">
                <a:solidFill>
                  <a:srgbClr val="111511"/>
                </a:solidFill>
                <a:latin typeface="Aptos"/>
              </a:defRPr>
            </a:pPr>
            <a:r>
              <a:t>L3</a:t>
            </a:r>
          </a:p>
        </p:txBody>
      </p:sp>
      <p:sp>
        <p:nvSpPr>
          <p:cNvPr id="20" name="Rectangle 19"/>
          <p:cNvSpPr/>
          <p:nvPr/>
        </p:nvSpPr>
        <p:spPr>
          <a:xfrm>
            <a:off x="2286000" y="4517136"/>
            <a:ext cx="10789920" cy="50292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86000" y="4517136"/>
            <a:ext cx="10034625" cy="502920"/>
          </a:xfrm>
          <a:prstGeom prst="rect">
            <a:avLst/>
          </a:prstGeom>
          <a:solidFill>
            <a:srgbClr val="111511"/>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1592358" y="4663440"/>
            <a:ext cx="1113259" cy="82296"/>
          </a:xfrm>
          <a:prstGeom prst="rect">
            <a:avLst/>
          </a:prstGeom>
          <a:solidFill>
            <a:srgbClr val="CAD2B6"/>
          </a:solidFill>
          <a:ln w="25400">
            <a:solidFill>
              <a:srgbClr val="CAD2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350240" y="4443983"/>
            <a:ext cx="3657600" cy="640080"/>
          </a:xfrm>
          <a:prstGeom prst="rect">
            <a:avLst/>
          </a:prstGeom>
          <a:noFill/>
        </p:spPr>
        <p:txBody>
          <a:bodyPr wrap="square" lIns="27432" rIns="27432" tIns="18288" bIns="18288">
            <a:spAutoFit/>
          </a:bodyPr>
          <a:lstStyle/>
          <a:p>
            <a:pPr>
              <a:spcAft>
                <a:spcPts val="1200"/>
              </a:spcAft>
              <a:defRPr sz="2800" b="0">
                <a:solidFill>
                  <a:srgbClr val="111511"/>
                </a:solidFill>
                <a:latin typeface="Aptos"/>
              </a:defRPr>
            </a:pPr>
            <a:r>
              <a:t>93%  [86.3–96.6]</a:t>
            </a:r>
          </a:p>
        </p:txBody>
      </p:sp>
      <p:sp>
        <p:nvSpPr>
          <p:cNvPr id="24" name="TextBox 23"/>
          <p:cNvSpPr txBox="1"/>
          <p:nvPr/>
        </p:nvSpPr>
        <p:spPr>
          <a:xfrm>
            <a:off x="1097280" y="5477256"/>
            <a:ext cx="914400" cy="548640"/>
          </a:xfrm>
          <a:prstGeom prst="rect">
            <a:avLst/>
          </a:prstGeom>
          <a:noFill/>
        </p:spPr>
        <p:txBody>
          <a:bodyPr wrap="square" lIns="27432" rIns="27432" tIns="18288" bIns="18288">
            <a:spAutoFit/>
          </a:bodyPr>
          <a:lstStyle/>
          <a:p>
            <a:pPr>
              <a:spcAft>
                <a:spcPts val="1200"/>
              </a:spcAft>
              <a:defRPr sz="2900" b="1">
                <a:solidFill>
                  <a:srgbClr val="111511"/>
                </a:solidFill>
                <a:latin typeface="Aptos"/>
              </a:defRPr>
            </a:pPr>
            <a:r>
              <a:t>L5</a:t>
            </a:r>
          </a:p>
        </p:txBody>
      </p:sp>
      <p:sp>
        <p:nvSpPr>
          <p:cNvPr id="25" name="Rectangle 24"/>
          <p:cNvSpPr/>
          <p:nvPr/>
        </p:nvSpPr>
        <p:spPr>
          <a:xfrm>
            <a:off x="2286000" y="5550408"/>
            <a:ext cx="10789920" cy="50292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286000" y="5550408"/>
            <a:ext cx="7984540" cy="502920"/>
          </a:xfrm>
          <a:prstGeom prst="rect">
            <a:avLst/>
          </a:prstGeom>
          <a:solidFill>
            <a:srgbClr val="111511"/>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259418" y="5696712"/>
            <a:ext cx="1830649" cy="82296"/>
          </a:xfrm>
          <a:prstGeom prst="rect">
            <a:avLst/>
          </a:prstGeom>
          <a:solidFill>
            <a:srgbClr val="CAD2B6"/>
          </a:solidFill>
          <a:ln w="25400">
            <a:solidFill>
              <a:srgbClr val="CAD2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3350240" y="5477256"/>
            <a:ext cx="3657600" cy="640080"/>
          </a:xfrm>
          <a:prstGeom prst="rect">
            <a:avLst/>
          </a:prstGeom>
          <a:noFill/>
        </p:spPr>
        <p:txBody>
          <a:bodyPr wrap="square" lIns="27432" rIns="27432" tIns="18288" bIns="18288">
            <a:spAutoFit/>
          </a:bodyPr>
          <a:lstStyle/>
          <a:p>
            <a:pPr>
              <a:spcAft>
                <a:spcPts val="1200"/>
              </a:spcAft>
              <a:defRPr sz="2800" b="0">
                <a:solidFill>
                  <a:srgbClr val="111511"/>
                </a:solidFill>
                <a:latin typeface="Aptos"/>
              </a:defRPr>
            </a:pPr>
            <a:r>
              <a:t>74%  [64.6–81.6]</a:t>
            </a:r>
          </a:p>
        </p:txBody>
      </p:sp>
      <p:sp>
        <p:nvSpPr>
          <p:cNvPr id="29" name="TextBox 28"/>
          <p:cNvSpPr txBox="1"/>
          <p:nvPr/>
        </p:nvSpPr>
        <p:spPr>
          <a:xfrm>
            <a:off x="1097280" y="6510527"/>
            <a:ext cx="914400" cy="548640"/>
          </a:xfrm>
          <a:prstGeom prst="rect">
            <a:avLst/>
          </a:prstGeom>
          <a:noFill/>
        </p:spPr>
        <p:txBody>
          <a:bodyPr wrap="square" lIns="27432" rIns="27432" tIns="18288" bIns="18288">
            <a:spAutoFit/>
          </a:bodyPr>
          <a:lstStyle/>
          <a:p>
            <a:pPr>
              <a:spcAft>
                <a:spcPts val="1200"/>
              </a:spcAft>
              <a:defRPr sz="2900" b="1">
                <a:solidFill>
                  <a:srgbClr val="111511"/>
                </a:solidFill>
                <a:latin typeface="Aptos"/>
              </a:defRPr>
            </a:pPr>
            <a:r>
              <a:t>L6</a:t>
            </a:r>
          </a:p>
        </p:txBody>
      </p:sp>
      <p:sp>
        <p:nvSpPr>
          <p:cNvPr id="30" name="Rectangle 29"/>
          <p:cNvSpPr/>
          <p:nvPr/>
        </p:nvSpPr>
        <p:spPr>
          <a:xfrm>
            <a:off x="2286000" y="6583679"/>
            <a:ext cx="10789920" cy="50292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286000" y="6583679"/>
            <a:ext cx="5826556" cy="502920"/>
          </a:xfrm>
          <a:prstGeom prst="rect">
            <a:avLst/>
          </a:prstGeom>
          <a:solidFill>
            <a:srgbClr val="111511"/>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062143" y="6729983"/>
            <a:ext cx="2068895" cy="82296"/>
          </a:xfrm>
          <a:prstGeom prst="rect">
            <a:avLst/>
          </a:prstGeom>
          <a:solidFill>
            <a:srgbClr val="CAD2B6"/>
          </a:solidFill>
          <a:ln w="25400">
            <a:solidFill>
              <a:srgbClr val="CAD2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3350240" y="6510527"/>
            <a:ext cx="3657600" cy="640080"/>
          </a:xfrm>
          <a:prstGeom prst="rect">
            <a:avLst/>
          </a:prstGeom>
          <a:noFill/>
        </p:spPr>
        <p:txBody>
          <a:bodyPr wrap="square" lIns="27432" rIns="27432" tIns="18288" bIns="18288">
            <a:spAutoFit/>
          </a:bodyPr>
          <a:lstStyle/>
          <a:p>
            <a:pPr>
              <a:spcAft>
                <a:spcPts val="1200"/>
              </a:spcAft>
              <a:defRPr sz="2800" b="0">
                <a:solidFill>
                  <a:srgbClr val="111511"/>
                </a:solidFill>
                <a:latin typeface="Aptos"/>
              </a:defRPr>
            </a:pPr>
            <a:r>
              <a:t>54%  [44.3–63.4]</a:t>
            </a:r>
          </a:p>
        </p:txBody>
      </p:sp>
      <p:sp>
        <p:nvSpPr>
          <p:cNvPr id="34" name="TextBox 33"/>
          <p:cNvSpPr txBox="1"/>
          <p:nvPr/>
        </p:nvSpPr>
        <p:spPr>
          <a:xfrm>
            <a:off x="1143000" y="7863840"/>
            <a:ext cx="15910559" cy="548640"/>
          </a:xfrm>
          <a:prstGeom prst="rect">
            <a:avLst/>
          </a:prstGeom>
          <a:noFill/>
        </p:spPr>
        <p:txBody>
          <a:bodyPr wrap="square" lIns="27432" rIns="27432" tIns="18288" bIns="18288">
            <a:spAutoFit/>
          </a:bodyPr>
          <a:lstStyle/>
          <a:p>
            <a:pPr>
              <a:spcAft>
                <a:spcPts val="1200"/>
              </a:spcAft>
              <a:defRPr sz="3000" b="1">
                <a:solidFill>
                  <a:srgbClr val="111511"/>
                </a:solidFill>
                <a:latin typeface="Aptos"/>
              </a:defRPr>
            </a:pPr>
            <a:r>
              <a:t>Strong transfer on smaller levels; less reliable on L5 and L6.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788B73"/>
        </a:solidFill>
      </p:bgPr>
    </p:bg>
    <p:spTree>
      <p:nvGrpSpPr>
        <p:cNvPr id="1" name=""/>
        <p:cNvGrpSpPr/>
        <p:nvPr/>
      </p:nvGrpSpPr>
      <p:grpSpPr/>
      <p:grpSp>
        <p:nvGrpSpPr>
          <p:cNvPr name="Group 2" id="2"/>
          <p:cNvGrpSpPr/>
          <p:nvPr/>
        </p:nvGrpSpPr>
        <p:grpSpPr>
          <a:xfrm rot="0">
            <a:off x="626868" y="576026"/>
            <a:ext cx="17034264" cy="9134947"/>
            <a:chOff x="0" y="0"/>
            <a:chExt cx="4486390" cy="2405912"/>
          </a:xfrm>
        </p:grpSpPr>
        <p:sp>
          <p:nvSpPr>
            <p:cNvPr name="Freeform 3" id="3"/>
            <p:cNvSpPr/>
            <p:nvPr/>
          </p:nvSpPr>
          <p:spPr>
            <a:xfrm flipH="false" flipV="false" rot="0">
              <a:off x="0" y="0"/>
              <a:ext cx="4486390" cy="2405912"/>
            </a:xfrm>
            <a:custGeom>
              <a:avLst/>
              <a:gdLst/>
              <a:ahLst/>
              <a:cxnLst/>
              <a:rect r="r" b="b" t="t" l="l"/>
              <a:pathLst>
                <a:path h="2405912" w="4486390">
                  <a:moveTo>
                    <a:pt x="0" y="0"/>
                  </a:moveTo>
                  <a:lnTo>
                    <a:pt x="4486390" y="0"/>
                  </a:lnTo>
                  <a:lnTo>
                    <a:pt x="4486390" y="2405912"/>
                  </a:lnTo>
                  <a:lnTo>
                    <a:pt x="0" y="2405912"/>
                  </a:lnTo>
                  <a:close/>
                </a:path>
              </a:pathLst>
            </a:custGeom>
            <a:ln w="85725" cap="sq">
              <a:solidFill>
                <a:srgbClr val="000000"/>
              </a:solidFill>
              <a:prstDash val="solid"/>
              <a:miter/>
            </a:ln>
          </p:spPr>
        </p:sp>
        <p:sp>
          <p:nvSpPr>
            <p:cNvPr name="TextBox 4" id="4"/>
            <p:cNvSpPr txBox="true"/>
            <p:nvPr/>
          </p:nvSpPr>
          <p:spPr>
            <a:xfrm>
              <a:off x="0" y="-38100"/>
              <a:ext cx="4486390" cy="2444012"/>
            </a:xfrm>
            <a:prstGeom prst="rect">
              <a:avLst/>
            </a:prstGeom>
          </p:spPr>
          <p:txBody>
            <a:bodyPr anchor="ctr" rtlCol="false" tIns="50800" lIns="50800" bIns="50800" rIns="50800"/>
            <a:lstStyle/>
            <a:p>
              <a:pPr algn="ctr">
                <a:lnSpc>
                  <a:spcPts val="2659"/>
                </a:lnSpc>
              </a:pPr>
            </a:p>
          </p:txBody>
        </p:sp>
      </p:grpSp>
      <p:sp>
        <p:nvSpPr>
          <p:cNvPr id="5" name="TextBox 4"/>
          <p:cNvSpPr txBox="1"/>
          <p:nvPr/>
        </p:nvSpPr>
        <p:spPr>
          <a:xfrm>
            <a:off x="960120" y="914400"/>
            <a:ext cx="16276320" cy="731520"/>
          </a:xfrm>
          <a:prstGeom prst="rect">
            <a:avLst/>
          </a:prstGeom>
          <a:noFill/>
        </p:spPr>
        <p:txBody>
          <a:bodyPr wrap="square" lIns="27432" rIns="27432" tIns="18288" bIns="18288">
            <a:spAutoFit/>
          </a:bodyPr>
          <a:lstStyle/>
          <a:p>
            <a:pPr>
              <a:spcAft>
                <a:spcPts val="1200"/>
              </a:spcAft>
              <a:defRPr sz="4300" b="0">
                <a:solidFill>
                  <a:srgbClr val="111511"/>
                </a:solidFill>
                <a:latin typeface="Pixellance"/>
              </a:defRPr>
            </a:pPr>
            <a:r>
              <a:t>SCORE DISTRIBUTIONS REVEAL INSTABILITY</a:t>
            </a:r>
          </a:p>
        </p:txBody>
      </p:sp>
      <p:sp>
        <p:nvSpPr>
          <p:cNvPr id="6" name="TextBox 5"/>
          <p:cNvSpPr txBox="1"/>
          <p:nvPr/>
        </p:nvSpPr>
        <p:spPr>
          <a:xfrm>
            <a:off x="1005840" y="9098280"/>
            <a:ext cx="11887200" cy="320040"/>
          </a:xfrm>
          <a:prstGeom prst="rect">
            <a:avLst/>
          </a:prstGeom>
          <a:noFill/>
        </p:spPr>
        <p:txBody>
          <a:bodyPr wrap="square" lIns="27432" rIns="27432" tIns="18288" bIns="18288">
            <a:spAutoFit/>
          </a:bodyPr>
          <a:lstStyle/>
          <a:p>
            <a:pPr>
              <a:spcAft>
                <a:spcPts val="1200"/>
              </a:spcAft>
              <a:defRPr sz="1500" b="0">
                <a:solidFill>
                  <a:srgbClr val="111511"/>
                </a:solidFill>
                <a:latin typeface="Aptos"/>
              </a:defRPr>
            </a:pPr>
            <a:r>
              <a:t>SNAKE / DUELING DOUBLE DQN</a:t>
            </a:r>
          </a:p>
        </p:txBody>
      </p:sp>
      <p:sp>
        <p:nvSpPr>
          <p:cNvPr id="7" name="TextBox 6"/>
          <p:cNvSpPr txBox="1"/>
          <p:nvPr/>
        </p:nvSpPr>
        <p:spPr>
          <a:xfrm>
            <a:off x="16184880" y="9052560"/>
            <a:ext cx="914400" cy="365760"/>
          </a:xfrm>
          <a:prstGeom prst="rect">
            <a:avLst/>
          </a:prstGeom>
          <a:noFill/>
        </p:spPr>
        <p:txBody>
          <a:bodyPr wrap="square" lIns="27432" rIns="27432" tIns="18288" bIns="18288">
            <a:spAutoFit/>
          </a:bodyPr>
          <a:lstStyle/>
          <a:p>
            <a:pPr algn="r">
              <a:spcAft>
                <a:spcPts val="1200"/>
              </a:spcAft>
              <a:defRPr sz="1800" b="0">
                <a:solidFill>
                  <a:srgbClr val="111511"/>
                </a:solidFill>
                <a:latin typeface="Aptos"/>
              </a:defRPr>
            </a:pPr>
            <a:r>
              <a:t>12</a:t>
            </a:r>
          </a:p>
        </p:txBody>
      </p:sp>
      <p:sp>
        <p:nvSpPr>
          <p:cNvPr id="8" name="TextBox 7"/>
          <p:cNvSpPr txBox="1"/>
          <p:nvPr/>
        </p:nvSpPr>
        <p:spPr>
          <a:xfrm>
            <a:off x="1005840" y="8595360"/>
            <a:ext cx="16093440" cy="365760"/>
          </a:xfrm>
          <a:prstGeom prst="rect">
            <a:avLst/>
          </a:prstGeom>
          <a:noFill/>
        </p:spPr>
        <p:txBody>
          <a:bodyPr wrap="square" lIns="27432" rIns="27432" tIns="18288" bIns="18288">
            <a:spAutoFit/>
          </a:bodyPr>
          <a:lstStyle/>
          <a:p>
            <a:pPr>
              <a:spcAft>
                <a:spcPts val="1200"/>
              </a:spcAft>
              <a:defRPr sz="1500" b="0">
                <a:solidFill>
                  <a:srgbClr val="111511"/>
                </a:solidFill>
                <a:latin typeface="Aptos"/>
              </a:defRPr>
            </a:pPr>
            <a:r>
              <a:t>Source: project implementation and latex/main.tex</a:t>
            </a:r>
          </a:p>
        </p:txBody>
      </p:sp>
      <p:pic>
        <p:nvPicPr>
          <p:cNvPr id="9" name="Picture 8" descr="score_distributions.png"/>
          <p:cNvPicPr>
            <a:picLocks noChangeAspect="1"/>
          </p:cNvPicPr>
          <p:nvPr/>
        </p:nvPicPr>
        <p:blipFill>
          <a:blip r:embed="rId3"/>
          <a:stretch>
            <a:fillRect/>
          </a:stretch>
        </p:blipFill>
        <p:spPr>
          <a:xfrm>
            <a:off x="1097280" y="2103120"/>
            <a:ext cx="11470157" cy="5577840"/>
          </a:xfrm>
          <a:prstGeom prst="rect">
            <a:avLst/>
          </a:prstGeom>
        </p:spPr>
      </p:pic>
      <p:sp>
        <p:nvSpPr>
          <p:cNvPr id="10" name="TextBox 9"/>
          <p:cNvSpPr txBox="1"/>
          <p:nvPr/>
        </p:nvSpPr>
        <p:spPr>
          <a:xfrm>
            <a:off x="13807440" y="2560320"/>
            <a:ext cx="3108960" cy="640080"/>
          </a:xfrm>
          <a:prstGeom prst="rect">
            <a:avLst/>
          </a:prstGeom>
          <a:noFill/>
        </p:spPr>
        <p:txBody>
          <a:bodyPr wrap="square" lIns="27432" rIns="27432" tIns="18288" bIns="18288">
            <a:spAutoFit/>
          </a:bodyPr>
          <a:lstStyle/>
          <a:p>
            <a:pPr>
              <a:spcAft>
                <a:spcPts val="1200"/>
              </a:spcAft>
              <a:defRPr sz="3600" b="0">
                <a:solidFill>
                  <a:srgbClr val="111511"/>
                </a:solidFill>
                <a:latin typeface="Pixellance"/>
              </a:defRPr>
            </a:pPr>
            <a:r>
              <a:t>LEVEL 6</a:t>
            </a:r>
          </a:p>
        </p:txBody>
      </p:sp>
      <p:sp>
        <p:nvSpPr>
          <p:cNvPr id="11" name="TextBox 10"/>
          <p:cNvSpPr txBox="1"/>
          <p:nvPr/>
        </p:nvSpPr>
        <p:spPr>
          <a:xfrm>
            <a:off x="13807440" y="3657600"/>
            <a:ext cx="3108960" cy="2286000"/>
          </a:xfrm>
          <a:prstGeom prst="rect">
            <a:avLst/>
          </a:prstGeom>
          <a:noFill/>
        </p:spPr>
        <p:txBody>
          <a:bodyPr wrap="square" lIns="27432" rIns="27432" tIns="18288" bIns="18288">
            <a:spAutoFit/>
          </a:bodyPr>
          <a:lstStyle/>
          <a:p>
            <a:pPr>
              <a:spcAft>
                <a:spcPts val="1200"/>
              </a:spcAft>
              <a:defRPr sz="3000" b="0">
                <a:solidFill>
                  <a:srgbClr val="111511"/>
                </a:solidFill>
                <a:latin typeface="Aptos"/>
              </a:defRPr>
            </a:pPr>
            <a:r>
              <a:t>Median: 150</a:t>
            </a:r>
          </a:p>
          <a:p>
            <a:pPr>
              <a:spcAft>
                <a:spcPts val="1200"/>
              </a:spcAft>
              <a:defRPr sz="3000" b="0">
                <a:solidFill>
                  <a:srgbClr val="111511"/>
                </a:solidFill>
                <a:latin typeface="Aptos"/>
              </a:defRPr>
            </a:pPr>
            <a:r>
              <a:t>P25: 1</a:t>
            </a:r>
          </a:p>
          <a:p>
            <a:pPr>
              <a:spcAft>
                <a:spcPts val="1200"/>
              </a:spcAft>
              <a:defRPr sz="3000" b="0">
                <a:solidFill>
                  <a:srgbClr val="111511"/>
                </a:solidFill>
                <a:latin typeface="Aptos"/>
              </a:defRPr>
            </a:pPr>
            <a:r>
              <a:t>P75: 150</a:t>
            </a:r>
          </a:p>
        </p:txBody>
      </p:sp>
      <p:sp>
        <p:nvSpPr>
          <p:cNvPr id="12" name="TextBox 11"/>
          <p:cNvSpPr txBox="1"/>
          <p:nvPr/>
        </p:nvSpPr>
        <p:spPr>
          <a:xfrm>
            <a:off x="1188720" y="7863840"/>
            <a:ext cx="15910559" cy="548640"/>
          </a:xfrm>
          <a:prstGeom prst="rect">
            <a:avLst/>
          </a:prstGeom>
          <a:noFill/>
        </p:spPr>
        <p:txBody>
          <a:bodyPr wrap="square" lIns="27432" rIns="27432" tIns="18288" bIns="18288">
            <a:spAutoFit/>
          </a:bodyPr>
          <a:lstStyle/>
          <a:p>
            <a:pPr>
              <a:spcAft>
                <a:spcPts val="1200"/>
              </a:spcAft>
              <a:defRPr sz="3000" b="1">
                <a:solidFill>
                  <a:srgbClr val="111511"/>
                </a:solidFill>
                <a:latin typeface="Aptos"/>
              </a:defRPr>
            </a:pPr>
            <a:r>
              <a:t>L4 mean ± SD: 144.49 ± 27.28 | no target cap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788B73"/>
        </a:solidFill>
      </p:bgPr>
    </p:bg>
    <p:spTree>
      <p:nvGrpSpPr>
        <p:cNvPr id="1" name=""/>
        <p:cNvGrpSpPr/>
        <p:nvPr/>
      </p:nvGrpSpPr>
      <p:grpSpPr/>
      <p:grpSp>
        <p:nvGrpSpPr>
          <p:cNvPr name="Group 2" id="2"/>
          <p:cNvGrpSpPr/>
          <p:nvPr/>
        </p:nvGrpSpPr>
        <p:grpSpPr>
          <a:xfrm rot="0">
            <a:off x="626868" y="576026"/>
            <a:ext cx="17034264" cy="9134947"/>
            <a:chOff x="0" y="0"/>
            <a:chExt cx="4486390" cy="2405912"/>
          </a:xfrm>
        </p:grpSpPr>
        <p:sp>
          <p:nvSpPr>
            <p:cNvPr name="Freeform 3" id="3"/>
            <p:cNvSpPr/>
            <p:nvPr/>
          </p:nvSpPr>
          <p:spPr>
            <a:xfrm flipH="false" flipV="false" rot="0">
              <a:off x="0" y="0"/>
              <a:ext cx="4486390" cy="2405912"/>
            </a:xfrm>
            <a:custGeom>
              <a:avLst/>
              <a:gdLst/>
              <a:ahLst/>
              <a:cxnLst/>
              <a:rect r="r" b="b" t="t" l="l"/>
              <a:pathLst>
                <a:path h="2405912" w="4486390">
                  <a:moveTo>
                    <a:pt x="0" y="0"/>
                  </a:moveTo>
                  <a:lnTo>
                    <a:pt x="4486390" y="0"/>
                  </a:lnTo>
                  <a:lnTo>
                    <a:pt x="4486390" y="2405912"/>
                  </a:lnTo>
                  <a:lnTo>
                    <a:pt x="0" y="2405912"/>
                  </a:lnTo>
                  <a:close/>
                </a:path>
              </a:pathLst>
            </a:custGeom>
            <a:ln w="85725" cap="sq">
              <a:solidFill>
                <a:srgbClr val="000000"/>
              </a:solidFill>
              <a:prstDash val="solid"/>
              <a:miter/>
            </a:ln>
          </p:spPr>
        </p:sp>
        <p:sp>
          <p:nvSpPr>
            <p:cNvPr name="TextBox 4" id="4"/>
            <p:cNvSpPr txBox="true"/>
            <p:nvPr/>
          </p:nvSpPr>
          <p:spPr>
            <a:xfrm>
              <a:off x="0" y="-38100"/>
              <a:ext cx="4486390" cy="2444012"/>
            </a:xfrm>
            <a:prstGeom prst="rect">
              <a:avLst/>
            </a:prstGeom>
          </p:spPr>
          <p:txBody>
            <a:bodyPr anchor="ctr" rtlCol="false" tIns="50800" lIns="50800" bIns="50800" rIns="50800"/>
            <a:lstStyle/>
            <a:p>
              <a:pPr algn="ctr">
                <a:lnSpc>
                  <a:spcPts val="2659"/>
                </a:lnSpc>
              </a:pPr>
            </a:p>
          </p:txBody>
        </p:sp>
      </p:grpSp>
      <p:sp>
        <p:nvSpPr>
          <p:cNvPr id="5" name="TextBox 4"/>
          <p:cNvSpPr txBox="1"/>
          <p:nvPr/>
        </p:nvSpPr>
        <p:spPr>
          <a:xfrm>
            <a:off x="960120" y="914400"/>
            <a:ext cx="16276320" cy="731520"/>
          </a:xfrm>
          <a:prstGeom prst="rect">
            <a:avLst/>
          </a:prstGeom>
          <a:noFill/>
        </p:spPr>
        <p:txBody>
          <a:bodyPr wrap="square" lIns="27432" rIns="27432" tIns="18288" bIns="18288">
            <a:spAutoFit/>
          </a:bodyPr>
          <a:lstStyle/>
          <a:p>
            <a:pPr>
              <a:spcAft>
                <a:spcPts val="1200"/>
              </a:spcAft>
              <a:defRPr sz="4300" b="0">
                <a:solidFill>
                  <a:srgbClr val="111511"/>
                </a:solidFill>
                <a:latin typeface="Pixellance"/>
              </a:defRPr>
            </a:pPr>
            <a:r>
              <a:t>CHECKPOINT CHOICE CHANGES TRANSFER</a:t>
            </a:r>
          </a:p>
        </p:txBody>
      </p:sp>
      <p:sp>
        <p:nvSpPr>
          <p:cNvPr id="6" name="TextBox 5"/>
          <p:cNvSpPr txBox="1"/>
          <p:nvPr/>
        </p:nvSpPr>
        <p:spPr>
          <a:xfrm>
            <a:off x="1005840" y="9098280"/>
            <a:ext cx="11887200" cy="320040"/>
          </a:xfrm>
          <a:prstGeom prst="rect">
            <a:avLst/>
          </a:prstGeom>
          <a:noFill/>
        </p:spPr>
        <p:txBody>
          <a:bodyPr wrap="square" lIns="27432" rIns="27432" tIns="18288" bIns="18288">
            <a:spAutoFit/>
          </a:bodyPr>
          <a:lstStyle/>
          <a:p>
            <a:pPr>
              <a:spcAft>
                <a:spcPts val="1200"/>
              </a:spcAft>
              <a:defRPr sz="1500" b="0">
                <a:solidFill>
                  <a:srgbClr val="111511"/>
                </a:solidFill>
                <a:latin typeface="Aptos"/>
              </a:defRPr>
            </a:pPr>
            <a:r>
              <a:t>SNAKE / DUELING DOUBLE DQN</a:t>
            </a:r>
          </a:p>
        </p:txBody>
      </p:sp>
      <p:sp>
        <p:nvSpPr>
          <p:cNvPr id="7" name="TextBox 6"/>
          <p:cNvSpPr txBox="1"/>
          <p:nvPr/>
        </p:nvSpPr>
        <p:spPr>
          <a:xfrm>
            <a:off x="16184880" y="9052560"/>
            <a:ext cx="914400" cy="365760"/>
          </a:xfrm>
          <a:prstGeom prst="rect">
            <a:avLst/>
          </a:prstGeom>
          <a:noFill/>
        </p:spPr>
        <p:txBody>
          <a:bodyPr wrap="square" lIns="27432" rIns="27432" tIns="18288" bIns="18288">
            <a:spAutoFit/>
          </a:bodyPr>
          <a:lstStyle/>
          <a:p>
            <a:pPr algn="r">
              <a:spcAft>
                <a:spcPts val="1200"/>
              </a:spcAft>
              <a:defRPr sz="1800" b="0">
                <a:solidFill>
                  <a:srgbClr val="111511"/>
                </a:solidFill>
                <a:latin typeface="Aptos"/>
              </a:defRPr>
            </a:pPr>
            <a:r>
              <a:t>13</a:t>
            </a:r>
          </a:p>
        </p:txBody>
      </p:sp>
      <p:sp>
        <p:nvSpPr>
          <p:cNvPr id="8" name="TextBox 7"/>
          <p:cNvSpPr txBox="1"/>
          <p:nvPr/>
        </p:nvSpPr>
        <p:spPr>
          <a:xfrm>
            <a:off x="1005840" y="8595360"/>
            <a:ext cx="16093440" cy="365760"/>
          </a:xfrm>
          <a:prstGeom prst="rect">
            <a:avLst/>
          </a:prstGeom>
          <a:noFill/>
        </p:spPr>
        <p:txBody>
          <a:bodyPr wrap="square" lIns="27432" rIns="27432" tIns="18288" bIns="18288">
            <a:spAutoFit/>
          </a:bodyPr>
          <a:lstStyle/>
          <a:p>
            <a:pPr>
              <a:spcAft>
                <a:spcPts val="1200"/>
              </a:spcAft>
              <a:defRPr sz="1500" b="0">
                <a:solidFill>
                  <a:srgbClr val="111511"/>
                </a:solidFill>
                <a:latin typeface="Aptos"/>
              </a:defRPr>
            </a:pPr>
            <a:r>
              <a:t>Source: project implementation and latex/main.tex</a:t>
            </a:r>
          </a:p>
        </p:txBody>
      </p:sp>
      <p:sp>
        <p:nvSpPr>
          <p:cNvPr id="9" name="Rectangle 8"/>
          <p:cNvSpPr/>
          <p:nvPr/>
        </p:nvSpPr>
        <p:spPr>
          <a:xfrm>
            <a:off x="1051560" y="2240280"/>
            <a:ext cx="7315200" cy="822960"/>
          </a:xfrm>
          <a:prstGeom prst="rect">
            <a:avLst/>
          </a:prstGeom>
          <a:solidFill>
            <a:srgbClr val="111511"/>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61288" y="2350008"/>
            <a:ext cx="7095744" cy="658368"/>
          </a:xfrm>
          <a:prstGeom prst="rect">
            <a:avLst/>
          </a:prstGeom>
          <a:noFill/>
        </p:spPr>
        <p:txBody>
          <a:bodyPr wrap="square" lIns="27432" rIns="27432" tIns="18288" bIns="18288">
            <a:spAutoFit/>
          </a:bodyPr>
          <a:lstStyle/>
          <a:p>
            <a:pPr>
              <a:spcAft>
                <a:spcPts val="1200"/>
              </a:spcAft>
              <a:defRPr sz="2600" b="1">
                <a:solidFill>
                  <a:srgbClr val="F4F6F0"/>
                </a:solidFill>
                <a:latin typeface="Aptos"/>
              </a:defRPr>
            </a:pPr>
            <a:r>
              <a:t>Metric</a:t>
            </a:r>
          </a:p>
        </p:txBody>
      </p:sp>
      <p:sp>
        <p:nvSpPr>
          <p:cNvPr id="11" name="Rectangle 10"/>
          <p:cNvSpPr/>
          <p:nvPr/>
        </p:nvSpPr>
        <p:spPr>
          <a:xfrm>
            <a:off x="8366760" y="2240280"/>
            <a:ext cx="4389120" cy="822960"/>
          </a:xfrm>
          <a:prstGeom prst="rect">
            <a:avLst/>
          </a:prstGeom>
          <a:solidFill>
            <a:srgbClr val="111511"/>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76488" y="2350008"/>
            <a:ext cx="4169663" cy="658368"/>
          </a:xfrm>
          <a:prstGeom prst="rect">
            <a:avLst/>
          </a:prstGeom>
          <a:noFill/>
        </p:spPr>
        <p:txBody>
          <a:bodyPr wrap="square" lIns="27432" rIns="27432" tIns="18288" bIns="18288">
            <a:spAutoFit/>
          </a:bodyPr>
          <a:lstStyle/>
          <a:p>
            <a:pPr>
              <a:spcAft>
                <a:spcPts val="1200"/>
              </a:spcAft>
              <a:defRPr sz="2600" b="1">
                <a:solidFill>
                  <a:srgbClr val="F4F6F0"/>
                </a:solidFill>
                <a:latin typeface="Aptos"/>
              </a:defRPr>
            </a:pPr>
            <a:r>
              <a:t>Selected DQN</a:t>
            </a:r>
          </a:p>
        </p:txBody>
      </p:sp>
      <p:sp>
        <p:nvSpPr>
          <p:cNvPr id="13" name="Rectangle 12"/>
          <p:cNvSpPr/>
          <p:nvPr/>
        </p:nvSpPr>
        <p:spPr>
          <a:xfrm>
            <a:off x="12755880" y="2240280"/>
            <a:ext cx="4389120" cy="822960"/>
          </a:xfrm>
          <a:prstGeom prst="rect">
            <a:avLst/>
          </a:prstGeom>
          <a:solidFill>
            <a:srgbClr val="111511"/>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865607" y="2350008"/>
            <a:ext cx="4169663" cy="658368"/>
          </a:xfrm>
          <a:prstGeom prst="rect">
            <a:avLst/>
          </a:prstGeom>
          <a:noFill/>
        </p:spPr>
        <p:txBody>
          <a:bodyPr wrap="square" lIns="27432" rIns="27432" tIns="18288" bIns="18288">
            <a:spAutoFit/>
          </a:bodyPr>
          <a:lstStyle/>
          <a:p>
            <a:pPr>
              <a:spcAft>
                <a:spcPts val="1200"/>
              </a:spcAft>
              <a:defRPr sz="2600" b="1">
                <a:solidFill>
                  <a:srgbClr val="F4F6F0"/>
                </a:solidFill>
                <a:latin typeface="Aptos"/>
              </a:defRPr>
            </a:pPr>
            <a:r>
              <a:t>Final DQN</a:t>
            </a:r>
          </a:p>
        </p:txBody>
      </p:sp>
      <p:sp>
        <p:nvSpPr>
          <p:cNvPr id="15" name="Rectangle 14"/>
          <p:cNvSpPr/>
          <p:nvPr/>
        </p:nvSpPr>
        <p:spPr>
          <a:xfrm>
            <a:off x="1051560" y="3063240"/>
            <a:ext cx="7315200" cy="82296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61288" y="3172968"/>
            <a:ext cx="7095744" cy="658368"/>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L4 mean score</a:t>
            </a:r>
          </a:p>
        </p:txBody>
      </p:sp>
      <p:sp>
        <p:nvSpPr>
          <p:cNvPr id="17" name="Rectangle 16"/>
          <p:cNvSpPr/>
          <p:nvPr/>
        </p:nvSpPr>
        <p:spPr>
          <a:xfrm>
            <a:off x="8366760" y="3063240"/>
            <a:ext cx="4389120" cy="82296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76488" y="3172968"/>
            <a:ext cx="4169663" cy="658368"/>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144.49</a:t>
            </a:r>
          </a:p>
        </p:txBody>
      </p:sp>
      <p:sp>
        <p:nvSpPr>
          <p:cNvPr id="19" name="Rectangle 18"/>
          <p:cNvSpPr/>
          <p:nvPr/>
        </p:nvSpPr>
        <p:spPr>
          <a:xfrm>
            <a:off x="12755880" y="3063240"/>
            <a:ext cx="4389120" cy="82296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865607" y="3172968"/>
            <a:ext cx="4169663" cy="658368"/>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153.83</a:t>
            </a:r>
          </a:p>
        </p:txBody>
      </p:sp>
      <p:sp>
        <p:nvSpPr>
          <p:cNvPr id="21" name="Rectangle 20"/>
          <p:cNvSpPr/>
          <p:nvPr/>
        </p:nvSpPr>
        <p:spPr>
          <a:xfrm>
            <a:off x="1051560" y="3886200"/>
            <a:ext cx="7315200" cy="82296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61288" y="3995928"/>
            <a:ext cx="7095744" cy="658368"/>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L2 success</a:t>
            </a:r>
          </a:p>
        </p:txBody>
      </p:sp>
      <p:sp>
        <p:nvSpPr>
          <p:cNvPr id="23" name="Rectangle 22"/>
          <p:cNvSpPr/>
          <p:nvPr/>
        </p:nvSpPr>
        <p:spPr>
          <a:xfrm>
            <a:off x="8366760" y="3886200"/>
            <a:ext cx="4389120" cy="82296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76488" y="3995928"/>
            <a:ext cx="4169663" cy="658368"/>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97%</a:t>
            </a:r>
          </a:p>
        </p:txBody>
      </p:sp>
      <p:sp>
        <p:nvSpPr>
          <p:cNvPr id="25" name="Rectangle 24"/>
          <p:cNvSpPr/>
          <p:nvPr/>
        </p:nvSpPr>
        <p:spPr>
          <a:xfrm>
            <a:off x="12755880" y="3886200"/>
            <a:ext cx="4389120" cy="82296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865607" y="3995928"/>
            <a:ext cx="4169663" cy="658368"/>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99%</a:t>
            </a:r>
          </a:p>
        </p:txBody>
      </p:sp>
      <p:sp>
        <p:nvSpPr>
          <p:cNvPr id="27" name="Rectangle 26"/>
          <p:cNvSpPr/>
          <p:nvPr/>
        </p:nvSpPr>
        <p:spPr>
          <a:xfrm>
            <a:off x="1051560" y="4709160"/>
            <a:ext cx="7315200" cy="82296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61288" y="4818888"/>
            <a:ext cx="7095744" cy="658368"/>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L3 success</a:t>
            </a:r>
          </a:p>
        </p:txBody>
      </p:sp>
      <p:sp>
        <p:nvSpPr>
          <p:cNvPr id="29" name="Rectangle 28"/>
          <p:cNvSpPr/>
          <p:nvPr/>
        </p:nvSpPr>
        <p:spPr>
          <a:xfrm>
            <a:off x="8366760" y="4709160"/>
            <a:ext cx="4389120" cy="82296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76488" y="4818888"/>
            <a:ext cx="4169663" cy="658368"/>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93%</a:t>
            </a:r>
          </a:p>
        </p:txBody>
      </p:sp>
      <p:sp>
        <p:nvSpPr>
          <p:cNvPr id="31" name="Rectangle 30"/>
          <p:cNvSpPr/>
          <p:nvPr/>
        </p:nvSpPr>
        <p:spPr>
          <a:xfrm>
            <a:off x="12755880" y="4709160"/>
            <a:ext cx="4389120" cy="82296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2865607" y="4818888"/>
            <a:ext cx="4169663" cy="658368"/>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83%</a:t>
            </a:r>
          </a:p>
        </p:txBody>
      </p:sp>
      <p:sp>
        <p:nvSpPr>
          <p:cNvPr id="33" name="Rectangle 32"/>
          <p:cNvSpPr/>
          <p:nvPr/>
        </p:nvSpPr>
        <p:spPr>
          <a:xfrm>
            <a:off x="1051560" y="5532120"/>
            <a:ext cx="7315200" cy="82296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61288" y="5641848"/>
            <a:ext cx="7095744" cy="658368"/>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L5 success</a:t>
            </a:r>
          </a:p>
        </p:txBody>
      </p:sp>
      <p:sp>
        <p:nvSpPr>
          <p:cNvPr id="35" name="Rectangle 34"/>
          <p:cNvSpPr/>
          <p:nvPr/>
        </p:nvSpPr>
        <p:spPr>
          <a:xfrm>
            <a:off x="8366760" y="5532120"/>
            <a:ext cx="4389120" cy="82296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76488" y="5641848"/>
            <a:ext cx="4169663" cy="658368"/>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74%</a:t>
            </a:r>
          </a:p>
        </p:txBody>
      </p:sp>
      <p:sp>
        <p:nvSpPr>
          <p:cNvPr id="37" name="Rectangle 36"/>
          <p:cNvSpPr/>
          <p:nvPr/>
        </p:nvSpPr>
        <p:spPr>
          <a:xfrm>
            <a:off x="12755880" y="5532120"/>
            <a:ext cx="4389120" cy="82296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2865607" y="5641848"/>
            <a:ext cx="4169663" cy="658368"/>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65%</a:t>
            </a:r>
          </a:p>
        </p:txBody>
      </p:sp>
      <p:sp>
        <p:nvSpPr>
          <p:cNvPr id="39" name="Rectangle 38"/>
          <p:cNvSpPr/>
          <p:nvPr/>
        </p:nvSpPr>
        <p:spPr>
          <a:xfrm>
            <a:off x="1051560" y="6355080"/>
            <a:ext cx="7315200" cy="82296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61288" y="6464808"/>
            <a:ext cx="7095744" cy="658368"/>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L6 success</a:t>
            </a:r>
          </a:p>
        </p:txBody>
      </p:sp>
      <p:sp>
        <p:nvSpPr>
          <p:cNvPr id="41" name="Rectangle 40"/>
          <p:cNvSpPr/>
          <p:nvPr/>
        </p:nvSpPr>
        <p:spPr>
          <a:xfrm>
            <a:off x="8366760" y="6355080"/>
            <a:ext cx="4389120" cy="82296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76488" y="6464808"/>
            <a:ext cx="4169663" cy="658368"/>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54%</a:t>
            </a:r>
          </a:p>
        </p:txBody>
      </p:sp>
      <p:sp>
        <p:nvSpPr>
          <p:cNvPr id="43" name="Rectangle 42"/>
          <p:cNvSpPr/>
          <p:nvPr/>
        </p:nvSpPr>
        <p:spPr>
          <a:xfrm>
            <a:off x="12755880" y="6355080"/>
            <a:ext cx="4389120" cy="82296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2865607" y="6464808"/>
            <a:ext cx="4169663" cy="658368"/>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52%</a:t>
            </a:r>
          </a:p>
        </p:txBody>
      </p:sp>
      <p:sp>
        <p:nvSpPr>
          <p:cNvPr id="45" name="TextBox 44"/>
          <p:cNvSpPr txBox="1"/>
          <p:nvPr/>
        </p:nvSpPr>
        <p:spPr>
          <a:xfrm>
            <a:off x="1143000" y="7452360"/>
            <a:ext cx="15910559" cy="640080"/>
          </a:xfrm>
          <a:prstGeom prst="rect">
            <a:avLst/>
          </a:prstGeom>
          <a:noFill/>
        </p:spPr>
        <p:txBody>
          <a:bodyPr wrap="square" lIns="27432" rIns="27432" tIns="18288" bIns="18288">
            <a:spAutoFit/>
          </a:bodyPr>
          <a:lstStyle/>
          <a:p>
            <a:pPr>
              <a:spcAft>
                <a:spcPts val="1200"/>
              </a:spcAft>
              <a:defRPr sz="3000" b="1">
                <a:solidFill>
                  <a:srgbClr val="111511"/>
                </a:solidFill>
                <a:latin typeface="Aptos"/>
              </a:defRPr>
            </a:pPr>
            <a:r>
              <a:t>Better source-level score did not consistently improve transfer.</a:t>
            </a:r>
          </a:p>
        </p:txBody>
      </p:sp>
      <p:sp>
        <p:nvSpPr>
          <p:cNvPr id="46" name="TextBox 45"/>
          <p:cNvSpPr txBox="1"/>
          <p:nvPr/>
        </p:nvSpPr>
        <p:spPr>
          <a:xfrm>
            <a:off x="1143000" y="8092440"/>
            <a:ext cx="15910559" cy="457200"/>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Random baseline: mean scores 0.02–0.10; no target reached.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788B73"/>
        </a:solidFill>
      </p:bgPr>
    </p:bg>
    <p:spTree>
      <p:nvGrpSpPr>
        <p:cNvPr id="1" name=""/>
        <p:cNvGrpSpPr/>
        <p:nvPr/>
      </p:nvGrpSpPr>
      <p:grpSpPr/>
      <p:grpSp>
        <p:nvGrpSpPr>
          <p:cNvPr name="Group 2" id="2"/>
          <p:cNvGrpSpPr/>
          <p:nvPr/>
        </p:nvGrpSpPr>
        <p:grpSpPr>
          <a:xfrm rot="0">
            <a:off x="626868" y="576026"/>
            <a:ext cx="17034264" cy="9134947"/>
            <a:chOff x="0" y="0"/>
            <a:chExt cx="4486390" cy="2405912"/>
          </a:xfrm>
        </p:grpSpPr>
        <p:sp>
          <p:nvSpPr>
            <p:cNvPr name="Freeform 3" id="3"/>
            <p:cNvSpPr/>
            <p:nvPr/>
          </p:nvSpPr>
          <p:spPr>
            <a:xfrm flipH="false" flipV="false" rot="0">
              <a:off x="0" y="0"/>
              <a:ext cx="4486390" cy="2405912"/>
            </a:xfrm>
            <a:custGeom>
              <a:avLst/>
              <a:gdLst/>
              <a:ahLst/>
              <a:cxnLst/>
              <a:rect r="r" b="b" t="t" l="l"/>
              <a:pathLst>
                <a:path h="2405912" w="4486390">
                  <a:moveTo>
                    <a:pt x="0" y="0"/>
                  </a:moveTo>
                  <a:lnTo>
                    <a:pt x="4486390" y="0"/>
                  </a:lnTo>
                  <a:lnTo>
                    <a:pt x="4486390" y="2405912"/>
                  </a:lnTo>
                  <a:lnTo>
                    <a:pt x="0" y="2405912"/>
                  </a:lnTo>
                  <a:close/>
                </a:path>
              </a:pathLst>
            </a:custGeom>
            <a:ln w="85725" cap="sq">
              <a:solidFill>
                <a:srgbClr val="000000"/>
              </a:solidFill>
              <a:prstDash val="solid"/>
              <a:miter/>
            </a:ln>
          </p:spPr>
        </p:sp>
        <p:sp>
          <p:nvSpPr>
            <p:cNvPr name="TextBox 4" id="4"/>
            <p:cNvSpPr txBox="true"/>
            <p:nvPr/>
          </p:nvSpPr>
          <p:spPr>
            <a:xfrm>
              <a:off x="0" y="-38100"/>
              <a:ext cx="4486390" cy="2444012"/>
            </a:xfrm>
            <a:prstGeom prst="rect">
              <a:avLst/>
            </a:prstGeom>
          </p:spPr>
          <p:txBody>
            <a:bodyPr anchor="ctr" rtlCol="false" tIns="50800" lIns="50800" bIns="50800" rIns="50800"/>
            <a:lstStyle/>
            <a:p>
              <a:pPr algn="ctr">
                <a:lnSpc>
                  <a:spcPts val="2659"/>
                </a:lnSpc>
              </a:pPr>
            </a:p>
          </p:txBody>
        </p:sp>
      </p:grpSp>
      <p:sp>
        <p:nvSpPr>
          <p:cNvPr id="5" name="TextBox 4"/>
          <p:cNvSpPr txBox="1"/>
          <p:nvPr/>
        </p:nvSpPr>
        <p:spPr>
          <a:xfrm>
            <a:off x="960120" y="914400"/>
            <a:ext cx="16276320" cy="731520"/>
          </a:xfrm>
          <a:prstGeom prst="rect">
            <a:avLst/>
          </a:prstGeom>
          <a:noFill/>
        </p:spPr>
        <p:txBody>
          <a:bodyPr wrap="square" lIns="27432" rIns="27432" tIns="18288" bIns="18288">
            <a:spAutoFit/>
          </a:bodyPr>
          <a:lstStyle/>
          <a:p>
            <a:pPr>
              <a:spcAft>
                <a:spcPts val="1200"/>
              </a:spcAft>
              <a:defRPr sz="4300" b="0">
                <a:solidFill>
                  <a:srgbClr val="111511"/>
                </a:solidFill>
                <a:latin typeface="Pixellance"/>
              </a:defRPr>
            </a:pPr>
            <a:r>
              <a:t>WHERE THE POLICY FAILS</a:t>
            </a:r>
          </a:p>
        </p:txBody>
      </p:sp>
      <p:sp>
        <p:nvSpPr>
          <p:cNvPr id="6" name="TextBox 5"/>
          <p:cNvSpPr txBox="1"/>
          <p:nvPr/>
        </p:nvSpPr>
        <p:spPr>
          <a:xfrm>
            <a:off x="1005840" y="9098280"/>
            <a:ext cx="11887200" cy="320040"/>
          </a:xfrm>
          <a:prstGeom prst="rect">
            <a:avLst/>
          </a:prstGeom>
          <a:noFill/>
        </p:spPr>
        <p:txBody>
          <a:bodyPr wrap="square" lIns="27432" rIns="27432" tIns="18288" bIns="18288">
            <a:spAutoFit/>
          </a:bodyPr>
          <a:lstStyle/>
          <a:p>
            <a:pPr>
              <a:spcAft>
                <a:spcPts val="1200"/>
              </a:spcAft>
              <a:defRPr sz="1500" b="0">
                <a:solidFill>
                  <a:srgbClr val="111511"/>
                </a:solidFill>
                <a:latin typeface="Aptos"/>
              </a:defRPr>
            </a:pPr>
            <a:r>
              <a:t>SNAKE / DUELING DOUBLE DQN</a:t>
            </a:r>
          </a:p>
        </p:txBody>
      </p:sp>
      <p:sp>
        <p:nvSpPr>
          <p:cNvPr id="7" name="TextBox 6"/>
          <p:cNvSpPr txBox="1"/>
          <p:nvPr/>
        </p:nvSpPr>
        <p:spPr>
          <a:xfrm>
            <a:off x="16184880" y="9052560"/>
            <a:ext cx="914400" cy="365760"/>
          </a:xfrm>
          <a:prstGeom prst="rect">
            <a:avLst/>
          </a:prstGeom>
          <a:noFill/>
        </p:spPr>
        <p:txBody>
          <a:bodyPr wrap="square" lIns="27432" rIns="27432" tIns="18288" bIns="18288">
            <a:spAutoFit/>
          </a:bodyPr>
          <a:lstStyle/>
          <a:p>
            <a:pPr algn="r">
              <a:spcAft>
                <a:spcPts val="1200"/>
              </a:spcAft>
              <a:defRPr sz="1800" b="0">
                <a:solidFill>
                  <a:srgbClr val="111511"/>
                </a:solidFill>
                <a:latin typeface="Aptos"/>
              </a:defRPr>
            </a:pPr>
            <a:r>
              <a:t>14</a:t>
            </a:r>
          </a:p>
        </p:txBody>
      </p:sp>
      <p:sp>
        <p:nvSpPr>
          <p:cNvPr id="8" name="TextBox 7"/>
          <p:cNvSpPr txBox="1"/>
          <p:nvPr/>
        </p:nvSpPr>
        <p:spPr>
          <a:xfrm>
            <a:off x="1005840" y="8595360"/>
            <a:ext cx="16093440" cy="365760"/>
          </a:xfrm>
          <a:prstGeom prst="rect">
            <a:avLst/>
          </a:prstGeom>
          <a:noFill/>
        </p:spPr>
        <p:txBody>
          <a:bodyPr wrap="square" lIns="27432" rIns="27432" tIns="18288" bIns="18288">
            <a:spAutoFit/>
          </a:bodyPr>
          <a:lstStyle/>
          <a:p>
            <a:pPr>
              <a:spcAft>
                <a:spcPts val="1200"/>
              </a:spcAft>
              <a:defRPr sz="1500" b="0">
                <a:solidFill>
                  <a:srgbClr val="111511"/>
                </a:solidFill>
                <a:latin typeface="Aptos"/>
              </a:defRPr>
            </a:pPr>
            <a:r>
              <a:t>Source: project implementation and latex/main.tex</a:t>
            </a:r>
          </a:p>
        </p:txBody>
      </p:sp>
      <p:pic>
        <p:nvPicPr>
          <p:cNvPr id="13" name="Picture 12" descr="image.png"/>
          <p:cNvPicPr>
            <a:picLocks noChangeAspect="1"/>
          </p:cNvPicPr>
          <p:nvPr/>
        </p:nvPicPr>
        <p:blipFill>
          <a:blip r:embed="rId3"/>
          <a:stretch>
            <a:fillRect/>
          </a:stretch>
        </p:blipFill>
        <p:spPr>
          <a:xfrm>
            <a:off x="1097280" y="2103120"/>
            <a:ext cx="12527280" cy="5283982"/>
          </a:xfrm>
          <a:prstGeom prst="rect">
            <a:avLst/>
          </a:prstGeom>
        </p:spPr>
      </p:pic>
      <p:sp>
        <p:nvSpPr>
          <p:cNvPr id="10" name="TextBox 9"/>
          <p:cNvSpPr txBox="1"/>
          <p:nvPr/>
        </p:nvSpPr>
        <p:spPr>
          <a:xfrm>
            <a:off x="13807440" y="2560320"/>
            <a:ext cx="3108960" cy="640080"/>
          </a:xfrm>
          <a:prstGeom prst="rect">
            <a:avLst/>
          </a:prstGeom>
          <a:noFill/>
        </p:spPr>
        <p:txBody>
          <a:bodyPr wrap="square" lIns="27432" rIns="27432" tIns="18288" bIns="18288">
            <a:spAutoFit/>
          </a:bodyPr>
          <a:lstStyle/>
          <a:p>
            <a:pPr>
              <a:spcAft>
                <a:spcPts val="1200"/>
              </a:spcAft>
              <a:defRPr sz="3500" b="0">
                <a:solidFill>
                  <a:srgbClr val="111511"/>
                </a:solidFill>
                <a:latin typeface="Pixellance"/>
              </a:defRPr>
            </a:pPr>
            <a:r>
              <a:t>TIMEOUT</a:t>
            </a:r>
          </a:p>
        </p:txBody>
      </p:sp>
      <p:sp>
        <p:nvSpPr>
          <p:cNvPr id="11" name="TextBox 10"/>
          <p:cNvSpPr txBox="1"/>
          <p:nvPr/>
        </p:nvSpPr>
        <p:spPr>
          <a:xfrm>
            <a:off x="13807440" y="3657600"/>
            <a:ext cx="3108960" cy="3200400"/>
          </a:xfrm>
          <a:prstGeom prst="rect">
            <a:avLst/>
          </a:prstGeom>
          <a:noFill/>
        </p:spPr>
        <p:txBody>
          <a:bodyPr wrap="square" lIns="27432" rIns="27432" tIns="18288" bIns="18288">
            <a:spAutoFit/>
          </a:bodyPr>
          <a:lstStyle/>
          <a:p>
            <a:pPr>
              <a:spcAft>
                <a:spcPts val="1200"/>
              </a:spcAft>
              <a:defRPr sz="2900" b="0">
                <a:solidFill>
                  <a:srgbClr val="111511"/>
                </a:solidFill>
                <a:latin typeface="Aptos"/>
              </a:defRPr>
            </a:pPr>
            <a:r>
              <a:t>L5: 25%</a:t>
            </a:r>
          </a:p>
          <a:p>
            <a:pPr>
              <a:spcAft>
                <a:spcPts val="1200"/>
              </a:spcAft>
              <a:defRPr sz="2900" b="0">
                <a:solidFill>
                  <a:srgbClr val="111511"/>
                </a:solidFill>
                <a:latin typeface="Aptos"/>
              </a:defRPr>
            </a:pPr>
            <a:r>
              <a:t>L6: 40%</a:t>
            </a:r>
          </a:p>
          <a:p>
            <a:pPr>
              <a:spcAft>
                <a:spcPts val="1200"/>
              </a:spcAft>
              <a:defRPr sz="2900" b="0">
                <a:solidFill>
                  <a:srgbClr val="111511"/>
                </a:solidFill>
                <a:latin typeface="Aptos"/>
              </a:defRPr>
            </a:pPr>
          </a:p>
          <a:p>
            <a:pPr>
              <a:spcAft>
                <a:spcPts val="1200"/>
              </a:spcAft>
              <a:defRPr sz="2900" b="0">
                <a:solidFill>
                  <a:srgbClr val="111511"/>
                </a:solidFill>
                <a:latin typeface="Aptos"/>
              </a:defRPr>
            </a:pPr>
            <a:r>
              <a:t>L4 self-collision: 79%</a:t>
            </a:r>
          </a:p>
        </p:txBody>
      </p:sp>
      <p:sp>
        <p:nvSpPr>
          <p:cNvPr id="12" name="TextBox 11"/>
          <p:cNvSpPr txBox="1"/>
          <p:nvPr/>
        </p:nvSpPr>
        <p:spPr>
          <a:xfrm>
            <a:off x="1188720" y="7863840"/>
            <a:ext cx="15910559" cy="548640"/>
          </a:xfrm>
          <a:prstGeom prst="rect">
            <a:avLst/>
          </a:prstGeom>
          <a:noFill/>
        </p:spPr>
        <p:txBody>
          <a:bodyPr wrap="square" lIns="27432" rIns="27432" tIns="18288" bIns="18288">
            <a:spAutoFit/>
          </a:bodyPr>
          <a:lstStyle/>
          <a:p>
            <a:pPr>
              <a:spcAft>
                <a:spcPts val="1200"/>
              </a:spcAft>
              <a:defRPr sz="2900" b="1">
                <a:solidFill>
                  <a:srgbClr val="111511"/>
                </a:solidFill>
                <a:latin typeface="Aptos"/>
              </a:defRPr>
            </a:pPr>
            <a:r>
              <a:t>L4 has no target cap; its termination profile is different.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788B73"/>
        </a:solidFill>
      </p:bgPr>
    </p:bg>
    <p:spTree>
      <p:nvGrpSpPr>
        <p:cNvPr id="1" name=""/>
        <p:cNvGrpSpPr/>
        <p:nvPr/>
      </p:nvGrpSpPr>
      <p:grpSpPr/>
      <p:grpSp>
        <p:nvGrpSpPr>
          <p:cNvPr name="Group 2" id="2"/>
          <p:cNvGrpSpPr/>
          <p:nvPr/>
        </p:nvGrpSpPr>
        <p:grpSpPr>
          <a:xfrm rot="0">
            <a:off x="626868" y="576026"/>
            <a:ext cx="17034264" cy="9134947"/>
            <a:chOff x="0" y="0"/>
            <a:chExt cx="4486390" cy="2405912"/>
          </a:xfrm>
        </p:grpSpPr>
        <p:sp>
          <p:nvSpPr>
            <p:cNvPr name="Freeform 3" id="3"/>
            <p:cNvSpPr/>
            <p:nvPr/>
          </p:nvSpPr>
          <p:spPr>
            <a:xfrm flipH="false" flipV="false" rot="0">
              <a:off x="0" y="0"/>
              <a:ext cx="4486390" cy="2405912"/>
            </a:xfrm>
            <a:custGeom>
              <a:avLst/>
              <a:gdLst/>
              <a:ahLst/>
              <a:cxnLst/>
              <a:rect r="r" b="b" t="t" l="l"/>
              <a:pathLst>
                <a:path h="2405912" w="4486390">
                  <a:moveTo>
                    <a:pt x="0" y="0"/>
                  </a:moveTo>
                  <a:lnTo>
                    <a:pt x="4486390" y="0"/>
                  </a:lnTo>
                  <a:lnTo>
                    <a:pt x="4486390" y="2405912"/>
                  </a:lnTo>
                  <a:lnTo>
                    <a:pt x="0" y="2405912"/>
                  </a:lnTo>
                  <a:close/>
                </a:path>
              </a:pathLst>
            </a:custGeom>
            <a:ln w="85725" cap="sq">
              <a:solidFill>
                <a:srgbClr val="000000"/>
              </a:solidFill>
              <a:prstDash val="solid"/>
              <a:miter/>
            </a:ln>
          </p:spPr>
        </p:sp>
        <p:sp>
          <p:nvSpPr>
            <p:cNvPr name="TextBox 4" id="4"/>
            <p:cNvSpPr txBox="true"/>
            <p:nvPr/>
          </p:nvSpPr>
          <p:spPr>
            <a:xfrm>
              <a:off x="0" y="-38100"/>
              <a:ext cx="4486390" cy="2444012"/>
            </a:xfrm>
            <a:prstGeom prst="rect">
              <a:avLst/>
            </a:prstGeom>
          </p:spPr>
          <p:txBody>
            <a:bodyPr anchor="ctr" rtlCol="false" tIns="50800" lIns="50800" bIns="50800" rIns="50800"/>
            <a:lstStyle/>
            <a:p>
              <a:pPr algn="ctr">
                <a:lnSpc>
                  <a:spcPts val="2659"/>
                </a:lnSpc>
              </a:pPr>
            </a:p>
          </p:txBody>
        </p:sp>
      </p:grpSp>
      <p:sp>
        <p:nvSpPr>
          <p:cNvPr id="5" name="TextBox 4"/>
          <p:cNvSpPr txBox="1"/>
          <p:nvPr/>
        </p:nvSpPr>
        <p:spPr>
          <a:xfrm>
            <a:off x="960120" y="914400"/>
            <a:ext cx="16276320" cy="731520"/>
          </a:xfrm>
          <a:prstGeom prst="rect">
            <a:avLst/>
          </a:prstGeom>
          <a:noFill/>
        </p:spPr>
        <p:txBody>
          <a:bodyPr wrap="square" lIns="27432" rIns="27432" tIns="18288" bIns="18288">
            <a:spAutoFit/>
          </a:bodyPr>
          <a:lstStyle/>
          <a:p>
            <a:pPr>
              <a:spcAft>
                <a:spcPts val="1200"/>
              </a:spcAft>
              <a:defRPr sz="4300" b="0">
                <a:solidFill>
                  <a:srgbClr val="111511"/>
                </a:solidFill>
                <a:latin typeface="Pixellance"/>
              </a:defRPr>
            </a:pPr>
            <a:r>
              <a:t>WHAT THE EVIDENCE SUPPORTS</a:t>
            </a:r>
          </a:p>
        </p:txBody>
      </p:sp>
      <p:sp>
        <p:nvSpPr>
          <p:cNvPr id="6" name="TextBox 5"/>
          <p:cNvSpPr txBox="1"/>
          <p:nvPr/>
        </p:nvSpPr>
        <p:spPr>
          <a:xfrm>
            <a:off x="1005840" y="9098280"/>
            <a:ext cx="11887200" cy="320040"/>
          </a:xfrm>
          <a:prstGeom prst="rect">
            <a:avLst/>
          </a:prstGeom>
          <a:noFill/>
        </p:spPr>
        <p:txBody>
          <a:bodyPr wrap="square" lIns="27432" rIns="27432" tIns="18288" bIns="18288">
            <a:spAutoFit/>
          </a:bodyPr>
          <a:lstStyle/>
          <a:p>
            <a:pPr>
              <a:spcAft>
                <a:spcPts val="1200"/>
              </a:spcAft>
              <a:defRPr sz="1500" b="0">
                <a:solidFill>
                  <a:srgbClr val="111511"/>
                </a:solidFill>
                <a:latin typeface="Aptos"/>
              </a:defRPr>
            </a:pPr>
            <a:r>
              <a:t>SNAKE / DUELING DOUBLE DQN</a:t>
            </a:r>
          </a:p>
        </p:txBody>
      </p:sp>
      <p:sp>
        <p:nvSpPr>
          <p:cNvPr id="7" name="TextBox 6"/>
          <p:cNvSpPr txBox="1"/>
          <p:nvPr/>
        </p:nvSpPr>
        <p:spPr>
          <a:xfrm>
            <a:off x="16184880" y="9052560"/>
            <a:ext cx="914400" cy="365760"/>
          </a:xfrm>
          <a:prstGeom prst="rect">
            <a:avLst/>
          </a:prstGeom>
          <a:noFill/>
        </p:spPr>
        <p:txBody>
          <a:bodyPr wrap="square" lIns="27432" rIns="27432" tIns="18288" bIns="18288">
            <a:spAutoFit/>
          </a:bodyPr>
          <a:lstStyle/>
          <a:p>
            <a:pPr algn="r">
              <a:spcAft>
                <a:spcPts val="1200"/>
              </a:spcAft>
              <a:defRPr sz="1800" b="0">
                <a:solidFill>
                  <a:srgbClr val="111511"/>
                </a:solidFill>
                <a:latin typeface="Aptos"/>
              </a:defRPr>
            </a:pPr>
            <a:r>
              <a:t>15</a:t>
            </a:r>
          </a:p>
        </p:txBody>
      </p:sp>
      <p:sp>
        <p:nvSpPr>
          <p:cNvPr id="8" name="TextBox 7"/>
          <p:cNvSpPr txBox="1"/>
          <p:nvPr/>
        </p:nvSpPr>
        <p:spPr>
          <a:xfrm>
            <a:off x="1005840" y="8595360"/>
            <a:ext cx="16093440" cy="365760"/>
          </a:xfrm>
          <a:prstGeom prst="rect">
            <a:avLst/>
          </a:prstGeom>
          <a:noFill/>
        </p:spPr>
        <p:txBody>
          <a:bodyPr wrap="square" lIns="27432" rIns="27432" tIns="18288" bIns="18288">
            <a:spAutoFit/>
          </a:bodyPr>
          <a:lstStyle/>
          <a:p>
            <a:pPr>
              <a:spcAft>
                <a:spcPts val="1200"/>
              </a:spcAft>
              <a:defRPr sz="1500" b="0">
                <a:solidFill>
                  <a:srgbClr val="111511"/>
                </a:solidFill>
                <a:latin typeface="Aptos"/>
              </a:defRPr>
            </a:pPr>
            <a:r>
              <a:t>Source: project implementation and latex/main.tex</a:t>
            </a:r>
          </a:p>
        </p:txBody>
      </p:sp>
      <p:sp>
        <p:nvSpPr>
          <p:cNvPr id="9" name="Rectangle 8"/>
          <p:cNvSpPr/>
          <p:nvPr/>
        </p:nvSpPr>
        <p:spPr>
          <a:xfrm>
            <a:off x="1051560" y="2423160"/>
            <a:ext cx="5074920" cy="429768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80160" y="2743200"/>
            <a:ext cx="4617720" cy="1097280"/>
          </a:xfrm>
          <a:prstGeom prst="rect">
            <a:avLst/>
          </a:prstGeom>
          <a:noFill/>
        </p:spPr>
        <p:txBody>
          <a:bodyPr wrap="square" lIns="27432" rIns="27432" tIns="18288" bIns="18288">
            <a:spAutoFit/>
          </a:bodyPr>
          <a:lstStyle/>
          <a:p>
            <a:pPr>
              <a:spcAft>
                <a:spcPts val="1200"/>
              </a:spcAft>
              <a:defRPr sz="3400" b="0">
                <a:solidFill>
                  <a:srgbClr val="111511"/>
                </a:solidFill>
                <a:latin typeface="Pixellance"/>
              </a:defRPr>
            </a:pPr>
            <a:r>
              <a:t>RQ1</a:t>
            </a:r>
          </a:p>
        </p:txBody>
      </p:sp>
      <p:sp>
        <p:nvSpPr>
          <p:cNvPr id="11" name="TextBox 10"/>
          <p:cNvSpPr txBox="1"/>
          <p:nvPr/>
        </p:nvSpPr>
        <p:spPr>
          <a:xfrm>
            <a:off x="1280160" y="4114800"/>
            <a:ext cx="4617720" cy="2286000"/>
          </a:xfrm>
          <a:prstGeom prst="rect">
            <a:avLst/>
          </a:prstGeom>
          <a:noFill/>
        </p:spPr>
        <p:txBody>
          <a:bodyPr wrap="square" lIns="27432" rIns="27432" tIns="18288" bIns="18288">
            <a:spAutoFit/>
          </a:bodyPr>
          <a:lstStyle/>
          <a:p>
            <a:pPr>
              <a:spcAft>
                <a:spcPts val="1200"/>
              </a:spcAft>
              <a:defRPr sz="2900" b="0">
                <a:solidFill>
                  <a:srgbClr val="111511"/>
                </a:solidFill>
                <a:latin typeface="Aptos"/>
              </a:defRPr>
            </a:pPr>
            <a:r>
              <a:t>L4: 144.49 ± 27.28</a:t>
            </a:r>
          </a:p>
          <a:p>
            <a:pPr>
              <a:spcAft>
                <a:spcPts val="1200"/>
              </a:spcAft>
              <a:defRPr sz="2900" b="0">
                <a:solidFill>
                  <a:srgbClr val="111511"/>
                </a:solidFill>
                <a:latin typeface="Aptos"/>
              </a:defRPr>
            </a:pPr>
            <a:r>
              <a:t>Median score: 154</a:t>
            </a:r>
          </a:p>
          <a:p>
            <a:pPr>
              <a:spcAft>
                <a:spcPts val="1200"/>
              </a:spcAft>
              <a:defRPr sz="2900" b="0">
                <a:solidFill>
                  <a:srgbClr val="111511"/>
                </a:solidFill>
                <a:latin typeface="Aptos"/>
              </a:defRPr>
            </a:pPr>
            <a:r>
              <a:t>Occasional early failure</a:t>
            </a:r>
          </a:p>
        </p:txBody>
      </p:sp>
      <p:sp>
        <p:nvSpPr>
          <p:cNvPr id="12" name="Rectangle 11"/>
          <p:cNvSpPr/>
          <p:nvPr/>
        </p:nvSpPr>
        <p:spPr>
          <a:xfrm>
            <a:off x="6583679" y="2423160"/>
            <a:ext cx="5074920" cy="429768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12279" y="2743200"/>
            <a:ext cx="4617720" cy="1097280"/>
          </a:xfrm>
          <a:prstGeom prst="rect">
            <a:avLst/>
          </a:prstGeom>
          <a:noFill/>
        </p:spPr>
        <p:txBody>
          <a:bodyPr wrap="square" lIns="27432" rIns="27432" tIns="18288" bIns="18288">
            <a:spAutoFit/>
          </a:bodyPr>
          <a:lstStyle/>
          <a:p>
            <a:pPr>
              <a:spcAft>
                <a:spcPts val="1200"/>
              </a:spcAft>
              <a:defRPr sz="3400" b="0">
                <a:solidFill>
                  <a:srgbClr val="111511"/>
                </a:solidFill>
                <a:latin typeface="Pixellance"/>
              </a:defRPr>
            </a:pPr>
            <a:r>
              <a:t>RQ2</a:t>
            </a:r>
          </a:p>
        </p:txBody>
      </p:sp>
      <p:sp>
        <p:nvSpPr>
          <p:cNvPr id="14" name="TextBox 13"/>
          <p:cNvSpPr txBox="1"/>
          <p:nvPr/>
        </p:nvSpPr>
        <p:spPr>
          <a:xfrm>
            <a:off x="6812279" y="4114800"/>
            <a:ext cx="4617720" cy="2286000"/>
          </a:xfrm>
          <a:prstGeom prst="rect">
            <a:avLst/>
          </a:prstGeom>
          <a:noFill/>
        </p:spPr>
        <p:txBody>
          <a:bodyPr wrap="square" lIns="27432" rIns="27432" tIns="18288" bIns="18288">
            <a:spAutoFit/>
          </a:bodyPr>
          <a:lstStyle/>
          <a:p>
            <a:pPr>
              <a:spcAft>
                <a:spcPts val="1200"/>
              </a:spcAft>
              <a:defRPr sz="2900" b="0">
                <a:solidFill>
                  <a:srgbClr val="111511"/>
                </a:solidFill>
                <a:latin typeface="Aptos"/>
              </a:defRPr>
            </a:pPr>
            <a:r>
              <a:t>100%, 97%, 93% on L1–L3</a:t>
            </a:r>
          </a:p>
          <a:p>
            <a:pPr>
              <a:spcAft>
                <a:spcPts val="1200"/>
              </a:spcAft>
              <a:defRPr sz="2900" b="0">
                <a:solidFill>
                  <a:srgbClr val="111511"/>
                </a:solidFill>
                <a:latin typeface="Aptos"/>
              </a:defRPr>
            </a:pPr>
            <a:r>
              <a:t>74%, 54% on L5–L6</a:t>
            </a:r>
          </a:p>
          <a:p>
            <a:pPr>
              <a:spcAft>
                <a:spcPts val="1200"/>
              </a:spcAft>
              <a:defRPr sz="2900" b="0">
                <a:solidFill>
                  <a:srgbClr val="111511"/>
                </a:solidFill>
                <a:latin typeface="Aptos"/>
              </a:defRPr>
            </a:pPr>
            <a:r>
              <a:t>Transfer is incomplete</a:t>
            </a:r>
          </a:p>
        </p:txBody>
      </p:sp>
      <p:sp>
        <p:nvSpPr>
          <p:cNvPr id="15" name="Rectangle 14"/>
          <p:cNvSpPr/>
          <p:nvPr/>
        </p:nvSpPr>
        <p:spPr>
          <a:xfrm>
            <a:off x="12115800" y="2423160"/>
            <a:ext cx="5074920" cy="429768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344400" y="2743200"/>
            <a:ext cx="4617720" cy="1097280"/>
          </a:xfrm>
          <a:prstGeom prst="rect">
            <a:avLst/>
          </a:prstGeom>
          <a:noFill/>
        </p:spPr>
        <p:txBody>
          <a:bodyPr wrap="square" lIns="27432" rIns="27432" tIns="18288" bIns="18288">
            <a:spAutoFit/>
          </a:bodyPr>
          <a:lstStyle/>
          <a:p>
            <a:pPr>
              <a:spcAft>
                <a:spcPts val="1200"/>
              </a:spcAft>
              <a:defRPr sz="3400" b="0">
                <a:solidFill>
                  <a:srgbClr val="111511"/>
                </a:solidFill>
                <a:latin typeface="Pixellance"/>
              </a:defRPr>
            </a:pPr>
            <a:r>
              <a:t>RQ3</a:t>
            </a:r>
          </a:p>
        </p:txBody>
      </p:sp>
      <p:sp>
        <p:nvSpPr>
          <p:cNvPr id="17" name="TextBox 16"/>
          <p:cNvSpPr txBox="1"/>
          <p:nvPr/>
        </p:nvSpPr>
        <p:spPr>
          <a:xfrm>
            <a:off x="12344400" y="4114800"/>
            <a:ext cx="4617720" cy="2286000"/>
          </a:xfrm>
          <a:prstGeom prst="rect">
            <a:avLst/>
          </a:prstGeom>
          <a:noFill/>
        </p:spPr>
        <p:txBody>
          <a:bodyPr wrap="square" lIns="27432" rIns="27432" tIns="18288" bIns="18288">
            <a:spAutoFit/>
          </a:bodyPr>
          <a:lstStyle/>
          <a:p>
            <a:pPr>
              <a:spcAft>
                <a:spcPts val="1200"/>
              </a:spcAft>
              <a:defRPr sz="2900" b="0">
                <a:solidFill>
                  <a:srgbClr val="111511"/>
                </a:solidFill>
                <a:latin typeface="Aptos"/>
              </a:defRPr>
            </a:pPr>
            <a:r>
              <a:t>Timeouts rise on L5–L6</a:t>
            </a:r>
          </a:p>
          <a:p>
            <a:pPr>
              <a:spcAft>
                <a:spcPts val="1200"/>
              </a:spcAft>
              <a:defRPr sz="2900" b="0">
                <a:solidFill>
                  <a:srgbClr val="111511"/>
                </a:solidFill>
                <a:latin typeface="Aptos"/>
              </a:defRPr>
            </a:pPr>
            <a:r>
              <a:t>Level factors co-vary</a:t>
            </a:r>
          </a:p>
          <a:p>
            <a:pPr>
              <a:spcAft>
                <a:spcPts val="1200"/>
              </a:spcAft>
              <a:defRPr sz="2900" b="0">
                <a:solidFill>
                  <a:srgbClr val="111511"/>
                </a:solidFill>
                <a:latin typeface="Aptos"/>
              </a:defRPr>
            </a:pPr>
            <a:r>
              <a:t>Causal effects unresolved</a:t>
            </a:r>
          </a:p>
        </p:txBody>
      </p:sp>
      <p:sp>
        <p:nvSpPr>
          <p:cNvPr id="18" name="TextBox 17"/>
          <p:cNvSpPr txBox="1"/>
          <p:nvPr/>
        </p:nvSpPr>
        <p:spPr>
          <a:xfrm>
            <a:off x="1143000" y="7635240"/>
            <a:ext cx="15910559" cy="640080"/>
          </a:xfrm>
          <a:prstGeom prst="rect">
            <a:avLst/>
          </a:prstGeom>
          <a:noFill/>
        </p:spPr>
        <p:txBody>
          <a:bodyPr wrap="square" lIns="27432" rIns="27432" tIns="18288" bIns="18288">
            <a:spAutoFit/>
          </a:bodyPr>
          <a:lstStyle/>
          <a:p>
            <a:pPr>
              <a:spcAft>
                <a:spcPts val="1200"/>
              </a:spcAft>
              <a:defRPr sz="2900" b="1">
                <a:solidFill>
                  <a:srgbClr val="111511"/>
                </a:solidFill>
                <a:latin typeface="Aptos"/>
              </a:defRPr>
            </a:pPr>
            <a:r>
              <a:t>A shared representation enables execution; evaluation establishes performance.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788B73"/>
        </a:solidFill>
      </p:bgPr>
    </p:bg>
    <p:spTree>
      <p:nvGrpSpPr>
        <p:cNvPr id="1" name=""/>
        <p:cNvGrpSpPr/>
        <p:nvPr/>
      </p:nvGrpSpPr>
      <p:grpSpPr/>
      <p:grpSp>
        <p:nvGrpSpPr>
          <p:cNvPr name="Group 2" id="2"/>
          <p:cNvGrpSpPr/>
          <p:nvPr/>
        </p:nvGrpSpPr>
        <p:grpSpPr>
          <a:xfrm rot="0">
            <a:off x="626868" y="576026"/>
            <a:ext cx="17034264" cy="9134947"/>
            <a:chOff x="0" y="0"/>
            <a:chExt cx="4486390" cy="2405912"/>
          </a:xfrm>
        </p:grpSpPr>
        <p:sp>
          <p:nvSpPr>
            <p:cNvPr name="Freeform 3" id="3"/>
            <p:cNvSpPr/>
            <p:nvPr/>
          </p:nvSpPr>
          <p:spPr>
            <a:xfrm flipH="false" flipV="false" rot="0">
              <a:off x="0" y="0"/>
              <a:ext cx="4486390" cy="2405912"/>
            </a:xfrm>
            <a:custGeom>
              <a:avLst/>
              <a:gdLst/>
              <a:ahLst/>
              <a:cxnLst/>
              <a:rect r="r" b="b" t="t" l="l"/>
              <a:pathLst>
                <a:path h="2405912" w="4486390">
                  <a:moveTo>
                    <a:pt x="0" y="0"/>
                  </a:moveTo>
                  <a:lnTo>
                    <a:pt x="4486390" y="0"/>
                  </a:lnTo>
                  <a:lnTo>
                    <a:pt x="4486390" y="2405912"/>
                  </a:lnTo>
                  <a:lnTo>
                    <a:pt x="0" y="2405912"/>
                  </a:lnTo>
                  <a:close/>
                </a:path>
              </a:pathLst>
            </a:custGeom>
            <a:ln w="85725" cap="sq">
              <a:solidFill>
                <a:srgbClr val="000000"/>
              </a:solidFill>
              <a:prstDash val="solid"/>
              <a:miter/>
            </a:ln>
          </p:spPr>
        </p:sp>
        <p:sp>
          <p:nvSpPr>
            <p:cNvPr name="TextBox 4" id="4"/>
            <p:cNvSpPr txBox="true"/>
            <p:nvPr/>
          </p:nvSpPr>
          <p:spPr>
            <a:xfrm>
              <a:off x="0" y="-38100"/>
              <a:ext cx="4486390" cy="2444012"/>
            </a:xfrm>
            <a:prstGeom prst="rect">
              <a:avLst/>
            </a:prstGeom>
          </p:spPr>
          <p:txBody>
            <a:bodyPr anchor="ctr" rtlCol="false" tIns="50800" lIns="50800" bIns="50800" rIns="50800"/>
            <a:lstStyle/>
            <a:p>
              <a:pPr algn="ctr">
                <a:lnSpc>
                  <a:spcPts val="2659"/>
                </a:lnSpc>
              </a:pPr>
            </a:p>
          </p:txBody>
        </p:sp>
      </p:grpSp>
      <p:sp>
        <p:nvSpPr>
          <p:cNvPr id="5" name="TextBox 4"/>
          <p:cNvSpPr txBox="1"/>
          <p:nvPr/>
        </p:nvSpPr>
        <p:spPr>
          <a:xfrm>
            <a:off x="960120" y="914400"/>
            <a:ext cx="16276320" cy="731520"/>
          </a:xfrm>
          <a:prstGeom prst="rect">
            <a:avLst/>
          </a:prstGeom>
          <a:noFill/>
        </p:spPr>
        <p:txBody>
          <a:bodyPr wrap="square" lIns="27432" rIns="27432" tIns="18288" bIns="18288">
            <a:spAutoFit/>
          </a:bodyPr>
          <a:lstStyle/>
          <a:p>
            <a:pPr>
              <a:spcAft>
                <a:spcPts val="1200"/>
              </a:spcAft>
              <a:defRPr sz="4300" b="0">
                <a:solidFill>
                  <a:srgbClr val="111511"/>
                </a:solidFill>
                <a:latin typeface="Pixellance"/>
              </a:defRPr>
            </a:pPr>
            <a:r>
              <a:t>LIMITATIONS AND NEXT EXPERIMENTS</a:t>
            </a:r>
          </a:p>
        </p:txBody>
      </p:sp>
      <p:sp>
        <p:nvSpPr>
          <p:cNvPr id="6" name="TextBox 5"/>
          <p:cNvSpPr txBox="1"/>
          <p:nvPr/>
        </p:nvSpPr>
        <p:spPr>
          <a:xfrm>
            <a:off x="1005840" y="9098280"/>
            <a:ext cx="11887200" cy="320040"/>
          </a:xfrm>
          <a:prstGeom prst="rect">
            <a:avLst/>
          </a:prstGeom>
          <a:noFill/>
        </p:spPr>
        <p:txBody>
          <a:bodyPr wrap="square" lIns="27432" rIns="27432" tIns="18288" bIns="18288">
            <a:spAutoFit/>
          </a:bodyPr>
          <a:lstStyle/>
          <a:p>
            <a:pPr>
              <a:spcAft>
                <a:spcPts val="1200"/>
              </a:spcAft>
              <a:defRPr sz="1500" b="0">
                <a:solidFill>
                  <a:srgbClr val="111511"/>
                </a:solidFill>
                <a:latin typeface="Aptos"/>
              </a:defRPr>
            </a:pPr>
            <a:r>
              <a:t>SNAKE / DUELING DOUBLE DQN</a:t>
            </a:r>
          </a:p>
        </p:txBody>
      </p:sp>
      <p:sp>
        <p:nvSpPr>
          <p:cNvPr id="7" name="TextBox 6"/>
          <p:cNvSpPr txBox="1"/>
          <p:nvPr/>
        </p:nvSpPr>
        <p:spPr>
          <a:xfrm>
            <a:off x="16184880" y="9052560"/>
            <a:ext cx="914400" cy="365760"/>
          </a:xfrm>
          <a:prstGeom prst="rect">
            <a:avLst/>
          </a:prstGeom>
          <a:noFill/>
        </p:spPr>
        <p:txBody>
          <a:bodyPr wrap="square" lIns="27432" rIns="27432" tIns="18288" bIns="18288">
            <a:spAutoFit/>
          </a:bodyPr>
          <a:lstStyle/>
          <a:p>
            <a:pPr algn="r">
              <a:spcAft>
                <a:spcPts val="1200"/>
              </a:spcAft>
              <a:defRPr sz="1800" b="0">
                <a:solidFill>
                  <a:srgbClr val="111511"/>
                </a:solidFill>
                <a:latin typeface="Aptos"/>
              </a:defRPr>
            </a:pPr>
            <a:r>
              <a:t>16</a:t>
            </a:r>
          </a:p>
        </p:txBody>
      </p:sp>
      <p:sp>
        <p:nvSpPr>
          <p:cNvPr id="8" name="TextBox 7"/>
          <p:cNvSpPr txBox="1"/>
          <p:nvPr/>
        </p:nvSpPr>
        <p:spPr>
          <a:xfrm>
            <a:off x="1005840" y="8595360"/>
            <a:ext cx="16093440" cy="365760"/>
          </a:xfrm>
          <a:prstGeom prst="rect">
            <a:avLst/>
          </a:prstGeom>
          <a:noFill/>
        </p:spPr>
        <p:txBody>
          <a:bodyPr wrap="square" lIns="27432" rIns="27432" tIns="18288" bIns="18288">
            <a:spAutoFit/>
          </a:bodyPr>
          <a:lstStyle/>
          <a:p>
            <a:pPr>
              <a:spcAft>
                <a:spcPts val="1200"/>
              </a:spcAft>
              <a:defRPr sz="1500" b="0">
                <a:solidFill>
                  <a:srgbClr val="111511"/>
                </a:solidFill>
                <a:latin typeface="Aptos"/>
              </a:defRPr>
            </a:pPr>
            <a:r>
              <a:t>Source: project implementation and latex/main.tex</a:t>
            </a:r>
          </a:p>
        </p:txBody>
      </p:sp>
      <p:sp>
        <p:nvSpPr>
          <p:cNvPr id="9" name="Rectangle 8"/>
          <p:cNvSpPr/>
          <p:nvPr/>
        </p:nvSpPr>
        <p:spPr>
          <a:xfrm>
            <a:off x="1051560" y="2240280"/>
            <a:ext cx="8046720" cy="932688"/>
          </a:xfrm>
          <a:prstGeom prst="rect">
            <a:avLst/>
          </a:prstGeom>
          <a:solidFill>
            <a:srgbClr val="111511"/>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61288" y="2350008"/>
            <a:ext cx="7827264" cy="768096"/>
          </a:xfrm>
          <a:prstGeom prst="rect">
            <a:avLst/>
          </a:prstGeom>
          <a:noFill/>
        </p:spPr>
        <p:txBody>
          <a:bodyPr wrap="square" lIns="27432" rIns="27432" tIns="18288" bIns="18288">
            <a:spAutoFit/>
          </a:bodyPr>
          <a:lstStyle/>
          <a:p>
            <a:pPr>
              <a:spcAft>
                <a:spcPts val="1200"/>
              </a:spcAft>
              <a:defRPr sz="2700" b="1">
                <a:solidFill>
                  <a:srgbClr val="F4F6F0"/>
                </a:solidFill>
                <a:latin typeface="Aptos"/>
              </a:defRPr>
            </a:pPr>
            <a:r>
              <a:t>Current limitation</a:t>
            </a:r>
          </a:p>
        </p:txBody>
      </p:sp>
      <p:sp>
        <p:nvSpPr>
          <p:cNvPr id="11" name="Rectangle 10"/>
          <p:cNvSpPr/>
          <p:nvPr/>
        </p:nvSpPr>
        <p:spPr>
          <a:xfrm>
            <a:off x="9098280" y="2240280"/>
            <a:ext cx="8046720" cy="932688"/>
          </a:xfrm>
          <a:prstGeom prst="rect">
            <a:avLst/>
          </a:prstGeom>
          <a:solidFill>
            <a:srgbClr val="111511"/>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08008" y="2350008"/>
            <a:ext cx="7827264" cy="768096"/>
          </a:xfrm>
          <a:prstGeom prst="rect">
            <a:avLst/>
          </a:prstGeom>
          <a:noFill/>
        </p:spPr>
        <p:txBody>
          <a:bodyPr wrap="square" lIns="27432" rIns="27432" tIns="18288" bIns="18288">
            <a:spAutoFit/>
          </a:bodyPr>
          <a:lstStyle/>
          <a:p>
            <a:pPr>
              <a:spcAft>
                <a:spcPts val="1200"/>
              </a:spcAft>
              <a:defRPr sz="2700" b="1">
                <a:solidFill>
                  <a:srgbClr val="F4F6F0"/>
                </a:solidFill>
                <a:latin typeface="Aptos"/>
              </a:defRPr>
            </a:pPr>
            <a:r>
              <a:t>Next experiment</a:t>
            </a:r>
          </a:p>
        </p:txBody>
      </p:sp>
      <p:sp>
        <p:nvSpPr>
          <p:cNvPr id="13" name="Rectangle 12"/>
          <p:cNvSpPr/>
          <p:nvPr/>
        </p:nvSpPr>
        <p:spPr>
          <a:xfrm>
            <a:off x="1051560" y="3172968"/>
            <a:ext cx="8046720" cy="932688"/>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61288" y="3282696"/>
            <a:ext cx="7827264" cy="768096"/>
          </a:xfrm>
          <a:prstGeom prst="rect">
            <a:avLst/>
          </a:prstGeom>
          <a:noFill/>
        </p:spPr>
        <p:txBody>
          <a:bodyPr wrap="square" lIns="27432" rIns="27432" tIns="18288" bIns="18288">
            <a:spAutoFit/>
          </a:bodyPr>
          <a:lstStyle/>
          <a:p>
            <a:pPr>
              <a:spcAft>
                <a:spcPts val="1200"/>
              </a:spcAft>
              <a:defRPr sz="2700" b="0">
                <a:solidFill>
                  <a:srgbClr val="111511"/>
                </a:solidFill>
                <a:latin typeface="Aptos"/>
              </a:defRPr>
            </a:pPr>
            <a:r>
              <a:t>One training seed</a:t>
            </a:r>
          </a:p>
        </p:txBody>
      </p:sp>
      <p:sp>
        <p:nvSpPr>
          <p:cNvPr id="15" name="Rectangle 14"/>
          <p:cNvSpPr/>
          <p:nvPr/>
        </p:nvSpPr>
        <p:spPr>
          <a:xfrm>
            <a:off x="9098280" y="3172968"/>
            <a:ext cx="8046720" cy="932688"/>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08008" y="3282696"/>
            <a:ext cx="7827264" cy="768096"/>
          </a:xfrm>
          <a:prstGeom prst="rect">
            <a:avLst/>
          </a:prstGeom>
          <a:noFill/>
        </p:spPr>
        <p:txBody>
          <a:bodyPr wrap="square" lIns="27432" rIns="27432" tIns="18288" bIns="18288">
            <a:spAutoFit/>
          </a:bodyPr>
          <a:lstStyle/>
          <a:p>
            <a:pPr>
              <a:spcAft>
                <a:spcPts val="1200"/>
              </a:spcAft>
              <a:defRPr sz="2700" b="0">
                <a:solidFill>
                  <a:srgbClr val="111511"/>
                </a:solidFill>
                <a:latin typeface="Aptos"/>
              </a:defRPr>
            </a:pPr>
            <a:r>
              <a:t>Repeat independent training runs</a:t>
            </a:r>
          </a:p>
        </p:txBody>
      </p:sp>
      <p:sp>
        <p:nvSpPr>
          <p:cNvPr id="17" name="Rectangle 16"/>
          <p:cNvSpPr/>
          <p:nvPr/>
        </p:nvSpPr>
        <p:spPr>
          <a:xfrm>
            <a:off x="1051560" y="4105656"/>
            <a:ext cx="8046720" cy="932688"/>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61288" y="4215384"/>
            <a:ext cx="7827264" cy="768096"/>
          </a:xfrm>
          <a:prstGeom prst="rect">
            <a:avLst/>
          </a:prstGeom>
          <a:noFill/>
        </p:spPr>
        <p:txBody>
          <a:bodyPr wrap="square" lIns="27432" rIns="27432" tIns="18288" bIns="18288">
            <a:spAutoFit/>
          </a:bodyPr>
          <a:lstStyle/>
          <a:p>
            <a:pPr>
              <a:spcAft>
                <a:spcPts val="1200"/>
              </a:spcAft>
              <a:defRPr sz="2700" b="0">
                <a:solidFill>
                  <a:srgbClr val="111511"/>
                </a:solidFill>
                <a:latin typeface="Aptos"/>
              </a:defRPr>
            </a:pPr>
            <a:r>
              <a:t>One source level; five unseen levels</a:t>
            </a:r>
          </a:p>
        </p:txBody>
      </p:sp>
      <p:sp>
        <p:nvSpPr>
          <p:cNvPr id="19" name="Rectangle 18"/>
          <p:cNvSpPr/>
          <p:nvPr/>
        </p:nvSpPr>
        <p:spPr>
          <a:xfrm>
            <a:off x="9098280" y="4105656"/>
            <a:ext cx="8046720" cy="932688"/>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08008" y="4215384"/>
            <a:ext cx="7827264" cy="768096"/>
          </a:xfrm>
          <a:prstGeom prst="rect">
            <a:avLst/>
          </a:prstGeom>
          <a:noFill/>
        </p:spPr>
        <p:txBody>
          <a:bodyPr wrap="square" lIns="27432" rIns="27432" tIns="18288" bIns="18288">
            <a:spAutoFit/>
          </a:bodyPr>
          <a:lstStyle/>
          <a:p>
            <a:pPr>
              <a:spcAft>
                <a:spcPts val="1200"/>
              </a:spcAft>
              <a:defRPr sz="2700" b="0">
                <a:solidFill>
                  <a:srgbClr val="111511"/>
                </a:solidFill>
                <a:latin typeface="Aptos"/>
              </a:defRPr>
            </a:pPr>
            <a:r>
              <a:t>Evaluate additional held-out layouts</a:t>
            </a:r>
          </a:p>
        </p:txBody>
      </p:sp>
      <p:sp>
        <p:nvSpPr>
          <p:cNvPr id="21" name="Rectangle 20"/>
          <p:cNvSpPr/>
          <p:nvPr/>
        </p:nvSpPr>
        <p:spPr>
          <a:xfrm>
            <a:off x="1051560" y="5038344"/>
            <a:ext cx="8046720" cy="932688"/>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61288" y="5148072"/>
            <a:ext cx="7827264" cy="768096"/>
          </a:xfrm>
          <a:prstGeom prst="rect">
            <a:avLst/>
          </a:prstGeom>
          <a:noFill/>
        </p:spPr>
        <p:txBody>
          <a:bodyPr wrap="square" lIns="27432" rIns="27432" tIns="18288" bIns="18288">
            <a:spAutoFit/>
          </a:bodyPr>
          <a:lstStyle/>
          <a:p>
            <a:pPr>
              <a:spcAft>
                <a:spcPts val="1200"/>
              </a:spcAft>
              <a:defRPr sz="2700" b="0">
                <a:solidFill>
                  <a:srgbClr val="111511"/>
                </a:solidFill>
                <a:latin typeface="Aptos"/>
              </a:defRPr>
            </a:pPr>
            <a:r>
              <a:t>Board, obstacles and target co-vary</a:t>
            </a:r>
          </a:p>
        </p:txBody>
      </p:sp>
      <p:sp>
        <p:nvSpPr>
          <p:cNvPr id="23" name="Rectangle 22"/>
          <p:cNvSpPr/>
          <p:nvPr/>
        </p:nvSpPr>
        <p:spPr>
          <a:xfrm>
            <a:off x="9098280" y="5038344"/>
            <a:ext cx="8046720" cy="932688"/>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08008" y="5148072"/>
            <a:ext cx="7827264" cy="768096"/>
          </a:xfrm>
          <a:prstGeom prst="rect">
            <a:avLst/>
          </a:prstGeom>
          <a:noFill/>
        </p:spPr>
        <p:txBody>
          <a:bodyPr wrap="square" lIns="27432" rIns="27432" tIns="18288" bIns="18288">
            <a:spAutoFit/>
          </a:bodyPr>
          <a:lstStyle/>
          <a:p>
            <a:pPr>
              <a:spcAft>
                <a:spcPts val="1200"/>
              </a:spcAft>
              <a:defRPr sz="2700" b="0">
                <a:solidFill>
                  <a:srgbClr val="111511"/>
                </a:solidFill>
                <a:latin typeface="Aptos"/>
              </a:defRPr>
            </a:pPr>
            <a:r>
              <a:t>Change one factor at a time</a:t>
            </a:r>
          </a:p>
        </p:txBody>
      </p:sp>
      <p:sp>
        <p:nvSpPr>
          <p:cNvPr id="25" name="Rectangle 24"/>
          <p:cNvSpPr/>
          <p:nvPr/>
        </p:nvSpPr>
        <p:spPr>
          <a:xfrm>
            <a:off x="1051560" y="5971032"/>
            <a:ext cx="8046720" cy="932688"/>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61288" y="6080760"/>
            <a:ext cx="7827264" cy="768096"/>
          </a:xfrm>
          <a:prstGeom prst="rect">
            <a:avLst/>
          </a:prstGeom>
          <a:noFill/>
        </p:spPr>
        <p:txBody>
          <a:bodyPr wrap="square" lIns="27432" rIns="27432" tIns="18288" bIns="18288">
            <a:spAutoFit/>
          </a:bodyPr>
          <a:lstStyle/>
          <a:p>
            <a:pPr>
              <a:spcAft>
                <a:spcPts val="1200"/>
              </a:spcAft>
              <a:defRPr sz="2700" b="0">
                <a:solidFill>
                  <a:srgbClr val="111511"/>
                </a:solidFill>
                <a:latin typeface="Aptos"/>
              </a:defRPr>
            </a:pPr>
            <a:r>
              <a:t>No representation / reward ablation</a:t>
            </a:r>
          </a:p>
        </p:txBody>
      </p:sp>
      <p:sp>
        <p:nvSpPr>
          <p:cNvPr id="27" name="Rectangle 26"/>
          <p:cNvSpPr/>
          <p:nvPr/>
        </p:nvSpPr>
        <p:spPr>
          <a:xfrm>
            <a:off x="9098280" y="5971032"/>
            <a:ext cx="8046720" cy="932688"/>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08008" y="6080760"/>
            <a:ext cx="7827264" cy="768096"/>
          </a:xfrm>
          <a:prstGeom prst="rect">
            <a:avLst/>
          </a:prstGeom>
          <a:noFill/>
        </p:spPr>
        <p:txBody>
          <a:bodyPr wrap="square" lIns="27432" rIns="27432" tIns="18288" bIns="18288">
            <a:spAutoFit/>
          </a:bodyPr>
          <a:lstStyle/>
          <a:p>
            <a:pPr>
              <a:spcAft>
                <a:spcPts val="1200"/>
              </a:spcAft>
              <a:defRPr sz="2700" b="0">
                <a:solidFill>
                  <a:srgbClr val="111511"/>
                </a:solidFill>
                <a:latin typeface="Aptos"/>
              </a:defRPr>
            </a:pPr>
            <a:r>
              <a:t>Remove feature groups and shaping</a:t>
            </a:r>
          </a:p>
        </p:txBody>
      </p:sp>
      <p:sp>
        <p:nvSpPr>
          <p:cNvPr id="29" name="Rectangle 28"/>
          <p:cNvSpPr/>
          <p:nvPr/>
        </p:nvSpPr>
        <p:spPr>
          <a:xfrm>
            <a:off x="1051560" y="6903720"/>
            <a:ext cx="8046720" cy="932688"/>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61288" y="7013448"/>
            <a:ext cx="7827264" cy="768096"/>
          </a:xfrm>
          <a:prstGeom prst="rect">
            <a:avLst/>
          </a:prstGeom>
          <a:noFill/>
        </p:spPr>
        <p:txBody>
          <a:bodyPr wrap="square" lIns="27432" rIns="27432" tIns="18288" bIns="18288">
            <a:spAutoFit/>
          </a:bodyPr>
          <a:lstStyle/>
          <a:p>
            <a:pPr>
              <a:spcAft>
                <a:spcPts val="1200"/>
              </a:spcAft>
              <a:defRPr sz="2700" b="0">
                <a:solidFill>
                  <a:srgbClr val="111511"/>
                </a:solidFill>
                <a:latin typeface="Aptos"/>
              </a:defRPr>
            </a:pPr>
            <a:r>
              <a:t>Training-score checkpoint selection</a:t>
            </a:r>
          </a:p>
        </p:txBody>
      </p:sp>
      <p:sp>
        <p:nvSpPr>
          <p:cNvPr id="31" name="Rectangle 30"/>
          <p:cNvSpPr/>
          <p:nvPr/>
        </p:nvSpPr>
        <p:spPr>
          <a:xfrm>
            <a:off x="9098280" y="6903720"/>
            <a:ext cx="8046720" cy="932688"/>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08008" y="7013448"/>
            <a:ext cx="7827264" cy="768096"/>
          </a:xfrm>
          <a:prstGeom prst="rect">
            <a:avLst/>
          </a:prstGeom>
          <a:noFill/>
        </p:spPr>
        <p:txBody>
          <a:bodyPr wrap="square" lIns="27432" rIns="27432" tIns="18288" bIns="18288">
            <a:spAutoFit/>
          </a:bodyPr>
          <a:lstStyle/>
          <a:p>
            <a:pPr>
              <a:spcAft>
                <a:spcPts val="1200"/>
              </a:spcAft>
              <a:defRPr sz="2700" b="0">
                <a:solidFill>
                  <a:srgbClr val="111511"/>
                </a:solidFill>
                <a:latin typeface="Aptos"/>
              </a:defRPr>
            </a:pPr>
            <a:r>
              <a:t>Use a separate validation protocol</a:t>
            </a:r>
          </a:p>
        </p:txBody>
      </p:sp>
      <p:sp>
        <p:nvSpPr>
          <p:cNvPr id="33" name="TextBox 32"/>
          <p:cNvSpPr txBox="1"/>
          <p:nvPr/>
        </p:nvSpPr>
        <p:spPr>
          <a:xfrm>
            <a:off x="1143000" y="8046720"/>
            <a:ext cx="15910559" cy="457200"/>
          </a:xfrm>
          <a:prstGeom prst="rect">
            <a:avLst/>
          </a:prstGeom>
          <a:noFill/>
        </p:spPr>
        <p:txBody>
          <a:bodyPr wrap="square" lIns="27432" rIns="27432" tIns="18288" bIns="18288">
            <a:spAutoFit/>
          </a:bodyPr>
          <a:lstStyle/>
          <a:p>
            <a:pPr>
              <a:spcAft>
                <a:spcPts val="1200"/>
              </a:spcAft>
              <a:defRPr sz="2700" b="0">
                <a:solidFill>
                  <a:srgbClr val="111511"/>
                </a:solidFill>
                <a:latin typeface="Aptos"/>
              </a:defRPr>
            </a:pPr>
            <a:r>
              <a:t>Then compare curricula / domain randomization under equal step budgets.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788B73"/>
        </a:solidFill>
      </p:bgPr>
    </p:bg>
    <p:spTree>
      <p:nvGrpSpPr>
        <p:cNvPr id="1" name=""/>
        <p:cNvGrpSpPr/>
        <p:nvPr/>
      </p:nvGrpSpPr>
      <p:grpSpPr/>
      <p:grpSp>
        <p:nvGrpSpPr>
          <p:cNvPr name="Group 2" id="2"/>
          <p:cNvGrpSpPr/>
          <p:nvPr/>
        </p:nvGrpSpPr>
        <p:grpSpPr>
          <a:xfrm rot="0">
            <a:off x="626868" y="576026"/>
            <a:ext cx="17034264" cy="9134947"/>
            <a:chOff x="0" y="0"/>
            <a:chExt cx="4486390" cy="2405912"/>
          </a:xfrm>
        </p:grpSpPr>
        <p:sp>
          <p:nvSpPr>
            <p:cNvPr name="Freeform 3" id="3"/>
            <p:cNvSpPr/>
            <p:nvPr/>
          </p:nvSpPr>
          <p:spPr>
            <a:xfrm flipH="false" flipV="false" rot="0">
              <a:off x="0" y="0"/>
              <a:ext cx="4486390" cy="2405912"/>
            </a:xfrm>
            <a:custGeom>
              <a:avLst/>
              <a:gdLst/>
              <a:ahLst/>
              <a:cxnLst/>
              <a:rect r="r" b="b" t="t" l="l"/>
              <a:pathLst>
                <a:path h="2405912" w="4486390">
                  <a:moveTo>
                    <a:pt x="0" y="0"/>
                  </a:moveTo>
                  <a:lnTo>
                    <a:pt x="4486390" y="0"/>
                  </a:lnTo>
                  <a:lnTo>
                    <a:pt x="4486390" y="2405912"/>
                  </a:lnTo>
                  <a:lnTo>
                    <a:pt x="0" y="2405912"/>
                  </a:lnTo>
                  <a:close/>
                </a:path>
              </a:pathLst>
            </a:custGeom>
            <a:ln w="85725" cap="sq">
              <a:solidFill>
                <a:srgbClr val="000000"/>
              </a:solidFill>
              <a:prstDash val="solid"/>
              <a:miter/>
            </a:ln>
          </p:spPr>
        </p:sp>
        <p:sp>
          <p:nvSpPr>
            <p:cNvPr name="TextBox 4" id="4"/>
            <p:cNvSpPr txBox="true"/>
            <p:nvPr/>
          </p:nvSpPr>
          <p:spPr>
            <a:xfrm>
              <a:off x="0" y="-38100"/>
              <a:ext cx="4486390" cy="2444012"/>
            </a:xfrm>
            <a:prstGeom prst="rect">
              <a:avLst/>
            </a:prstGeom>
          </p:spPr>
          <p:txBody>
            <a:bodyPr anchor="ctr" rtlCol="false" tIns="50800" lIns="50800" bIns="50800" rIns="50800"/>
            <a:lstStyle/>
            <a:p>
              <a:pPr algn="ctr">
                <a:lnSpc>
                  <a:spcPts val="2659"/>
                </a:lnSpc>
              </a:pPr>
            </a:p>
          </p:txBody>
        </p:sp>
      </p:grpSp>
      <p:sp>
        <p:nvSpPr>
          <p:cNvPr id="5" name="TextBox 4"/>
          <p:cNvSpPr txBox="1"/>
          <p:nvPr/>
        </p:nvSpPr>
        <p:spPr>
          <a:xfrm>
            <a:off x="960120" y="914400"/>
            <a:ext cx="16276320" cy="731520"/>
          </a:xfrm>
          <a:prstGeom prst="rect">
            <a:avLst/>
          </a:prstGeom>
          <a:noFill/>
        </p:spPr>
        <p:txBody>
          <a:bodyPr wrap="square" lIns="27432" rIns="27432" tIns="18288" bIns="18288">
            <a:spAutoFit/>
          </a:bodyPr>
          <a:lstStyle/>
          <a:p>
            <a:pPr>
              <a:spcAft>
                <a:spcPts val="1200"/>
              </a:spcAft>
              <a:defRPr sz="4300" b="0">
                <a:solidFill>
                  <a:srgbClr val="111511"/>
                </a:solidFill>
                <a:latin typeface="Pixellance"/>
              </a:defRPr>
            </a:pPr>
            <a:r>
              <a:t>CONCLUSION</a:t>
            </a:r>
          </a:p>
        </p:txBody>
      </p:sp>
      <p:sp>
        <p:nvSpPr>
          <p:cNvPr id="6" name="TextBox 5"/>
          <p:cNvSpPr txBox="1"/>
          <p:nvPr/>
        </p:nvSpPr>
        <p:spPr>
          <a:xfrm>
            <a:off x="1005840" y="9098280"/>
            <a:ext cx="11887200" cy="320040"/>
          </a:xfrm>
          <a:prstGeom prst="rect">
            <a:avLst/>
          </a:prstGeom>
          <a:noFill/>
        </p:spPr>
        <p:txBody>
          <a:bodyPr wrap="square" lIns="27432" rIns="27432" tIns="18288" bIns="18288">
            <a:spAutoFit/>
          </a:bodyPr>
          <a:lstStyle/>
          <a:p>
            <a:pPr>
              <a:spcAft>
                <a:spcPts val="1200"/>
              </a:spcAft>
              <a:defRPr sz="1500" b="0">
                <a:solidFill>
                  <a:srgbClr val="111511"/>
                </a:solidFill>
                <a:latin typeface="Aptos"/>
              </a:defRPr>
            </a:pPr>
            <a:r>
              <a:t>SNAKE / DUELING DOUBLE DQN</a:t>
            </a:r>
          </a:p>
        </p:txBody>
      </p:sp>
      <p:sp>
        <p:nvSpPr>
          <p:cNvPr id="7" name="TextBox 6"/>
          <p:cNvSpPr txBox="1"/>
          <p:nvPr/>
        </p:nvSpPr>
        <p:spPr>
          <a:xfrm>
            <a:off x="16184880" y="9052560"/>
            <a:ext cx="914400" cy="365760"/>
          </a:xfrm>
          <a:prstGeom prst="rect">
            <a:avLst/>
          </a:prstGeom>
          <a:noFill/>
        </p:spPr>
        <p:txBody>
          <a:bodyPr wrap="square" lIns="27432" rIns="27432" tIns="18288" bIns="18288">
            <a:spAutoFit/>
          </a:bodyPr>
          <a:lstStyle/>
          <a:p>
            <a:pPr algn="r">
              <a:spcAft>
                <a:spcPts val="1200"/>
              </a:spcAft>
              <a:defRPr sz="1800" b="0">
                <a:solidFill>
                  <a:srgbClr val="111511"/>
                </a:solidFill>
                <a:latin typeface="Aptos"/>
              </a:defRPr>
            </a:pPr>
            <a:r>
              <a:t>17</a:t>
            </a:r>
          </a:p>
        </p:txBody>
      </p:sp>
      <p:sp>
        <p:nvSpPr>
          <p:cNvPr id="8" name="TextBox 7"/>
          <p:cNvSpPr txBox="1"/>
          <p:nvPr/>
        </p:nvSpPr>
        <p:spPr>
          <a:xfrm>
            <a:off x="1005840" y="8595360"/>
            <a:ext cx="16093440" cy="365760"/>
          </a:xfrm>
          <a:prstGeom prst="rect">
            <a:avLst/>
          </a:prstGeom>
          <a:noFill/>
        </p:spPr>
        <p:txBody>
          <a:bodyPr wrap="square" lIns="27432" rIns="27432" tIns="18288" bIns="18288">
            <a:spAutoFit/>
          </a:bodyPr>
          <a:lstStyle/>
          <a:p>
            <a:pPr>
              <a:spcAft>
                <a:spcPts val="1200"/>
              </a:spcAft>
              <a:defRPr sz="1500" b="0">
                <a:solidFill>
                  <a:srgbClr val="111511"/>
                </a:solidFill>
                <a:latin typeface="Aptos"/>
              </a:defRPr>
            </a:pPr>
            <a:r>
              <a:t>Source: project implementation and latex/main.tex</a:t>
            </a:r>
          </a:p>
        </p:txBody>
      </p:sp>
      <p:sp>
        <p:nvSpPr>
          <p:cNvPr id="9" name="Rectangle 8"/>
          <p:cNvSpPr/>
          <p:nvPr/>
        </p:nvSpPr>
        <p:spPr>
          <a:xfrm>
            <a:off x="1097280" y="2249424"/>
            <a:ext cx="155448" cy="155448"/>
          </a:xfrm>
          <a:prstGeom prst="rect">
            <a:avLst/>
          </a:prstGeom>
          <a:solidFill>
            <a:srgbClr val="111511"/>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08760" y="2103120"/>
            <a:ext cx="15499080" cy="1216152"/>
          </a:xfrm>
          <a:prstGeom prst="rect">
            <a:avLst/>
          </a:prstGeom>
          <a:noFill/>
        </p:spPr>
        <p:txBody>
          <a:bodyPr wrap="square" lIns="27432" rIns="27432" tIns="18288" bIns="18288">
            <a:spAutoFit/>
          </a:bodyPr>
          <a:lstStyle/>
          <a:p>
            <a:pPr>
              <a:spcAft>
                <a:spcPts val="1200"/>
              </a:spcAft>
              <a:defRPr sz="3200" b="0">
                <a:solidFill>
                  <a:srgbClr val="111511"/>
                </a:solidFill>
                <a:latin typeface="Aptos"/>
              </a:defRPr>
            </a:pPr>
            <a:r>
              <a:t>One Level-4-trained network transferred without fine-tuning.</a:t>
            </a:r>
          </a:p>
        </p:txBody>
      </p:sp>
      <p:sp>
        <p:nvSpPr>
          <p:cNvPr id="11" name="Rectangle 10"/>
          <p:cNvSpPr/>
          <p:nvPr/>
        </p:nvSpPr>
        <p:spPr>
          <a:xfrm>
            <a:off x="1097280" y="3575304"/>
            <a:ext cx="155448" cy="155448"/>
          </a:xfrm>
          <a:prstGeom prst="rect">
            <a:avLst/>
          </a:prstGeom>
          <a:solidFill>
            <a:srgbClr val="111511"/>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08760" y="3429000"/>
            <a:ext cx="15499080" cy="1216152"/>
          </a:xfrm>
          <a:prstGeom prst="rect">
            <a:avLst/>
          </a:prstGeom>
          <a:noFill/>
        </p:spPr>
        <p:txBody>
          <a:bodyPr wrap="square" lIns="27432" rIns="27432" tIns="18288" bIns="18288">
            <a:spAutoFit/>
          </a:bodyPr>
          <a:lstStyle/>
          <a:p>
            <a:pPr>
              <a:spcAft>
                <a:spcPts val="1200"/>
              </a:spcAft>
              <a:defRPr sz="3200" b="0">
                <a:solidFill>
                  <a:srgbClr val="111511"/>
                </a:solidFill>
                <a:latin typeface="Aptos"/>
              </a:defRPr>
            </a:pPr>
            <a:r>
              <a:t>Success: 100%, 97%, 93%, 74%, 54% on L1, L2, L3, L5, L6.</a:t>
            </a:r>
          </a:p>
        </p:txBody>
      </p:sp>
      <p:sp>
        <p:nvSpPr>
          <p:cNvPr id="13" name="Rectangle 12"/>
          <p:cNvSpPr/>
          <p:nvPr/>
        </p:nvSpPr>
        <p:spPr>
          <a:xfrm>
            <a:off x="1097280" y="4901183"/>
            <a:ext cx="155448" cy="155448"/>
          </a:xfrm>
          <a:prstGeom prst="rect">
            <a:avLst/>
          </a:prstGeom>
          <a:solidFill>
            <a:srgbClr val="111511"/>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08760" y="4754879"/>
            <a:ext cx="15499080" cy="1216152"/>
          </a:xfrm>
          <a:prstGeom prst="rect">
            <a:avLst/>
          </a:prstGeom>
          <a:noFill/>
        </p:spPr>
        <p:txBody>
          <a:bodyPr wrap="square" lIns="27432" rIns="27432" tIns="18288" bIns="18288">
            <a:spAutoFit/>
          </a:bodyPr>
          <a:lstStyle/>
          <a:p>
            <a:pPr>
              <a:spcAft>
                <a:spcPts val="1200"/>
              </a:spcAft>
              <a:defRPr sz="3200" b="0">
                <a:solidFill>
                  <a:srgbClr val="111511"/>
                </a:solidFill>
                <a:latin typeface="Aptos"/>
              </a:defRPr>
            </a:pPr>
            <a:r>
              <a:t>Larger unseen levels exposed high variance and timeouts.</a:t>
            </a:r>
          </a:p>
        </p:txBody>
      </p:sp>
      <p:sp>
        <p:nvSpPr>
          <p:cNvPr id="15" name="Rectangle 14"/>
          <p:cNvSpPr/>
          <p:nvPr/>
        </p:nvSpPr>
        <p:spPr>
          <a:xfrm>
            <a:off x="1097280" y="6227064"/>
            <a:ext cx="155448" cy="155448"/>
          </a:xfrm>
          <a:prstGeom prst="rect">
            <a:avLst/>
          </a:prstGeom>
          <a:solidFill>
            <a:srgbClr val="111511"/>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08760" y="6080759"/>
            <a:ext cx="15499080" cy="1216152"/>
          </a:xfrm>
          <a:prstGeom prst="rect">
            <a:avLst/>
          </a:prstGeom>
          <a:noFill/>
        </p:spPr>
        <p:txBody>
          <a:bodyPr wrap="square" lIns="27432" rIns="27432" tIns="18288" bIns="18288">
            <a:spAutoFit/>
          </a:bodyPr>
          <a:lstStyle/>
          <a:p>
            <a:pPr>
              <a:spcAft>
                <a:spcPts val="1200"/>
              </a:spcAft>
              <a:defRPr sz="3200" b="0">
                <a:solidFill>
                  <a:srgbClr val="111511"/>
                </a:solidFill>
                <a:latin typeface="Aptos"/>
              </a:defRPr>
            </a:pPr>
            <a:r>
              <a:t>More training did not consistently improve cross-level success.</a:t>
            </a:r>
          </a:p>
        </p:txBody>
      </p:sp>
      <p:sp>
        <p:nvSpPr>
          <p:cNvPr id="17" name="TextBox 16"/>
          <p:cNvSpPr txBox="1"/>
          <p:nvPr/>
        </p:nvSpPr>
        <p:spPr>
          <a:xfrm>
            <a:off x="1143000" y="7726679"/>
            <a:ext cx="15910559" cy="594360"/>
          </a:xfrm>
          <a:prstGeom prst="rect">
            <a:avLst/>
          </a:prstGeom>
          <a:noFill/>
        </p:spPr>
        <p:txBody>
          <a:bodyPr wrap="square" lIns="27432" rIns="27432" tIns="18288" bIns="18288">
            <a:spAutoFit/>
          </a:bodyPr>
          <a:lstStyle/>
          <a:p>
            <a:pPr>
              <a:spcAft>
                <a:spcPts val="1200"/>
              </a:spcAft>
              <a:defRPr sz="3300" b="1">
                <a:solidFill>
                  <a:srgbClr val="111511"/>
                </a:solidFill>
                <a:latin typeface="Aptos"/>
              </a:defRPr>
            </a:pPr>
            <a:r>
              <a:t>Substantial transfer within this suite — incomplete robustness.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788B73"/>
        </a:solidFill>
      </p:bgPr>
    </p:bg>
    <p:spTree>
      <p:nvGrpSpPr>
        <p:cNvPr id="1" name=""/>
        <p:cNvGrpSpPr/>
        <p:nvPr/>
      </p:nvGrpSpPr>
      <p:grpSpPr/>
      <p:grpSp>
        <p:nvGrpSpPr>
          <p:cNvPr name="Group 2" id="2"/>
          <p:cNvGrpSpPr/>
          <p:nvPr/>
        </p:nvGrpSpPr>
        <p:grpSpPr>
          <a:xfrm rot="0">
            <a:off x="626868" y="576026"/>
            <a:ext cx="17034264" cy="9134947"/>
            <a:chOff x="0" y="0"/>
            <a:chExt cx="4486390" cy="2405912"/>
          </a:xfrm>
        </p:grpSpPr>
        <p:sp>
          <p:nvSpPr>
            <p:cNvPr name="Freeform 3" id="3"/>
            <p:cNvSpPr/>
            <p:nvPr/>
          </p:nvSpPr>
          <p:spPr>
            <a:xfrm flipH="false" flipV="false" rot="0">
              <a:off x="0" y="0"/>
              <a:ext cx="4486390" cy="2405912"/>
            </a:xfrm>
            <a:custGeom>
              <a:avLst/>
              <a:gdLst/>
              <a:ahLst/>
              <a:cxnLst/>
              <a:rect r="r" b="b" t="t" l="l"/>
              <a:pathLst>
                <a:path h="2405912" w="4486390">
                  <a:moveTo>
                    <a:pt x="0" y="0"/>
                  </a:moveTo>
                  <a:lnTo>
                    <a:pt x="4486390" y="0"/>
                  </a:lnTo>
                  <a:lnTo>
                    <a:pt x="4486390" y="2405912"/>
                  </a:lnTo>
                  <a:lnTo>
                    <a:pt x="0" y="2405912"/>
                  </a:lnTo>
                  <a:close/>
                </a:path>
              </a:pathLst>
            </a:custGeom>
            <a:ln w="85725" cap="sq">
              <a:solidFill>
                <a:srgbClr val="000000"/>
              </a:solidFill>
              <a:prstDash val="solid"/>
              <a:miter/>
            </a:ln>
          </p:spPr>
        </p:sp>
        <p:sp>
          <p:nvSpPr>
            <p:cNvPr name="TextBox 4" id="4"/>
            <p:cNvSpPr txBox="true"/>
            <p:nvPr/>
          </p:nvSpPr>
          <p:spPr>
            <a:xfrm>
              <a:off x="0" y="-38100"/>
              <a:ext cx="4486390" cy="2444012"/>
            </a:xfrm>
            <a:prstGeom prst="rect">
              <a:avLst/>
            </a:prstGeom>
          </p:spPr>
          <p:txBody>
            <a:bodyPr anchor="ctr" rtlCol="false" tIns="50800" lIns="50800" bIns="50800" rIns="50800"/>
            <a:lstStyle/>
            <a:p>
              <a:pPr algn="ctr">
                <a:lnSpc>
                  <a:spcPts val="2659"/>
                </a:lnSpc>
              </a:pPr>
            </a:p>
          </p:txBody>
        </p:sp>
      </p:grpSp>
      <p:sp>
        <p:nvSpPr>
          <p:cNvPr id="5" name="TextBox 4"/>
          <p:cNvSpPr txBox="1"/>
          <p:nvPr/>
        </p:nvSpPr>
        <p:spPr>
          <a:xfrm>
            <a:off x="960120" y="914400"/>
            <a:ext cx="16276320" cy="731520"/>
          </a:xfrm>
          <a:prstGeom prst="rect">
            <a:avLst/>
          </a:prstGeom>
          <a:noFill/>
        </p:spPr>
        <p:txBody>
          <a:bodyPr wrap="square" lIns="27432" rIns="27432" tIns="18288" bIns="18288">
            <a:spAutoFit/>
          </a:bodyPr>
          <a:lstStyle/>
          <a:p>
            <a:pPr>
              <a:spcAft>
                <a:spcPts val="1200"/>
              </a:spcAft>
              <a:defRPr sz="4300" b="0">
                <a:solidFill>
                  <a:srgbClr val="111511"/>
                </a:solidFill>
                <a:latin typeface="Pixellance"/>
              </a:defRPr>
            </a:pPr>
            <a:r>
              <a:t>SELECTED REFERENCES</a:t>
            </a:r>
          </a:p>
        </p:txBody>
      </p:sp>
      <p:sp>
        <p:nvSpPr>
          <p:cNvPr id="6" name="TextBox 5"/>
          <p:cNvSpPr txBox="1"/>
          <p:nvPr/>
        </p:nvSpPr>
        <p:spPr>
          <a:xfrm>
            <a:off x="1005840" y="9098280"/>
            <a:ext cx="11887200" cy="320040"/>
          </a:xfrm>
          <a:prstGeom prst="rect">
            <a:avLst/>
          </a:prstGeom>
          <a:noFill/>
        </p:spPr>
        <p:txBody>
          <a:bodyPr wrap="square" lIns="27432" rIns="27432" tIns="18288" bIns="18288">
            <a:spAutoFit/>
          </a:bodyPr>
          <a:lstStyle/>
          <a:p>
            <a:pPr>
              <a:spcAft>
                <a:spcPts val="1200"/>
              </a:spcAft>
              <a:defRPr sz="1500" b="0">
                <a:solidFill>
                  <a:srgbClr val="111511"/>
                </a:solidFill>
                <a:latin typeface="Aptos"/>
              </a:defRPr>
            </a:pPr>
            <a:r>
              <a:t>SNAKE / DUELING DOUBLE DQN</a:t>
            </a:r>
          </a:p>
        </p:txBody>
      </p:sp>
      <p:sp>
        <p:nvSpPr>
          <p:cNvPr id="7" name="TextBox 6"/>
          <p:cNvSpPr txBox="1"/>
          <p:nvPr/>
        </p:nvSpPr>
        <p:spPr>
          <a:xfrm>
            <a:off x="16184880" y="9052560"/>
            <a:ext cx="914400" cy="365760"/>
          </a:xfrm>
          <a:prstGeom prst="rect">
            <a:avLst/>
          </a:prstGeom>
          <a:noFill/>
        </p:spPr>
        <p:txBody>
          <a:bodyPr wrap="square" lIns="27432" rIns="27432" tIns="18288" bIns="18288">
            <a:spAutoFit/>
          </a:bodyPr>
          <a:lstStyle/>
          <a:p>
            <a:pPr algn="r">
              <a:spcAft>
                <a:spcPts val="1200"/>
              </a:spcAft>
              <a:defRPr sz="1800" b="0">
                <a:solidFill>
                  <a:srgbClr val="111511"/>
                </a:solidFill>
                <a:latin typeface="Aptos"/>
              </a:defRPr>
            </a:pPr>
            <a:r>
              <a:t>18</a:t>
            </a:r>
          </a:p>
        </p:txBody>
      </p:sp>
      <p:sp>
        <p:nvSpPr>
          <p:cNvPr id="8" name="TextBox 7"/>
          <p:cNvSpPr txBox="1"/>
          <p:nvPr/>
        </p:nvSpPr>
        <p:spPr>
          <a:xfrm>
            <a:off x="1005840" y="8595360"/>
            <a:ext cx="16093440" cy="365760"/>
          </a:xfrm>
          <a:prstGeom prst="rect">
            <a:avLst/>
          </a:prstGeom>
          <a:noFill/>
        </p:spPr>
        <p:txBody>
          <a:bodyPr wrap="square" lIns="27432" rIns="27432" tIns="18288" bIns="18288">
            <a:spAutoFit/>
          </a:bodyPr>
          <a:lstStyle/>
          <a:p>
            <a:pPr>
              <a:spcAft>
                <a:spcPts val="1200"/>
              </a:spcAft>
              <a:defRPr sz="1500" b="0">
                <a:solidFill>
                  <a:srgbClr val="111511"/>
                </a:solidFill>
                <a:latin typeface="Aptos"/>
              </a:defRPr>
            </a:pPr>
            <a:r>
              <a:t>Full bibliographic entries and links: latex/references.bib</a:t>
            </a:r>
          </a:p>
        </p:txBody>
      </p:sp>
      <p:sp>
        <p:nvSpPr>
          <p:cNvPr id="9" name="Rectangle 8"/>
          <p:cNvSpPr/>
          <p:nvPr/>
        </p:nvSpPr>
        <p:spPr>
          <a:xfrm>
            <a:off x="1097280" y="2249424"/>
            <a:ext cx="155448" cy="155448"/>
          </a:xfrm>
          <a:prstGeom prst="rect">
            <a:avLst/>
          </a:prstGeom>
          <a:solidFill>
            <a:srgbClr val="111511"/>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08760" y="2103120"/>
            <a:ext cx="15499080" cy="987552"/>
          </a:xfrm>
          <a:prstGeom prst="rect">
            <a:avLst/>
          </a:prstGeom>
          <a:noFill/>
        </p:spPr>
        <p:txBody>
          <a:bodyPr wrap="square" lIns="27432" rIns="27432" tIns="18288" bIns="18288">
            <a:spAutoFit/>
          </a:bodyPr>
          <a:lstStyle/>
          <a:p>
            <a:pPr>
              <a:spcAft>
                <a:spcPts val="1200"/>
              </a:spcAft>
              <a:defRPr sz="2700" b="0">
                <a:solidFill>
                  <a:srgbClr val="111511"/>
                </a:solidFill>
                <a:latin typeface="Aptos"/>
              </a:defRPr>
            </a:pPr>
            <a:r>
              <a:t>Mnih et al. (2015). Human-Level Control through Deep Reinforcement Learning. Nature.</a:t>
            </a:r>
          </a:p>
        </p:txBody>
      </p:sp>
      <p:sp>
        <p:nvSpPr>
          <p:cNvPr id="11" name="Rectangle 10"/>
          <p:cNvSpPr/>
          <p:nvPr/>
        </p:nvSpPr>
        <p:spPr>
          <a:xfrm>
            <a:off x="1097280" y="3346704"/>
            <a:ext cx="155448" cy="155448"/>
          </a:xfrm>
          <a:prstGeom prst="rect">
            <a:avLst/>
          </a:prstGeom>
          <a:solidFill>
            <a:srgbClr val="111511"/>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08760" y="3200400"/>
            <a:ext cx="15499080" cy="987552"/>
          </a:xfrm>
          <a:prstGeom prst="rect">
            <a:avLst/>
          </a:prstGeom>
          <a:noFill/>
        </p:spPr>
        <p:txBody>
          <a:bodyPr wrap="square" lIns="27432" rIns="27432" tIns="18288" bIns="18288">
            <a:spAutoFit/>
          </a:bodyPr>
          <a:lstStyle/>
          <a:p>
            <a:pPr>
              <a:spcAft>
                <a:spcPts val="1200"/>
              </a:spcAft>
              <a:defRPr sz="2700" b="0">
                <a:solidFill>
                  <a:srgbClr val="111511"/>
                </a:solidFill>
                <a:latin typeface="Aptos"/>
              </a:defRPr>
            </a:pPr>
            <a:r>
              <a:t>van Hasselt et al. (2016). Deep Reinforcement Learning with Double Q-Learning. AAAI.</a:t>
            </a:r>
          </a:p>
        </p:txBody>
      </p:sp>
      <p:sp>
        <p:nvSpPr>
          <p:cNvPr id="13" name="Rectangle 12"/>
          <p:cNvSpPr/>
          <p:nvPr/>
        </p:nvSpPr>
        <p:spPr>
          <a:xfrm>
            <a:off x="1097280" y="4443983"/>
            <a:ext cx="155448" cy="155448"/>
          </a:xfrm>
          <a:prstGeom prst="rect">
            <a:avLst/>
          </a:prstGeom>
          <a:solidFill>
            <a:srgbClr val="111511"/>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08760" y="4297679"/>
            <a:ext cx="15499080" cy="987552"/>
          </a:xfrm>
          <a:prstGeom prst="rect">
            <a:avLst/>
          </a:prstGeom>
          <a:noFill/>
        </p:spPr>
        <p:txBody>
          <a:bodyPr wrap="square" lIns="27432" rIns="27432" tIns="18288" bIns="18288">
            <a:spAutoFit/>
          </a:bodyPr>
          <a:lstStyle/>
          <a:p>
            <a:pPr>
              <a:spcAft>
                <a:spcPts val="1200"/>
              </a:spcAft>
              <a:defRPr sz="2700" b="0">
                <a:solidFill>
                  <a:srgbClr val="111511"/>
                </a:solidFill>
                <a:latin typeface="Aptos"/>
              </a:defRPr>
            </a:pPr>
            <a:r>
              <a:t>Wang et al. (2016). Dueling Network Architectures for Deep Reinforcement Learning. ICML.</a:t>
            </a:r>
          </a:p>
        </p:txBody>
      </p:sp>
      <p:sp>
        <p:nvSpPr>
          <p:cNvPr id="15" name="Rectangle 14"/>
          <p:cNvSpPr/>
          <p:nvPr/>
        </p:nvSpPr>
        <p:spPr>
          <a:xfrm>
            <a:off x="1097280" y="5541264"/>
            <a:ext cx="155448" cy="155448"/>
          </a:xfrm>
          <a:prstGeom prst="rect">
            <a:avLst/>
          </a:prstGeom>
          <a:solidFill>
            <a:srgbClr val="111511"/>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08760" y="5394959"/>
            <a:ext cx="15499080" cy="987552"/>
          </a:xfrm>
          <a:prstGeom prst="rect">
            <a:avLst/>
          </a:prstGeom>
          <a:noFill/>
        </p:spPr>
        <p:txBody>
          <a:bodyPr wrap="square" lIns="27432" rIns="27432" tIns="18288" bIns="18288">
            <a:spAutoFit/>
          </a:bodyPr>
          <a:lstStyle/>
          <a:p>
            <a:pPr>
              <a:spcAft>
                <a:spcPts val="1200"/>
              </a:spcAft>
              <a:defRPr sz="2700" b="0">
                <a:solidFill>
                  <a:srgbClr val="111511"/>
                </a:solidFill>
                <a:latin typeface="Aptos"/>
              </a:defRPr>
            </a:pPr>
            <a:r>
              <a:t>Cobbe et al. (2019). Quantifying Generalization in Reinforcement Learning. ICML.</a:t>
            </a:r>
          </a:p>
        </p:txBody>
      </p:sp>
      <p:sp>
        <p:nvSpPr>
          <p:cNvPr id="17" name="Rectangle 16"/>
          <p:cNvSpPr/>
          <p:nvPr/>
        </p:nvSpPr>
        <p:spPr>
          <a:xfrm>
            <a:off x="1097280" y="6638544"/>
            <a:ext cx="155448" cy="155448"/>
          </a:xfrm>
          <a:prstGeom prst="rect">
            <a:avLst/>
          </a:prstGeom>
          <a:solidFill>
            <a:srgbClr val="111511"/>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508760" y="6492240"/>
            <a:ext cx="15499080" cy="987552"/>
          </a:xfrm>
          <a:prstGeom prst="rect">
            <a:avLst/>
          </a:prstGeom>
          <a:noFill/>
        </p:spPr>
        <p:txBody>
          <a:bodyPr wrap="square" lIns="27432" rIns="27432" tIns="18288" bIns="18288">
            <a:spAutoFit/>
          </a:bodyPr>
          <a:lstStyle/>
          <a:p>
            <a:pPr>
              <a:spcAft>
                <a:spcPts val="1200"/>
              </a:spcAft>
              <a:defRPr sz="2700" b="0">
                <a:solidFill>
                  <a:srgbClr val="111511"/>
                </a:solidFill>
                <a:latin typeface="Aptos"/>
              </a:defRPr>
            </a:pPr>
            <a:r>
              <a:t>Henderson et al. (2018). Deep Reinforcement Learning That Matters. AAAI.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788B73"/>
        </a:solidFill>
      </p:bgPr>
    </p:bg>
    <p:spTree>
      <p:nvGrpSpPr>
        <p:cNvPr id="1" name=""/>
        <p:cNvGrpSpPr/>
        <p:nvPr/>
      </p:nvGrpSpPr>
      <p:grpSpPr/>
      <p:grpSp>
        <p:nvGrpSpPr>
          <p:cNvPr name="Group 2" id="2"/>
          <p:cNvGrpSpPr/>
          <p:nvPr/>
        </p:nvGrpSpPr>
        <p:grpSpPr>
          <a:xfrm rot="0">
            <a:off x="626868" y="576026"/>
            <a:ext cx="17034264" cy="9134947"/>
            <a:chOff x="0" y="0"/>
            <a:chExt cx="4486390" cy="2405912"/>
          </a:xfrm>
        </p:grpSpPr>
        <p:sp>
          <p:nvSpPr>
            <p:cNvPr name="Freeform 3" id="3"/>
            <p:cNvSpPr/>
            <p:nvPr/>
          </p:nvSpPr>
          <p:spPr>
            <a:xfrm flipH="false" flipV="false" rot="0">
              <a:off x="0" y="0"/>
              <a:ext cx="4486390" cy="2405912"/>
            </a:xfrm>
            <a:custGeom>
              <a:avLst/>
              <a:gdLst/>
              <a:ahLst/>
              <a:cxnLst/>
              <a:rect r="r" b="b" t="t" l="l"/>
              <a:pathLst>
                <a:path h="2405912" w="4486390">
                  <a:moveTo>
                    <a:pt x="0" y="0"/>
                  </a:moveTo>
                  <a:lnTo>
                    <a:pt x="4486390" y="0"/>
                  </a:lnTo>
                  <a:lnTo>
                    <a:pt x="4486390" y="2405912"/>
                  </a:lnTo>
                  <a:lnTo>
                    <a:pt x="0" y="2405912"/>
                  </a:lnTo>
                  <a:close/>
                </a:path>
              </a:pathLst>
            </a:custGeom>
            <a:ln w="85725" cap="sq">
              <a:solidFill>
                <a:srgbClr val="000000"/>
              </a:solidFill>
              <a:prstDash val="solid"/>
              <a:miter/>
            </a:ln>
          </p:spPr>
        </p:sp>
        <p:sp>
          <p:nvSpPr>
            <p:cNvPr name="TextBox 4" id="4"/>
            <p:cNvSpPr txBox="true"/>
            <p:nvPr/>
          </p:nvSpPr>
          <p:spPr>
            <a:xfrm>
              <a:off x="0" y="-38100"/>
              <a:ext cx="4486390" cy="244401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5072932" y="6212540"/>
            <a:ext cx="597218" cy="596925"/>
            <a:chOff x="0" y="0"/>
            <a:chExt cx="796290" cy="795899"/>
          </a:xfrm>
        </p:grpSpPr>
        <p:grpSp>
          <p:nvGrpSpPr>
            <p:cNvPr name="Group 6" id="6"/>
            <p:cNvGrpSpPr/>
            <p:nvPr/>
          </p:nvGrpSpPr>
          <p:grpSpPr>
            <a:xfrm rot="0">
              <a:off x="0" y="265300"/>
              <a:ext cx="265430" cy="265300"/>
              <a:chOff x="0" y="0"/>
              <a:chExt cx="102566" cy="102516"/>
            </a:xfrm>
          </p:grpSpPr>
          <p:sp>
            <p:nvSpPr>
              <p:cNvPr name="Freeform 7" id="7"/>
              <p:cNvSpPr/>
              <p:nvPr/>
            </p:nvSpPr>
            <p:spPr>
              <a:xfrm flipH="false" flipV="false" rot="0">
                <a:off x="0" y="0"/>
                <a:ext cx="102566" cy="102516"/>
              </a:xfrm>
              <a:custGeom>
                <a:avLst/>
                <a:gdLst/>
                <a:ahLst/>
                <a:cxnLst/>
                <a:rect r="r" b="b" t="t" l="l"/>
                <a:pathLst>
                  <a:path h="102516" w="102566">
                    <a:moveTo>
                      <a:pt x="0" y="0"/>
                    </a:moveTo>
                    <a:lnTo>
                      <a:pt x="102566" y="0"/>
                    </a:lnTo>
                    <a:lnTo>
                      <a:pt x="102566" y="102516"/>
                    </a:lnTo>
                    <a:lnTo>
                      <a:pt x="0" y="102516"/>
                    </a:lnTo>
                    <a:close/>
                  </a:path>
                </a:pathLst>
              </a:custGeom>
              <a:solidFill>
                <a:srgbClr val="000000"/>
              </a:solidFill>
            </p:spPr>
          </p:sp>
          <p:sp>
            <p:nvSpPr>
              <p:cNvPr name="TextBox 8" id="8"/>
              <p:cNvSpPr txBox="true"/>
              <p:nvPr/>
            </p:nvSpPr>
            <p:spPr>
              <a:xfrm>
                <a:off x="0" y="-38100"/>
                <a:ext cx="102566" cy="140616"/>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265430" y="0"/>
              <a:ext cx="265430" cy="265300"/>
              <a:chOff x="0" y="0"/>
              <a:chExt cx="102566" cy="102516"/>
            </a:xfrm>
          </p:grpSpPr>
          <p:sp>
            <p:nvSpPr>
              <p:cNvPr name="Freeform 10" id="10"/>
              <p:cNvSpPr/>
              <p:nvPr/>
            </p:nvSpPr>
            <p:spPr>
              <a:xfrm flipH="false" flipV="false" rot="0">
                <a:off x="0" y="0"/>
                <a:ext cx="102566" cy="102516"/>
              </a:xfrm>
              <a:custGeom>
                <a:avLst/>
                <a:gdLst/>
                <a:ahLst/>
                <a:cxnLst/>
                <a:rect r="r" b="b" t="t" l="l"/>
                <a:pathLst>
                  <a:path h="102516" w="102566">
                    <a:moveTo>
                      <a:pt x="0" y="0"/>
                    </a:moveTo>
                    <a:lnTo>
                      <a:pt x="102566" y="0"/>
                    </a:lnTo>
                    <a:lnTo>
                      <a:pt x="102566" y="102516"/>
                    </a:lnTo>
                    <a:lnTo>
                      <a:pt x="0" y="102516"/>
                    </a:lnTo>
                    <a:close/>
                  </a:path>
                </a:pathLst>
              </a:custGeom>
              <a:solidFill>
                <a:srgbClr val="000000"/>
              </a:solidFill>
            </p:spPr>
          </p:sp>
          <p:sp>
            <p:nvSpPr>
              <p:cNvPr name="TextBox 11" id="11"/>
              <p:cNvSpPr txBox="true"/>
              <p:nvPr/>
            </p:nvSpPr>
            <p:spPr>
              <a:xfrm>
                <a:off x="0" y="-38100"/>
                <a:ext cx="102566" cy="140616"/>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530860" y="265300"/>
              <a:ext cx="265430" cy="265300"/>
              <a:chOff x="0" y="0"/>
              <a:chExt cx="102566" cy="102516"/>
            </a:xfrm>
          </p:grpSpPr>
          <p:sp>
            <p:nvSpPr>
              <p:cNvPr name="Freeform 13" id="13"/>
              <p:cNvSpPr/>
              <p:nvPr/>
            </p:nvSpPr>
            <p:spPr>
              <a:xfrm flipH="false" flipV="false" rot="0">
                <a:off x="0" y="0"/>
                <a:ext cx="102566" cy="102516"/>
              </a:xfrm>
              <a:custGeom>
                <a:avLst/>
                <a:gdLst/>
                <a:ahLst/>
                <a:cxnLst/>
                <a:rect r="r" b="b" t="t" l="l"/>
                <a:pathLst>
                  <a:path h="102516" w="102566">
                    <a:moveTo>
                      <a:pt x="0" y="0"/>
                    </a:moveTo>
                    <a:lnTo>
                      <a:pt x="102566" y="0"/>
                    </a:lnTo>
                    <a:lnTo>
                      <a:pt x="102566" y="102516"/>
                    </a:lnTo>
                    <a:lnTo>
                      <a:pt x="0" y="102516"/>
                    </a:lnTo>
                    <a:close/>
                  </a:path>
                </a:pathLst>
              </a:custGeom>
              <a:solidFill>
                <a:srgbClr val="000000"/>
              </a:solidFill>
            </p:spPr>
          </p:sp>
          <p:sp>
            <p:nvSpPr>
              <p:cNvPr name="TextBox 14" id="14"/>
              <p:cNvSpPr txBox="true"/>
              <p:nvPr/>
            </p:nvSpPr>
            <p:spPr>
              <a:xfrm>
                <a:off x="0" y="-38100"/>
                <a:ext cx="102566" cy="140616"/>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265430" y="530600"/>
              <a:ext cx="265430" cy="265300"/>
              <a:chOff x="0" y="0"/>
              <a:chExt cx="102566" cy="102516"/>
            </a:xfrm>
          </p:grpSpPr>
          <p:sp>
            <p:nvSpPr>
              <p:cNvPr name="Freeform 16" id="16"/>
              <p:cNvSpPr/>
              <p:nvPr/>
            </p:nvSpPr>
            <p:spPr>
              <a:xfrm flipH="false" flipV="false" rot="0">
                <a:off x="0" y="0"/>
                <a:ext cx="102566" cy="102516"/>
              </a:xfrm>
              <a:custGeom>
                <a:avLst/>
                <a:gdLst/>
                <a:ahLst/>
                <a:cxnLst/>
                <a:rect r="r" b="b" t="t" l="l"/>
                <a:pathLst>
                  <a:path h="102516" w="102566">
                    <a:moveTo>
                      <a:pt x="0" y="0"/>
                    </a:moveTo>
                    <a:lnTo>
                      <a:pt x="102566" y="0"/>
                    </a:lnTo>
                    <a:lnTo>
                      <a:pt x="102566" y="102516"/>
                    </a:lnTo>
                    <a:lnTo>
                      <a:pt x="0" y="102516"/>
                    </a:lnTo>
                    <a:close/>
                  </a:path>
                </a:pathLst>
              </a:custGeom>
              <a:solidFill>
                <a:srgbClr val="000000"/>
              </a:solidFill>
            </p:spPr>
          </p:sp>
          <p:sp>
            <p:nvSpPr>
              <p:cNvPr name="TextBox 17" id="17"/>
              <p:cNvSpPr txBox="true"/>
              <p:nvPr/>
            </p:nvSpPr>
            <p:spPr>
              <a:xfrm>
                <a:off x="0" y="-38100"/>
                <a:ext cx="102566" cy="140616"/>
              </a:xfrm>
              <a:prstGeom prst="rect">
                <a:avLst/>
              </a:prstGeom>
            </p:spPr>
            <p:txBody>
              <a:bodyPr anchor="ctr" rtlCol="false" tIns="50800" lIns="50800" bIns="50800" rIns="50800"/>
              <a:lstStyle/>
              <a:p>
                <a:pPr algn="ctr">
                  <a:lnSpc>
                    <a:spcPts val="2659"/>
                  </a:lnSpc>
                </a:pPr>
              </a:p>
            </p:txBody>
          </p:sp>
        </p:grpSp>
      </p:grpSp>
      <p:sp>
        <p:nvSpPr>
          <p:cNvPr name="Freeform 18" id="18"/>
          <p:cNvSpPr/>
          <p:nvPr/>
        </p:nvSpPr>
        <p:spPr>
          <a:xfrm flipH="false" flipV="false" rot="0">
            <a:off x="869147" y="7909787"/>
            <a:ext cx="1584741" cy="1584741"/>
          </a:xfrm>
          <a:custGeom>
            <a:avLst/>
            <a:gdLst/>
            <a:ahLst/>
            <a:cxnLst/>
            <a:rect r="r" b="b" t="t" l="l"/>
            <a:pathLst>
              <a:path h="1584741" w="1584741">
                <a:moveTo>
                  <a:pt x="0" y="0"/>
                </a:moveTo>
                <a:lnTo>
                  <a:pt x="1584741" y="0"/>
                </a:lnTo>
                <a:lnTo>
                  <a:pt x="1584741" y="1584741"/>
                </a:lnTo>
                <a:lnTo>
                  <a:pt x="0" y="1584741"/>
                </a:lnTo>
                <a:lnTo>
                  <a:pt x="0" y="0"/>
                </a:lnTo>
                <a:close/>
              </a:path>
            </a:pathLst>
          </a:custGeom>
          <a:blipFill>
            <a:blip r:embed="rId2"/>
            <a:stretch>
              <a:fillRect l="0" t="0" r="0" b="0"/>
            </a:stretch>
          </a:blipFill>
        </p:spPr>
        <p:txBody>
          <a:bodyPr/>
          <a:p/>
        </p:txBody>
      </p:sp>
      <p:sp>
        <p:nvSpPr>
          <p:cNvPr name="Freeform 19" id="19"/>
          <p:cNvSpPr/>
          <p:nvPr/>
        </p:nvSpPr>
        <p:spPr>
          <a:xfrm flipH="false" flipV="false" rot="-5400000">
            <a:off x="3052870" y="8438785"/>
            <a:ext cx="521661" cy="1589824"/>
          </a:xfrm>
          <a:custGeom>
            <a:avLst/>
            <a:gdLst/>
            <a:ahLst/>
            <a:cxnLst/>
            <a:rect r="r" b="b" t="t" l="l"/>
            <a:pathLst>
              <a:path h="1589824" w="521661">
                <a:moveTo>
                  <a:pt x="0" y="0"/>
                </a:moveTo>
                <a:lnTo>
                  <a:pt x="521661" y="0"/>
                </a:lnTo>
                <a:lnTo>
                  <a:pt x="521661" y="1589824"/>
                </a:lnTo>
                <a:lnTo>
                  <a:pt x="0" y="1589824"/>
                </a:lnTo>
                <a:lnTo>
                  <a:pt x="0" y="0"/>
                </a:lnTo>
                <a:close/>
              </a:path>
            </a:pathLst>
          </a:custGeom>
          <a:blipFill>
            <a:blip r:embed="rId3"/>
            <a:stretch>
              <a:fillRect l="0" t="0" r="-100000" b="0"/>
            </a:stretch>
          </a:blipFill>
        </p:spPr>
        <p:txBody>
          <a:bodyPr/>
          <a:p/>
        </p:txBody>
      </p:sp>
      <p:sp>
        <p:nvSpPr>
          <p:cNvPr name="Freeform 20" id="20"/>
          <p:cNvSpPr/>
          <p:nvPr/>
        </p:nvSpPr>
        <p:spPr>
          <a:xfrm flipH="false" flipV="false" rot="-10800000">
            <a:off x="3614217" y="7900262"/>
            <a:ext cx="1591483" cy="1042883"/>
          </a:xfrm>
          <a:custGeom>
            <a:avLst/>
            <a:gdLst/>
            <a:ahLst/>
            <a:cxnLst/>
            <a:rect r="r" b="b" t="t" l="l"/>
            <a:pathLst>
              <a:path h="1042883" w="1591483">
                <a:moveTo>
                  <a:pt x="0" y="0"/>
                </a:moveTo>
                <a:lnTo>
                  <a:pt x="1591483" y="0"/>
                </a:lnTo>
                <a:lnTo>
                  <a:pt x="1591483" y="1042883"/>
                </a:lnTo>
                <a:lnTo>
                  <a:pt x="0" y="1042883"/>
                </a:lnTo>
                <a:lnTo>
                  <a:pt x="0" y="0"/>
                </a:lnTo>
                <a:close/>
              </a:path>
            </a:pathLst>
          </a:custGeom>
          <a:blipFill>
            <a:blip r:embed="rId4"/>
            <a:stretch>
              <a:fillRect l="0" t="0" r="0" b="0"/>
            </a:stretch>
          </a:blipFill>
        </p:spPr>
        <p:txBody>
          <a:bodyPr/>
          <a:p/>
        </p:txBody>
      </p:sp>
      <p:sp>
        <p:nvSpPr>
          <p:cNvPr name="Freeform 21" id="21"/>
          <p:cNvSpPr/>
          <p:nvPr/>
        </p:nvSpPr>
        <p:spPr>
          <a:xfrm flipH="false" flipV="false" rot="-5400000">
            <a:off x="5247008" y="8434829"/>
            <a:ext cx="524257" cy="1597736"/>
          </a:xfrm>
          <a:custGeom>
            <a:avLst/>
            <a:gdLst/>
            <a:ahLst/>
            <a:cxnLst/>
            <a:rect r="r" b="b" t="t" l="l"/>
            <a:pathLst>
              <a:path h="1597736" w="524257">
                <a:moveTo>
                  <a:pt x="0" y="0"/>
                </a:moveTo>
                <a:lnTo>
                  <a:pt x="524257" y="0"/>
                </a:lnTo>
                <a:lnTo>
                  <a:pt x="524257" y="1597736"/>
                </a:lnTo>
                <a:lnTo>
                  <a:pt x="0" y="1597736"/>
                </a:lnTo>
                <a:lnTo>
                  <a:pt x="0" y="0"/>
                </a:lnTo>
                <a:close/>
              </a:path>
            </a:pathLst>
          </a:custGeom>
          <a:blipFill>
            <a:blip r:embed="rId3"/>
            <a:stretch>
              <a:fillRect l="0" t="0" r="-100000" b="0"/>
            </a:stretch>
          </a:blipFill>
        </p:spPr>
        <p:txBody>
          <a:bodyPr/>
          <a:p/>
        </p:txBody>
      </p:sp>
      <p:sp>
        <p:nvSpPr>
          <p:cNvPr name="Freeform 22" id="22"/>
          <p:cNvSpPr/>
          <p:nvPr/>
        </p:nvSpPr>
        <p:spPr>
          <a:xfrm flipH="false" flipV="false" rot="-5400000">
            <a:off x="6911419" y="8436127"/>
            <a:ext cx="524257" cy="1597736"/>
          </a:xfrm>
          <a:custGeom>
            <a:avLst/>
            <a:gdLst/>
            <a:ahLst/>
            <a:cxnLst/>
            <a:rect r="r" b="b" t="t" l="l"/>
            <a:pathLst>
              <a:path h="1597736" w="524257">
                <a:moveTo>
                  <a:pt x="0" y="0"/>
                </a:moveTo>
                <a:lnTo>
                  <a:pt x="524257" y="0"/>
                </a:lnTo>
                <a:lnTo>
                  <a:pt x="524257" y="1597736"/>
                </a:lnTo>
                <a:lnTo>
                  <a:pt x="0" y="1597736"/>
                </a:lnTo>
                <a:lnTo>
                  <a:pt x="0" y="0"/>
                </a:lnTo>
                <a:close/>
              </a:path>
            </a:pathLst>
          </a:custGeom>
          <a:blipFill>
            <a:blip r:embed="rId3"/>
            <a:stretch>
              <a:fillRect l="0" t="0" r="-100000" b="0"/>
            </a:stretch>
          </a:blipFill>
        </p:spPr>
        <p:txBody>
          <a:bodyPr/>
          <a:p/>
        </p:txBody>
      </p:sp>
      <p:sp>
        <p:nvSpPr>
          <p:cNvPr name="Freeform 23" id="23"/>
          <p:cNvSpPr/>
          <p:nvPr/>
        </p:nvSpPr>
        <p:spPr>
          <a:xfrm flipH="false" flipV="false" rot="-5400000">
            <a:off x="8575829" y="8436127"/>
            <a:ext cx="524257" cy="1597736"/>
          </a:xfrm>
          <a:custGeom>
            <a:avLst/>
            <a:gdLst/>
            <a:ahLst/>
            <a:cxnLst/>
            <a:rect r="r" b="b" t="t" l="l"/>
            <a:pathLst>
              <a:path h="1597736" w="524257">
                <a:moveTo>
                  <a:pt x="0" y="0"/>
                </a:moveTo>
                <a:lnTo>
                  <a:pt x="524257" y="0"/>
                </a:lnTo>
                <a:lnTo>
                  <a:pt x="524257" y="1597736"/>
                </a:lnTo>
                <a:lnTo>
                  <a:pt x="0" y="1597736"/>
                </a:lnTo>
                <a:lnTo>
                  <a:pt x="0" y="0"/>
                </a:lnTo>
                <a:close/>
              </a:path>
            </a:pathLst>
          </a:custGeom>
          <a:blipFill>
            <a:blip r:embed="rId3"/>
            <a:stretch>
              <a:fillRect l="0" t="0" r="-100000" b="0"/>
            </a:stretch>
          </a:blipFill>
        </p:spPr>
        <p:txBody>
          <a:bodyPr/>
          <a:p/>
        </p:txBody>
      </p:sp>
      <p:sp>
        <p:nvSpPr>
          <p:cNvPr name="Freeform 24" id="24"/>
          <p:cNvSpPr/>
          <p:nvPr/>
        </p:nvSpPr>
        <p:spPr>
          <a:xfrm flipH="false" flipV="false" rot="-5400000">
            <a:off x="10240240" y="8437425"/>
            <a:ext cx="524257" cy="1597736"/>
          </a:xfrm>
          <a:custGeom>
            <a:avLst/>
            <a:gdLst/>
            <a:ahLst/>
            <a:cxnLst/>
            <a:rect r="r" b="b" t="t" l="l"/>
            <a:pathLst>
              <a:path h="1597736" w="524257">
                <a:moveTo>
                  <a:pt x="0" y="0"/>
                </a:moveTo>
                <a:lnTo>
                  <a:pt x="524257" y="0"/>
                </a:lnTo>
                <a:lnTo>
                  <a:pt x="524257" y="1597736"/>
                </a:lnTo>
                <a:lnTo>
                  <a:pt x="0" y="1597736"/>
                </a:lnTo>
                <a:lnTo>
                  <a:pt x="0" y="0"/>
                </a:lnTo>
                <a:close/>
              </a:path>
            </a:pathLst>
          </a:custGeom>
          <a:blipFill>
            <a:blip r:embed="rId3"/>
            <a:stretch>
              <a:fillRect l="0" t="0" r="-100000" b="0"/>
            </a:stretch>
          </a:blipFill>
        </p:spPr>
        <p:txBody>
          <a:bodyPr/>
          <a:p/>
        </p:txBody>
      </p:sp>
      <p:sp>
        <p:nvSpPr>
          <p:cNvPr name="Freeform 25" id="25"/>
          <p:cNvSpPr/>
          <p:nvPr/>
        </p:nvSpPr>
        <p:spPr>
          <a:xfrm flipH="false" flipV="false" rot="0">
            <a:off x="869147" y="6818990"/>
            <a:ext cx="1584741" cy="1038659"/>
          </a:xfrm>
          <a:custGeom>
            <a:avLst/>
            <a:gdLst/>
            <a:ahLst/>
            <a:cxnLst/>
            <a:rect r="r" b="b" t="t" l="l"/>
            <a:pathLst>
              <a:path h="1038659" w="1584741">
                <a:moveTo>
                  <a:pt x="0" y="0"/>
                </a:moveTo>
                <a:lnTo>
                  <a:pt x="1584741" y="0"/>
                </a:lnTo>
                <a:lnTo>
                  <a:pt x="1584741" y="1038659"/>
                </a:lnTo>
                <a:lnTo>
                  <a:pt x="0" y="1038659"/>
                </a:lnTo>
                <a:lnTo>
                  <a:pt x="0" y="0"/>
                </a:lnTo>
                <a:close/>
              </a:path>
            </a:pathLst>
          </a:custGeom>
          <a:blipFill>
            <a:blip r:embed="rId5"/>
            <a:stretch>
              <a:fillRect l="0" t="0" r="0" b="0"/>
            </a:stretch>
          </a:blipFill>
        </p:spPr>
        <p:txBody>
          <a:bodyPr/>
          <a:p/>
        </p:txBody>
      </p:sp>
      <p:sp>
        <p:nvSpPr>
          <p:cNvPr name="Freeform 27" id="27"/>
          <p:cNvSpPr/>
          <p:nvPr/>
        </p:nvSpPr>
        <p:spPr>
          <a:xfrm flipH="false" flipV="false" rot="-5400000">
            <a:off x="11904651" y="8437425"/>
            <a:ext cx="524257" cy="1597736"/>
          </a:xfrm>
          <a:custGeom>
            <a:avLst/>
            <a:gdLst/>
            <a:ahLst/>
            <a:cxnLst/>
            <a:rect r="r" b="b" t="t" l="l"/>
            <a:pathLst>
              <a:path h="1597736" w="524257">
                <a:moveTo>
                  <a:pt x="0" y="0"/>
                </a:moveTo>
                <a:lnTo>
                  <a:pt x="524257" y="0"/>
                </a:lnTo>
                <a:lnTo>
                  <a:pt x="524257" y="1597736"/>
                </a:lnTo>
                <a:lnTo>
                  <a:pt x="0" y="1597736"/>
                </a:lnTo>
                <a:lnTo>
                  <a:pt x="0" y="0"/>
                </a:lnTo>
                <a:close/>
              </a:path>
            </a:pathLst>
          </a:custGeom>
          <a:blipFill>
            <a:blip r:embed="rId3"/>
            <a:stretch>
              <a:fillRect l="0" t="0" r="-100000" b="0"/>
            </a:stretch>
          </a:blipFill>
        </p:spPr>
        <p:txBody>
          <a:bodyPr/>
          <a:p/>
        </p:txBody>
      </p:sp>
      <p:sp>
        <p:nvSpPr>
          <p:cNvPr name="Freeform 28" id="28"/>
          <p:cNvSpPr/>
          <p:nvPr/>
        </p:nvSpPr>
        <p:spPr>
          <a:xfrm flipH="false" flipV="false" rot="-5400000">
            <a:off x="13569061" y="8438723"/>
            <a:ext cx="524257" cy="1597736"/>
          </a:xfrm>
          <a:custGeom>
            <a:avLst/>
            <a:gdLst/>
            <a:ahLst/>
            <a:cxnLst/>
            <a:rect r="r" b="b" t="t" l="l"/>
            <a:pathLst>
              <a:path h="1597736" w="524257">
                <a:moveTo>
                  <a:pt x="0" y="0"/>
                </a:moveTo>
                <a:lnTo>
                  <a:pt x="524257" y="0"/>
                </a:lnTo>
                <a:lnTo>
                  <a:pt x="524257" y="1597736"/>
                </a:lnTo>
                <a:lnTo>
                  <a:pt x="0" y="1597736"/>
                </a:lnTo>
                <a:lnTo>
                  <a:pt x="0" y="0"/>
                </a:lnTo>
                <a:close/>
              </a:path>
            </a:pathLst>
          </a:custGeom>
          <a:blipFill>
            <a:blip r:embed="rId3"/>
            <a:stretch>
              <a:fillRect l="0" t="0" r="-100000" b="0"/>
            </a:stretch>
          </a:blipFill>
        </p:spPr>
        <p:txBody>
          <a:bodyPr/>
          <a:p/>
        </p:txBody>
      </p:sp>
      <p:sp>
        <p:nvSpPr>
          <p:cNvPr name="Freeform 29" id="29"/>
          <p:cNvSpPr/>
          <p:nvPr/>
        </p:nvSpPr>
        <p:spPr>
          <a:xfrm flipH="false" flipV="false" rot="-5400000">
            <a:off x="15233472" y="8438723"/>
            <a:ext cx="524257" cy="1597736"/>
          </a:xfrm>
          <a:custGeom>
            <a:avLst/>
            <a:gdLst/>
            <a:ahLst/>
            <a:cxnLst/>
            <a:rect r="r" b="b" t="t" l="l"/>
            <a:pathLst>
              <a:path h="1597736" w="524257">
                <a:moveTo>
                  <a:pt x="0" y="0"/>
                </a:moveTo>
                <a:lnTo>
                  <a:pt x="524257" y="0"/>
                </a:lnTo>
                <a:lnTo>
                  <a:pt x="524257" y="1597736"/>
                </a:lnTo>
                <a:lnTo>
                  <a:pt x="0" y="1597736"/>
                </a:lnTo>
                <a:lnTo>
                  <a:pt x="0" y="0"/>
                </a:lnTo>
                <a:close/>
              </a:path>
            </a:pathLst>
          </a:custGeom>
          <a:blipFill>
            <a:blip r:embed="rId3"/>
            <a:stretch>
              <a:fillRect l="0" t="0" r="-100000" b="0"/>
            </a:stretch>
          </a:blipFill>
        </p:spPr>
        <p:txBody>
          <a:bodyPr/>
          <a:p/>
        </p:txBody>
      </p:sp>
      <p:sp>
        <p:nvSpPr>
          <p:cNvPr name="Freeform 30" id="30"/>
          <p:cNvSpPr/>
          <p:nvPr/>
        </p:nvSpPr>
        <p:spPr>
          <a:xfrm flipH="false" flipV="true" rot="-5400000">
            <a:off x="16088103" y="8182827"/>
            <a:ext cx="1584741" cy="1038659"/>
          </a:xfrm>
          <a:custGeom>
            <a:avLst/>
            <a:gdLst/>
            <a:ahLst/>
            <a:cxnLst/>
            <a:rect r="r" b="b" t="t" l="l"/>
            <a:pathLst>
              <a:path h="1038659" w="1584741">
                <a:moveTo>
                  <a:pt x="0" y="1038660"/>
                </a:moveTo>
                <a:lnTo>
                  <a:pt x="1584741" y="1038660"/>
                </a:lnTo>
                <a:lnTo>
                  <a:pt x="1584741" y="0"/>
                </a:lnTo>
                <a:lnTo>
                  <a:pt x="0" y="0"/>
                </a:lnTo>
                <a:lnTo>
                  <a:pt x="0" y="1038660"/>
                </a:lnTo>
                <a:close/>
              </a:path>
            </a:pathLst>
          </a:custGeom>
          <a:blipFill>
            <a:blip r:embed="rId5"/>
            <a:stretch>
              <a:fillRect l="0" t="0" r="0" b="0"/>
            </a:stretch>
          </a:blipFill>
        </p:spPr>
        <p:txBody>
          <a:bodyPr/>
          <a:p/>
        </p:txBody>
      </p:sp>
      <p:sp>
        <p:nvSpPr>
          <p:cNvPr name="Freeform 31" id="31"/>
          <p:cNvSpPr/>
          <p:nvPr/>
        </p:nvSpPr>
        <p:spPr>
          <a:xfrm flipH="true" flipV="true" rot="-5400000">
            <a:off x="16088103" y="6545949"/>
            <a:ext cx="1584741" cy="1038659"/>
          </a:xfrm>
          <a:custGeom>
            <a:avLst/>
            <a:gdLst/>
            <a:ahLst/>
            <a:cxnLst/>
            <a:rect r="r" b="b" t="t" l="l"/>
            <a:pathLst>
              <a:path h="1038659" w="1584741">
                <a:moveTo>
                  <a:pt x="1584741" y="1038659"/>
                </a:moveTo>
                <a:lnTo>
                  <a:pt x="0" y="1038659"/>
                </a:lnTo>
                <a:lnTo>
                  <a:pt x="0" y="0"/>
                </a:lnTo>
                <a:lnTo>
                  <a:pt x="1584741" y="0"/>
                </a:lnTo>
                <a:lnTo>
                  <a:pt x="1584741" y="1038659"/>
                </a:lnTo>
                <a:close/>
              </a:path>
            </a:pathLst>
          </a:custGeom>
          <a:blipFill>
            <a:blip r:embed="rId5"/>
            <a:stretch>
              <a:fillRect l="0" t="0" r="0" b="0"/>
            </a:stretch>
          </a:blipFill>
        </p:spPr>
        <p:txBody>
          <a:bodyPr/>
          <a:p/>
        </p:txBody>
      </p:sp>
      <p:sp>
        <p:nvSpPr>
          <p:cNvPr id="32" name="Rectangle 31"/>
          <p:cNvSpPr/>
          <p:nvPr/>
        </p:nvSpPr>
        <p:spPr>
          <a:xfrm>
            <a:off x="3200400" y="2468880"/>
            <a:ext cx="11887200" cy="4937760"/>
          </a:xfrm>
          <a:prstGeom prst="rect">
            <a:avLst/>
          </a:prstGeom>
          <a:solidFill>
            <a:srgbClr val="788B73"/>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840480" y="3200400"/>
            <a:ext cx="10607040" cy="1371600"/>
          </a:xfrm>
          <a:prstGeom prst="rect">
            <a:avLst/>
          </a:prstGeom>
          <a:noFill/>
        </p:spPr>
        <p:txBody>
          <a:bodyPr wrap="square" lIns="27432" rIns="27432" tIns="18288" bIns="18288">
            <a:spAutoFit/>
          </a:bodyPr>
          <a:lstStyle/>
          <a:p>
            <a:pPr algn="ctr">
              <a:spcAft>
                <a:spcPts val="1200"/>
              </a:spcAft>
              <a:defRPr sz="7800" b="0">
                <a:solidFill>
                  <a:srgbClr val="111511"/>
                </a:solidFill>
                <a:latin typeface="Pixellance"/>
              </a:defRPr>
            </a:pPr>
            <a:r>
              <a:t>THANK YOU</a:t>
            </a:r>
          </a:p>
        </p:txBody>
      </p:sp>
      <p:sp>
        <p:nvSpPr>
          <p:cNvPr id="34" name="TextBox 33"/>
          <p:cNvSpPr txBox="1"/>
          <p:nvPr/>
        </p:nvSpPr>
        <p:spPr>
          <a:xfrm>
            <a:off x="3840480" y="5029200"/>
            <a:ext cx="10607040" cy="914400"/>
          </a:xfrm>
          <a:prstGeom prst="rect">
            <a:avLst/>
          </a:prstGeom>
          <a:noFill/>
        </p:spPr>
        <p:txBody>
          <a:bodyPr wrap="square" lIns="27432" rIns="27432" tIns="18288" bIns="18288">
            <a:spAutoFit/>
          </a:bodyPr>
          <a:lstStyle/>
          <a:p>
            <a:pPr algn="ctr">
              <a:spcAft>
                <a:spcPts val="1200"/>
              </a:spcAft>
              <a:defRPr sz="5800" b="0">
                <a:solidFill>
                  <a:srgbClr val="111511"/>
                </a:solidFill>
                <a:latin typeface="Pixellance"/>
              </a:defRPr>
            </a:pPr>
            <a:r>
              <a:t>QUESTIONS?</a:t>
            </a:r>
          </a:p>
        </p:txBody>
      </p:sp>
      <p:sp>
        <p:nvSpPr>
          <p:cNvPr id="35" name="TextBox 34"/>
          <p:cNvSpPr txBox="1"/>
          <p:nvPr/>
        </p:nvSpPr>
        <p:spPr>
          <a:xfrm>
            <a:off x="3840480" y="6400800"/>
            <a:ext cx="10607040" cy="548640"/>
          </a:xfrm>
          <a:prstGeom prst="rect">
            <a:avLst/>
          </a:prstGeom>
          <a:noFill/>
        </p:spPr>
        <p:txBody>
          <a:bodyPr wrap="square" lIns="27432" rIns="27432" tIns="18288" bIns="18288">
            <a:spAutoFit/>
          </a:bodyPr>
          <a:lstStyle/>
          <a:p>
            <a:pPr algn="ctr">
              <a:spcAft>
                <a:spcPts val="1200"/>
              </a:spcAft>
              <a:defRPr sz="2400" b="0">
                <a:solidFill>
                  <a:srgbClr val="111511"/>
                </a:solidFill>
                <a:latin typeface="Aptos"/>
              </a:defRPr>
            </a:pPr>
            <a:r>
              <a:t>One source level. Five unseen tests. Measured transfer.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788B73"/>
        </a:solidFill>
      </p:bgPr>
    </p:bg>
    <p:spTree>
      <p:nvGrpSpPr>
        <p:cNvPr id="1" name=""/>
        <p:cNvGrpSpPr/>
        <p:nvPr/>
      </p:nvGrpSpPr>
      <p:grpSpPr/>
      <p:grpSp>
        <p:nvGrpSpPr>
          <p:cNvPr name="Group 2" id="2"/>
          <p:cNvGrpSpPr/>
          <p:nvPr/>
        </p:nvGrpSpPr>
        <p:grpSpPr>
          <a:xfrm rot="0">
            <a:off x="626868" y="576026"/>
            <a:ext cx="17034264" cy="9134947"/>
            <a:chOff x="0" y="0"/>
            <a:chExt cx="4486390" cy="2405912"/>
          </a:xfrm>
        </p:grpSpPr>
        <p:sp>
          <p:nvSpPr>
            <p:cNvPr name="Freeform 3" id="3"/>
            <p:cNvSpPr/>
            <p:nvPr/>
          </p:nvSpPr>
          <p:spPr>
            <a:xfrm flipH="false" flipV="false" rot="0">
              <a:off x="0" y="0"/>
              <a:ext cx="4486390" cy="2405912"/>
            </a:xfrm>
            <a:custGeom>
              <a:avLst/>
              <a:gdLst/>
              <a:ahLst/>
              <a:cxnLst/>
              <a:rect r="r" b="b" t="t" l="l"/>
              <a:pathLst>
                <a:path h="2405912" w="4486390">
                  <a:moveTo>
                    <a:pt x="0" y="0"/>
                  </a:moveTo>
                  <a:lnTo>
                    <a:pt x="4486390" y="0"/>
                  </a:lnTo>
                  <a:lnTo>
                    <a:pt x="4486390" y="2405912"/>
                  </a:lnTo>
                  <a:lnTo>
                    <a:pt x="0" y="2405912"/>
                  </a:lnTo>
                  <a:close/>
                </a:path>
              </a:pathLst>
            </a:custGeom>
            <a:ln w="85725" cap="sq">
              <a:solidFill>
                <a:srgbClr val="000000"/>
              </a:solidFill>
              <a:prstDash val="solid"/>
              <a:miter/>
            </a:ln>
          </p:spPr>
        </p:sp>
        <p:sp>
          <p:nvSpPr>
            <p:cNvPr name="TextBox 4" id="4"/>
            <p:cNvSpPr txBox="true"/>
            <p:nvPr/>
          </p:nvSpPr>
          <p:spPr>
            <a:xfrm>
              <a:off x="0" y="-38100"/>
              <a:ext cx="4486390" cy="2444012"/>
            </a:xfrm>
            <a:prstGeom prst="rect">
              <a:avLst/>
            </a:prstGeom>
          </p:spPr>
          <p:txBody>
            <a:bodyPr anchor="ctr" rtlCol="false" tIns="50800" lIns="50800" bIns="50800" rIns="50800"/>
            <a:lstStyle/>
            <a:p>
              <a:pPr algn="ctr">
                <a:lnSpc>
                  <a:spcPts val="2659"/>
                </a:lnSpc>
              </a:pPr>
            </a:p>
          </p:txBody>
        </p:sp>
      </p:grpSp>
      <p:sp>
        <p:nvSpPr>
          <p:cNvPr id="5" name="TextBox 4"/>
          <p:cNvSpPr txBox="1"/>
          <p:nvPr/>
        </p:nvSpPr>
        <p:spPr>
          <a:xfrm>
            <a:off x="960120" y="914400"/>
            <a:ext cx="16276320" cy="731520"/>
          </a:xfrm>
          <a:prstGeom prst="rect">
            <a:avLst/>
          </a:prstGeom>
          <a:noFill/>
        </p:spPr>
        <p:txBody>
          <a:bodyPr wrap="square" lIns="27432" rIns="27432" tIns="18288" bIns="18288">
            <a:spAutoFit/>
          </a:bodyPr>
          <a:lstStyle/>
          <a:p>
            <a:pPr>
              <a:spcAft>
                <a:spcPts val="1200"/>
              </a:spcAft>
              <a:defRPr sz="4300" b="0">
                <a:solidFill>
                  <a:srgbClr val="111511"/>
                </a:solidFill>
                <a:latin typeface="Pixellance"/>
              </a:defRPr>
            </a:pPr>
            <a:r>
              <a:t>BACKUP / DETAILED PRIMARY RESULTS</a:t>
            </a:r>
          </a:p>
        </p:txBody>
      </p:sp>
      <p:sp>
        <p:nvSpPr>
          <p:cNvPr id="6" name="TextBox 5"/>
          <p:cNvSpPr txBox="1"/>
          <p:nvPr/>
        </p:nvSpPr>
        <p:spPr>
          <a:xfrm>
            <a:off x="1005840" y="9098280"/>
            <a:ext cx="11887200" cy="320040"/>
          </a:xfrm>
          <a:prstGeom prst="rect">
            <a:avLst/>
          </a:prstGeom>
          <a:noFill/>
        </p:spPr>
        <p:txBody>
          <a:bodyPr wrap="square" lIns="27432" rIns="27432" tIns="18288" bIns="18288">
            <a:spAutoFit/>
          </a:bodyPr>
          <a:lstStyle/>
          <a:p>
            <a:pPr>
              <a:spcAft>
                <a:spcPts val="1200"/>
              </a:spcAft>
              <a:defRPr sz="1500" b="0">
                <a:solidFill>
                  <a:srgbClr val="111511"/>
                </a:solidFill>
                <a:latin typeface="Aptos"/>
              </a:defRPr>
            </a:pPr>
            <a:r>
              <a:t>SNAKE / DUELING DOUBLE DQN</a:t>
            </a:r>
          </a:p>
        </p:txBody>
      </p:sp>
      <p:sp>
        <p:nvSpPr>
          <p:cNvPr id="7" name="TextBox 6"/>
          <p:cNvSpPr txBox="1"/>
          <p:nvPr/>
        </p:nvSpPr>
        <p:spPr>
          <a:xfrm>
            <a:off x="16184880" y="9052560"/>
            <a:ext cx="914400" cy="365760"/>
          </a:xfrm>
          <a:prstGeom prst="rect">
            <a:avLst/>
          </a:prstGeom>
          <a:noFill/>
        </p:spPr>
        <p:txBody>
          <a:bodyPr wrap="square" lIns="27432" rIns="27432" tIns="18288" bIns="18288">
            <a:spAutoFit/>
          </a:bodyPr>
          <a:lstStyle/>
          <a:p>
            <a:pPr algn="r">
              <a:spcAft>
                <a:spcPts val="1200"/>
              </a:spcAft>
              <a:defRPr sz="1800" b="0">
                <a:solidFill>
                  <a:srgbClr val="111511"/>
                </a:solidFill>
                <a:latin typeface="Aptos"/>
              </a:defRPr>
            </a:pPr>
            <a:r>
              <a:t>20</a:t>
            </a:r>
          </a:p>
        </p:txBody>
      </p:sp>
      <p:sp>
        <p:nvSpPr>
          <p:cNvPr id="8" name="TextBox 7"/>
          <p:cNvSpPr txBox="1"/>
          <p:nvPr/>
        </p:nvSpPr>
        <p:spPr>
          <a:xfrm>
            <a:off x="1005840" y="8595360"/>
            <a:ext cx="16093440" cy="365760"/>
          </a:xfrm>
          <a:prstGeom prst="rect">
            <a:avLst/>
          </a:prstGeom>
          <a:noFill/>
        </p:spPr>
        <p:txBody>
          <a:bodyPr wrap="square" lIns="27432" rIns="27432" tIns="18288" bIns="18288">
            <a:spAutoFit/>
          </a:bodyPr>
          <a:lstStyle/>
          <a:p>
            <a:pPr>
              <a:spcAft>
                <a:spcPts val="1200"/>
              </a:spcAft>
              <a:defRPr sz="1500" b="0">
                <a:solidFill>
                  <a:srgbClr val="111511"/>
                </a:solidFill>
                <a:latin typeface="Aptos"/>
              </a:defRPr>
            </a:pPr>
            <a:r>
              <a:t>Source: project implementation and latex/main.tex</a:t>
            </a:r>
          </a:p>
        </p:txBody>
      </p:sp>
      <p:sp>
        <p:nvSpPr>
          <p:cNvPr id="9" name="Rectangle 8"/>
          <p:cNvSpPr/>
          <p:nvPr/>
        </p:nvSpPr>
        <p:spPr>
          <a:xfrm>
            <a:off x="1051560" y="2240280"/>
            <a:ext cx="1554480" cy="786384"/>
          </a:xfrm>
          <a:prstGeom prst="rect">
            <a:avLst/>
          </a:prstGeom>
          <a:solidFill>
            <a:srgbClr val="111511"/>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61288" y="2350008"/>
            <a:ext cx="1335024" cy="621792"/>
          </a:xfrm>
          <a:prstGeom prst="rect">
            <a:avLst/>
          </a:prstGeom>
          <a:noFill/>
        </p:spPr>
        <p:txBody>
          <a:bodyPr wrap="square" lIns="27432" rIns="27432" tIns="18288" bIns="18288">
            <a:spAutoFit/>
          </a:bodyPr>
          <a:lstStyle/>
          <a:p>
            <a:pPr>
              <a:spcAft>
                <a:spcPts val="1200"/>
              </a:spcAft>
              <a:defRPr sz="2600" b="1">
                <a:solidFill>
                  <a:srgbClr val="F4F6F0"/>
                </a:solidFill>
                <a:latin typeface="Aptos"/>
              </a:defRPr>
            </a:pPr>
            <a:r>
              <a:t>Level</a:t>
            </a:r>
          </a:p>
        </p:txBody>
      </p:sp>
      <p:sp>
        <p:nvSpPr>
          <p:cNvPr id="11" name="Rectangle 10"/>
          <p:cNvSpPr/>
          <p:nvPr/>
        </p:nvSpPr>
        <p:spPr>
          <a:xfrm>
            <a:off x="2606039" y="2240280"/>
            <a:ext cx="5029200" cy="786384"/>
          </a:xfrm>
          <a:prstGeom prst="rect">
            <a:avLst/>
          </a:prstGeom>
          <a:solidFill>
            <a:srgbClr val="111511"/>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15768" y="2350008"/>
            <a:ext cx="4809744" cy="621792"/>
          </a:xfrm>
          <a:prstGeom prst="rect">
            <a:avLst/>
          </a:prstGeom>
          <a:noFill/>
        </p:spPr>
        <p:txBody>
          <a:bodyPr wrap="square" lIns="27432" rIns="27432" tIns="18288" bIns="18288">
            <a:spAutoFit/>
          </a:bodyPr>
          <a:lstStyle/>
          <a:p>
            <a:pPr>
              <a:spcAft>
                <a:spcPts val="1200"/>
              </a:spcAft>
              <a:defRPr sz="2600" b="1">
                <a:solidFill>
                  <a:srgbClr val="F4F6F0"/>
                </a:solidFill>
                <a:latin typeface="Aptos"/>
              </a:defRPr>
            </a:pPr>
            <a:r>
              <a:t>Mean ± SD</a:t>
            </a:r>
          </a:p>
        </p:txBody>
      </p:sp>
      <p:sp>
        <p:nvSpPr>
          <p:cNvPr id="13" name="Rectangle 12"/>
          <p:cNvSpPr/>
          <p:nvPr/>
        </p:nvSpPr>
        <p:spPr>
          <a:xfrm>
            <a:off x="7635240" y="2240280"/>
            <a:ext cx="2743200" cy="786384"/>
          </a:xfrm>
          <a:prstGeom prst="rect">
            <a:avLst/>
          </a:prstGeom>
          <a:solidFill>
            <a:srgbClr val="111511"/>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44967" y="2350008"/>
            <a:ext cx="2523744" cy="621792"/>
          </a:xfrm>
          <a:prstGeom prst="rect">
            <a:avLst/>
          </a:prstGeom>
          <a:noFill/>
        </p:spPr>
        <p:txBody>
          <a:bodyPr wrap="square" lIns="27432" rIns="27432" tIns="18288" bIns="18288">
            <a:spAutoFit/>
          </a:bodyPr>
          <a:lstStyle/>
          <a:p>
            <a:pPr>
              <a:spcAft>
                <a:spcPts val="1200"/>
              </a:spcAft>
              <a:defRPr sz="2600" b="1">
                <a:solidFill>
                  <a:srgbClr val="F4F6F0"/>
                </a:solidFill>
                <a:latin typeface="Aptos"/>
              </a:defRPr>
            </a:pPr>
            <a:r>
              <a:t>Median</a:t>
            </a:r>
          </a:p>
        </p:txBody>
      </p:sp>
      <p:sp>
        <p:nvSpPr>
          <p:cNvPr id="15" name="Rectangle 14"/>
          <p:cNvSpPr/>
          <p:nvPr/>
        </p:nvSpPr>
        <p:spPr>
          <a:xfrm>
            <a:off x="10378440" y="2240280"/>
            <a:ext cx="3017520" cy="786384"/>
          </a:xfrm>
          <a:prstGeom prst="rect">
            <a:avLst/>
          </a:prstGeom>
          <a:solidFill>
            <a:srgbClr val="111511"/>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88167" y="2350008"/>
            <a:ext cx="2798063" cy="621792"/>
          </a:xfrm>
          <a:prstGeom prst="rect">
            <a:avLst/>
          </a:prstGeom>
          <a:noFill/>
        </p:spPr>
        <p:txBody>
          <a:bodyPr wrap="square" lIns="27432" rIns="27432" tIns="18288" bIns="18288">
            <a:spAutoFit/>
          </a:bodyPr>
          <a:lstStyle/>
          <a:p>
            <a:pPr>
              <a:spcAft>
                <a:spcPts val="1200"/>
              </a:spcAft>
              <a:defRPr sz="2600" b="1">
                <a:solidFill>
                  <a:srgbClr val="F4F6F0"/>
                </a:solidFill>
                <a:latin typeface="Aptos"/>
              </a:defRPr>
            </a:pPr>
            <a:r>
              <a:t>Success</a:t>
            </a:r>
          </a:p>
        </p:txBody>
      </p:sp>
      <p:sp>
        <p:nvSpPr>
          <p:cNvPr id="17" name="Rectangle 16"/>
          <p:cNvSpPr/>
          <p:nvPr/>
        </p:nvSpPr>
        <p:spPr>
          <a:xfrm>
            <a:off x="13395959" y="2240280"/>
            <a:ext cx="3749039" cy="786384"/>
          </a:xfrm>
          <a:prstGeom prst="rect">
            <a:avLst/>
          </a:prstGeom>
          <a:solidFill>
            <a:srgbClr val="111511"/>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505687" y="2350008"/>
            <a:ext cx="3529583" cy="621792"/>
          </a:xfrm>
          <a:prstGeom prst="rect">
            <a:avLst/>
          </a:prstGeom>
          <a:noFill/>
        </p:spPr>
        <p:txBody>
          <a:bodyPr wrap="square" lIns="27432" rIns="27432" tIns="18288" bIns="18288">
            <a:spAutoFit/>
          </a:bodyPr>
          <a:lstStyle/>
          <a:p>
            <a:pPr>
              <a:spcAft>
                <a:spcPts val="1200"/>
              </a:spcAft>
              <a:defRPr sz="2600" b="1">
                <a:solidFill>
                  <a:srgbClr val="F4F6F0"/>
                </a:solidFill>
                <a:latin typeface="Aptos"/>
              </a:defRPr>
            </a:pPr>
            <a:r>
              <a:t>Norm. score</a:t>
            </a:r>
          </a:p>
        </p:txBody>
      </p:sp>
      <p:sp>
        <p:nvSpPr>
          <p:cNvPr id="19" name="Rectangle 18"/>
          <p:cNvSpPr/>
          <p:nvPr/>
        </p:nvSpPr>
        <p:spPr>
          <a:xfrm>
            <a:off x="1051560" y="3026664"/>
            <a:ext cx="1554480" cy="786384"/>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61288" y="3136392"/>
            <a:ext cx="1335024" cy="621792"/>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L1</a:t>
            </a:r>
          </a:p>
        </p:txBody>
      </p:sp>
      <p:sp>
        <p:nvSpPr>
          <p:cNvPr id="21" name="Rectangle 20"/>
          <p:cNvSpPr/>
          <p:nvPr/>
        </p:nvSpPr>
        <p:spPr>
          <a:xfrm>
            <a:off x="2606039" y="3026664"/>
            <a:ext cx="5029200" cy="786384"/>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15768" y="3136392"/>
            <a:ext cx="4809744" cy="621792"/>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25.00 ± 0.00</a:t>
            </a:r>
          </a:p>
        </p:txBody>
      </p:sp>
      <p:sp>
        <p:nvSpPr>
          <p:cNvPr id="23" name="Rectangle 22"/>
          <p:cNvSpPr/>
          <p:nvPr/>
        </p:nvSpPr>
        <p:spPr>
          <a:xfrm>
            <a:off x="7635240" y="3026664"/>
            <a:ext cx="2743200" cy="786384"/>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44967" y="3136392"/>
            <a:ext cx="2523744" cy="621792"/>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25.0</a:t>
            </a:r>
          </a:p>
        </p:txBody>
      </p:sp>
      <p:sp>
        <p:nvSpPr>
          <p:cNvPr id="25" name="Rectangle 24"/>
          <p:cNvSpPr/>
          <p:nvPr/>
        </p:nvSpPr>
        <p:spPr>
          <a:xfrm>
            <a:off x="10378440" y="3026664"/>
            <a:ext cx="3017520" cy="786384"/>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488167" y="3136392"/>
            <a:ext cx="2798063" cy="621792"/>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100%</a:t>
            </a:r>
          </a:p>
        </p:txBody>
      </p:sp>
      <p:sp>
        <p:nvSpPr>
          <p:cNvPr id="27" name="Rectangle 26"/>
          <p:cNvSpPr/>
          <p:nvPr/>
        </p:nvSpPr>
        <p:spPr>
          <a:xfrm>
            <a:off x="13395959" y="3026664"/>
            <a:ext cx="3749039" cy="786384"/>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3505687" y="3136392"/>
            <a:ext cx="3529583" cy="621792"/>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1.000</a:t>
            </a:r>
          </a:p>
        </p:txBody>
      </p:sp>
      <p:sp>
        <p:nvSpPr>
          <p:cNvPr id="29" name="Rectangle 28"/>
          <p:cNvSpPr/>
          <p:nvPr/>
        </p:nvSpPr>
        <p:spPr>
          <a:xfrm>
            <a:off x="1051560" y="3813048"/>
            <a:ext cx="1554480" cy="786384"/>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61288" y="3922776"/>
            <a:ext cx="1335024" cy="621792"/>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L2</a:t>
            </a:r>
          </a:p>
        </p:txBody>
      </p:sp>
      <p:sp>
        <p:nvSpPr>
          <p:cNvPr id="31" name="Rectangle 30"/>
          <p:cNvSpPr/>
          <p:nvPr/>
        </p:nvSpPr>
        <p:spPr>
          <a:xfrm>
            <a:off x="2606039" y="3813048"/>
            <a:ext cx="5029200" cy="786384"/>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715768" y="3922776"/>
            <a:ext cx="4809744" cy="621792"/>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33.98 ± 5.80</a:t>
            </a:r>
          </a:p>
        </p:txBody>
      </p:sp>
      <p:sp>
        <p:nvSpPr>
          <p:cNvPr id="33" name="Rectangle 32"/>
          <p:cNvSpPr/>
          <p:nvPr/>
        </p:nvSpPr>
        <p:spPr>
          <a:xfrm>
            <a:off x="7635240" y="3813048"/>
            <a:ext cx="2743200" cy="786384"/>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44967" y="3922776"/>
            <a:ext cx="2523744" cy="621792"/>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35.0</a:t>
            </a:r>
          </a:p>
        </p:txBody>
      </p:sp>
      <p:sp>
        <p:nvSpPr>
          <p:cNvPr id="35" name="Rectangle 34"/>
          <p:cNvSpPr/>
          <p:nvPr/>
        </p:nvSpPr>
        <p:spPr>
          <a:xfrm>
            <a:off x="10378440" y="3813048"/>
            <a:ext cx="3017520" cy="786384"/>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488167" y="3922776"/>
            <a:ext cx="2798063" cy="621792"/>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97%</a:t>
            </a:r>
          </a:p>
        </p:txBody>
      </p:sp>
      <p:sp>
        <p:nvSpPr>
          <p:cNvPr id="37" name="Rectangle 36"/>
          <p:cNvSpPr/>
          <p:nvPr/>
        </p:nvSpPr>
        <p:spPr>
          <a:xfrm>
            <a:off x="13395959" y="3813048"/>
            <a:ext cx="3749039" cy="786384"/>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3505687" y="3922776"/>
            <a:ext cx="3529583" cy="621792"/>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0.971</a:t>
            </a:r>
          </a:p>
        </p:txBody>
      </p:sp>
      <p:sp>
        <p:nvSpPr>
          <p:cNvPr id="39" name="Rectangle 38"/>
          <p:cNvSpPr/>
          <p:nvPr/>
        </p:nvSpPr>
        <p:spPr>
          <a:xfrm>
            <a:off x="1051560" y="4599432"/>
            <a:ext cx="1554480" cy="786384"/>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61288" y="4709160"/>
            <a:ext cx="1335024" cy="621792"/>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L3</a:t>
            </a:r>
          </a:p>
        </p:txBody>
      </p:sp>
      <p:sp>
        <p:nvSpPr>
          <p:cNvPr id="41" name="Rectangle 40"/>
          <p:cNvSpPr/>
          <p:nvPr/>
        </p:nvSpPr>
        <p:spPr>
          <a:xfrm>
            <a:off x="2606039" y="4599432"/>
            <a:ext cx="5029200" cy="786384"/>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715768" y="4709160"/>
            <a:ext cx="4809744" cy="621792"/>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46.58 ± 12.47</a:t>
            </a:r>
          </a:p>
        </p:txBody>
      </p:sp>
      <p:sp>
        <p:nvSpPr>
          <p:cNvPr id="43" name="Rectangle 42"/>
          <p:cNvSpPr/>
          <p:nvPr/>
        </p:nvSpPr>
        <p:spPr>
          <a:xfrm>
            <a:off x="7635240" y="4599432"/>
            <a:ext cx="2743200" cy="786384"/>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744967" y="4709160"/>
            <a:ext cx="2523744" cy="621792"/>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50.0</a:t>
            </a:r>
          </a:p>
        </p:txBody>
      </p:sp>
      <p:sp>
        <p:nvSpPr>
          <p:cNvPr id="45" name="Rectangle 44"/>
          <p:cNvSpPr/>
          <p:nvPr/>
        </p:nvSpPr>
        <p:spPr>
          <a:xfrm>
            <a:off x="10378440" y="4599432"/>
            <a:ext cx="3017520" cy="786384"/>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488167" y="4709160"/>
            <a:ext cx="2798063" cy="621792"/>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93%</a:t>
            </a:r>
          </a:p>
        </p:txBody>
      </p:sp>
      <p:sp>
        <p:nvSpPr>
          <p:cNvPr id="47" name="Rectangle 46"/>
          <p:cNvSpPr/>
          <p:nvPr/>
        </p:nvSpPr>
        <p:spPr>
          <a:xfrm>
            <a:off x="13395959" y="4599432"/>
            <a:ext cx="3749039" cy="786384"/>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3505687" y="4709160"/>
            <a:ext cx="3529583" cy="621792"/>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0.932</a:t>
            </a:r>
          </a:p>
        </p:txBody>
      </p:sp>
      <p:sp>
        <p:nvSpPr>
          <p:cNvPr id="49" name="Rectangle 48"/>
          <p:cNvSpPr/>
          <p:nvPr/>
        </p:nvSpPr>
        <p:spPr>
          <a:xfrm>
            <a:off x="1051560" y="5385816"/>
            <a:ext cx="1554480" cy="786384"/>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161288" y="5495544"/>
            <a:ext cx="1335024" cy="621792"/>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L4</a:t>
            </a:r>
          </a:p>
        </p:txBody>
      </p:sp>
      <p:sp>
        <p:nvSpPr>
          <p:cNvPr id="51" name="Rectangle 50"/>
          <p:cNvSpPr/>
          <p:nvPr/>
        </p:nvSpPr>
        <p:spPr>
          <a:xfrm>
            <a:off x="2606039" y="5385816"/>
            <a:ext cx="5029200" cy="786384"/>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715768" y="5495544"/>
            <a:ext cx="4809744" cy="621792"/>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144.49 ± 27.28</a:t>
            </a:r>
          </a:p>
        </p:txBody>
      </p:sp>
      <p:sp>
        <p:nvSpPr>
          <p:cNvPr id="53" name="Rectangle 52"/>
          <p:cNvSpPr/>
          <p:nvPr/>
        </p:nvSpPr>
        <p:spPr>
          <a:xfrm>
            <a:off x="7635240" y="5385816"/>
            <a:ext cx="2743200" cy="786384"/>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744967" y="5495544"/>
            <a:ext cx="2523744" cy="621792"/>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154.0</a:t>
            </a:r>
          </a:p>
        </p:txBody>
      </p:sp>
      <p:sp>
        <p:nvSpPr>
          <p:cNvPr id="55" name="Rectangle 54"/>
          <p:cNvSpPr/>
          <p:nvPr/>
        </p:nvSpPr>
        <p:spPr>
          <a:xfrm>
            <a:off x="10378440" y="5385816"/>
            <a:ext cx="3017520" cy="786384"/>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488167" y="5495544"/>
            <a:ext cx="2798063" cy="621792"/>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N/A</a:t>
            </a:r>
          </a:p>
        </p:txBody>
      </p:sp>
      <p:sp>
        <p:nvSpPr>
          <p:cNvPr id="57" name="Rectangle 56"/>
          <p:cNvSpPr/>
          <p:nvPr/>
        </p:nvSpPr>
        <p:spPr>
          <a:xfrm>
            <a:off x="13395959" y="5385816"/>
            <a:ext cx="3749039" cy="786384"/>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3505687" y="5495544"/>
            <a:ext cx="3529583" cy="621792"/>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N/A</a:t>
            </a:r>
          </a:p>
        </p:txBody>
      </p:sp>
      <p:sp>
        <p:nvSpPr>
          <p:cNvPr id="59" name="Rectangle 58"/>
          <p:cNvSpPr/>
          <p:nvPr/>
        </p:nvSpPr>
        <p:spPr>
          <a:xfrm>
            <a:off x="1051560" y="6172200"/>
            <a:ext cx="1554480" cy="786384"/>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161288" y="6281928"/>
            <a:ext cx="1335024" cy="621792"/>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L5</a:t>
            </a:r>
          </a:p>
        </p:txBody>
      </p:sp>
      <p:sp>
        <p:nvSpPr>
          <p:cNvPr id="61" name="Rectangle 60"/>
          <p:cNvSpPr/>
          <p:nvPr/>
        </p:nvSpPr>
        <p:spPr>
          <a:xfrm>
            <a:off x="2606039" y="6172200"/>
            <a:ext cx="5029200" cy="786384"/>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715768" y="6281928"/>
            <a:ext cx="4809744" cy="621792"/>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75.40 ± 42.29</a:t>
            </a:r>
          </a:p>
        </p:txBody>
      </p:sp>
      <p:sp>
        <p:nvSpPr>
          <p:cNvPr id="63" name="Rectangle 62"/>
          <p:cNvSpPr/>
          <p:nvPr/>
        </p:nvSpPr>
        <p:spPr>
          <a:xfrm>
            <a:off x="7635240" y="6172200"/>
            <a:ext cx="2743200" cy="786384"/>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744967" y="6281928"/>
            <a:ext cx="2523744" cy="621792"/>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100.0</a:t>
            </a:r>
          </a:p>
        </p:txBody>
      </p:sp>
      <p:sp>
        <p:nvSpPr>
          <p:cNvPr id="65" name="Rectangle 64"/>
          <p:cNvSpPr/>
          <p:nvPr/>
        </p:nvSpPr>
        <p:spPr>
          <a:xfrm>
            <a:off x="10378440" y="6172200"/>
            <a:ext cx="3017520" cy="786384"/>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0488167" y="6281928"/>
            <a:ext cx="2798063" cy="621792"/>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74%</a:t>
            </a:r>
          </a:p>
        </p:txBody>
      </p:sp>
      <p:sp>
        <p:nvSpPr>
          <p:cNvPr id="67" name="Rectangle 66"/>
          <p:cNvSpPr/>
          <p:nvPr/>
        </p:nvSpPr>
        <p:spPr>
          <a:xfrm>
            <a:off x="13395959" y="6172200"/>
            <a:ext cx="3749039" cy="786384"/>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3505687" y="6281928"/>
            <a:ext cx="3529583" cy="621792"/>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0.754</a:t>
            </a:r>
          </a:p>
        </p:txBody>
      </p:sp>
      <p:sp>
        <p:nvSpPr>
          <p:cNvPr id="69" name="Rectangle 68"/>
          <p:cNvSpPr/>
          <p:nvPr/>
        </p:nvSpPr>
        <p:spPr>
          <a:xfrm>
            <a:off x="1051560" y="6958584"/>
            <a:ext cx="1554480" cy="786384"/>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161288" y="7068312"/>
            <a:ext cx="1335024" cy="621792"/>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L6</a:t>
            </a:r>
          </a:p>
        </p:txBody>
      </p:sp>
      <p:sp>
        <p:nvSpPr>
          <p:cNvPr id="71" name="Rectangle 70"/>
          <p:cNvSpPr/>
          <p:nvPr/>
        </p:nvSpPr>
        <p:spPr>
          <a:xfrm>
            <a:off x="2606039" y="6958584"/>
            <a:ext cx="5029200" cy="786384"/>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2715768" y="7068312"/>
            <a:ext cx="4809744" cy="621792"/>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88.71 ± 71.77</a:t>
            </a:r>
          </a:p>
        </p:txBody>
      </p:sp>
      <p:sp>
        <p:nvSpPr>
          <p:cNvPr id="73" name="Rectangle 72"/>
          <p:cNvSpPr/>
          <p:nvPr/>
        </p:nvSpPr>
        <p:spPr>
          <a:xfrm>
            <a:off x="7635240" y="6958584"/>
            <a:ext cx="2743200" cy="786384"/>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744967" y="7068312"/>
            <a:ext cx="2523744" cy="621792"/>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150.0</a:t>
            </a:r>
          </a:p>
        </p:txBody>
      </p:sp>
      <p:sp>
        <p:nvSpPr>
          <p:cNvPr id="75" name="Rectangle 74"/>
          <p:cNvSpPr/>
          <p:nvPr/>
        </p:nvSpPr>
        <p:spPr>
          <a:xfrm>
            <a:off x="10378440" y="6958584"/>
            <a:ext cx="3017520" cy="786384"/>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10488167" y="7068312"/>
            <a:ext cx="2798063" cy="621792"/>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54%</a:t>
            </a:r>
          </a:p>
        </p:txBody>
      </p:sp>
      <p:sp>
        <p:nvSpPr>
          <p:cNvPr id="77" name="Rectangle 76"/>
          <p:cNvSpPr/>
          <p:nvPr/>
        </p:nvSpPr>
        <p:spPr>
          <a:xfrm>
            <a:off x="13395959" y="6958584"/>
            <a:ext cx="3749039" cy="786384"/>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3505687" y="7068312"/>
            <a:ext cx="3529583" cy="621792"/>
          </a:xfrm>
          <a:prstGeom prst="rect">
            <a:avLst/>
          </a:prstGeom>
          <a:noFill/>
        </p:spPr>
        <p:txBody>
          <a:bodyPr wrap="square" lIns="27432" rIns="27432" tIns="18288" bIns="18288">
            <a:spAutoFit/>
          </a:bodyPr>
          <a:lstStyle/>
          <a:p>
            <a:pPr>
              <a:spcAft>
                <a:spcPts val="1200"/>
              </a:spcAft>
              <a:defRPr sz="2600" b="0">
                <a:solidFill>
                  <a:srgbClr val="111511"/>
                </a:solidFill>
                <a:latin typeface="Aptos"/>
              </a:defRPr>
            </a:pPr>
            <a:r>
              <a:t>0.591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788B73"/>
        </a:solidFill>
      </p:bgPr>
    </p:bg>
    <p:spTree>
      <p:nvGrpSpPr>
        <p:cNvPr id="1" name=""/>
        <p:cNvGrpSpPr/>
        <p:nvPr/>
      </p:nvGrpSpPr>
      <p:grpSpPr/>
      <p:grpSp>
        <p:nvGrpSpPr>
          <p:cNvPr name="Group 2" id="2"/>
          <p:cNvGrpSpPr/>
          <p:nvPr/>
        </p:nvGrpSpPr>
        <p:grpSpPr>
          <a:xfrm rot="0">
            <a:off x="626868" y="576026"/>
            <a:ext cx="17034264" cy="9134947"/>
            <a:chOff x="0" y="0"/>
            <a:chExt cx="4486390" cy="2405912"/>
          </a:xfrm>
        </p:grpSpPr>
        <p:sp>
          <p:nvSpPr>
            <p:cNvPr name="Freeform 3" id="3"/>
            <p:cNvSpPr/>
            <p:nvPr/>
          </p:nvSpPr>
          <p:spPr>
            <a:xfrm flipH="false" flipV="false" rot="0">
              <a:off x="0" y="0"/>
              <a:ext cx="4486390" cy="2405912"/>
            </a:xfrm>
            <a:custGeom>
              <a:avLst/>
              <a:gdLst/>
              <a:ahLst/>
              <a:cxnLst/>
              <a:rect r="r" b="b" t="t" l="l"/>
              <a:pathLst>
                <a:path h="2405912" w="4486390">
                  <a:moveTo>
                    <a:pt x="0" y="0"/>
                  </a:moveTo>
                  <a:lnTo>
                    <a:pt x="4486390" y="0"/>
                  </a:lnTo>
                  <a:lnTo>
                    <a:pt x="4486390" y="2405912"/>
                  </a:lnTo>
                  <a:lnTo>
                    <a:pt x="0" y="2405912"/>
                  </a:lnTo>
                  <a:close/>
                </a:path>
              </a:pathLst>
            </a:custGeom>
            <a:ln w="85725" cap="sq">
              <a:solidFill>
                <a:srgbClr val="000000"/>
              </a:solidFill>
              <a:prstDash val="solid"/>
              <a:miter/>
            </a:ln>
          </p:spPr>
        </p:sp>
        <p:sp>
          <p:nvSpPr>
            <p:cNvPr name="TextBox 4" id="4"/>
            <p:cNvSpPr txBox="true"/>
            <p:nvPr/>
          </p:nvSpPr>
          <p:spPr>
            <a:xfrm>
              <a:off x="0" y="-38100"/>
              <a:ext cx="4486390" cy="2444012"/>
            </a:xfrm>
            <a:prstGeom prst="rect">
              <a:avLst/>
            </a:prstGeom>
          </p:spPr>
          <p:txBody>
            <a:bodyPr anchor="ctr" rtlCol="false" tIns="50800" lIns="50800" bIns="50800" rIns="50800"/>
            <a:lstStyle/>
            <a:p>
              <a:pPr algn="ctr">
                <a:lnSpc>
                  <a:spcPts val="2659"/>
                </a:lnSpc>
              </a:pPr>
            </a:p>
          </p:txBody>
        </p:sp>
      </p:grpSp>
      <p:sp>
        <p:nvSpPr>
          <p:cNvPr id="5" name="TextBox 4"/>
          <p:cNvSpPr txBox="1"/>
          <p:nvPr/>
        </p:nvSpPr>
        <p:spPr>
          <a:xfrm>
            <a:off x="960120" y="914400"/>
            <a:ext cx="16276320" cy="731520"/>
          </a:xfrm>
          <a:prstGeom prst="rect">
            <a:avLst/>
          </a:prstGeom>
          <a:noFill/>
        </p:spPr>
        <p:txBody>
          <a:bodyPr wrap="square" lIns="27432" rIns="27432" tIns="18288" bIns="18288">
            <a:spAutoFit/>
          </a:bodyPr>
          <a:lstStyle/>
          <a:p>
            <a:pPr>
              <a:spcAft>
                <a:spcPts val="1200"/>
              </a:spcAft>
              <a:defRPr sz="4300" b="0">
                <a:solidFill>
                  <a:srgbClr val="111511"/>
                </a:solidFill>
                <a:latin typeface="Pixellance"/>
              </a:defRPr>
            </a:pPr>
            <a:r>
              <a:t>BACKUP / ANTICIPATED QUESTIONS</a:t>
            </a:r>
          </a:p>
        </p:txBody>
      </p:sp>
      <p:sp>
        <p:nvSpPr>
          <p:cNvPr id="6" name="TextBox 5"/>
          <p:cNvSpPr txBox="1"/>
          <p:nvPr/>
        </p:nvSpPr>
        <p:spPr>
          <a:xfrm>
            <a:off x="1005840" y="9098280"/>
            <a:ext cx="11887200" cy="320040"/>
          </a:xfrm>
          <a:prstGeom prst="rect">
            <a:avLst/>
          </a:prstGeom>
          <a:noFill/>
        </p:spPr>
        <p:txBody>
          <a:bodyPr wrap="square" lIns="27432" rIns="27432" tIns="18288" bIns="18288">
            <a:spAutoFit/>
          </a:bodyPr>
          <a:lstStyle/>
          <a:p>
            <a:pPr>
              <a:spcAft>
                <a:spcPts val="1200"/>
              </a:spcAft>
              <a:defRPr sz="1500" b="0">
                <a:solidFill>
                  <a:srgbClr val="111511"/>
                </a:solidFill>
                <a:latin typeface="Aptos"/>
              </a:defRPr>
            </a:pPr>
            <a:r>
              <a:t>SNAKE / DUELING DOUBLE DQN</a:t>
            </a:r>
          </a:p>
        </p:txBody>
      </p:sp>
      <p:sp>
        <p:nvSpPr>
          <p:cNvPr id="7" name="TextBox 6"/>
          <p:cNvSpPr txBox="1"/>
          <p:nvPr/>
        </p:nvSpPr>
        <p:spPr>
          <a:xfrm>
            <a:off x="16184880" y="9052560"/>
            <a:ext cx="914400" cy="365760"/>
          </a:xfrm>
          <a:prstGeom prst="rect">
            <a:avLst/>
          </a:prstGeom>
          <a:noFill/>
        </p:spPr>
        <p:txBody>
          <a:bodyPr wrap="square" lIns="27432" rIns="27432" tIns="18288" bIns="18288">
            <a:spAutoFit/>
          </a:bodyPr>
          <a:lstStyle/>
          <a:p>
            <a:pPr algn="r">
              <a:spcAft>
                <a:spcPts val="1200"/>
              </a:spcAft>
              <a:defRPr sz="1800" b="0">
                <a:solidFill>
                  <a:srgbClr val="111511"/>
                </a:solidFill>
                <a:latin typeface="Aptos"/>
              </a:defRPr>
            </a:pPr>
            <a:r>
              <a:t>21</a:t>
            </a:r>
          </a:p>
        </p:txBody>
      </p:sp>
      <p:sp>
        <p:nvSpPr>
          <p:cNvPr id="8" name="TextBox 7"/>
          <p:cNvSpPr txBox="1"/>
          <p:nvPr/>
        </p:nvSpPr>
        <p:spPr>
          <a:xfrm>
            <a:off x="1005840" y="8595360"/>
            <a:ext cx="16093440" cy="365760"/>
          </a:xfrm>
          <a:prstGeom prst="rect">
            <a:avLst/>
          </a:prstGeom>
          <a:noFill/>
        </p:spPr>
        <p:txBody>
          <a:bodyPr wrap="square" lIns="27432" rIns="27432" tIns="18288" bIns="18288">
            <a:spAutoFit/>
          </a:bodyPr>
          <a:lstStyle/>
          <a:p>
            <a:pPr>
              <a:spcAft>
                <a:spcPts val="1200"/>
              </a:spcAft>
              <a:defRPr sz="1500" b="0">
                <a:solidFill>
                  <a:srgbClr val="111511"/>
                </a:solidFill>
                <a:latin typeface="Aptos"/>
              </a:defRPr>
            </a:pPr>
            <a:r>
              <a:t>Source: project implementation and latex/main.tex</a:t>
            </a:r>
          </a:p>
        </p:txBody>
      </p:sp>
      <p:sp>
        <p:nvSpPr>
          <p:cNvPr id="9" name="Rectangle 8"/>
          <p:cNvSpPr/>
          <p:nvPr/>
        </p:nvSpPr>
        <p:spPr>
          <a:xfrm>
            <a:off x="1051560" y="2240280"/>
            <a:ext cx="6766560" cy="960120"/>
          </a:xfrm>
          <a:prstGeom prst="rect">
            <a:avLst/>
          </a:prstGeom>
          <a:solidFill>
            <a:srgbClr val="111511"/>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61288" y="2350008"/>
            <a:ext cx="6547104" cy="795528"/>
          </a:xfrm>
          <a:prstGeom prst="rect">
            <a:avLst/>
          </a:prstGeom>
          <a:noFill/>
        </p:spPr>
        <p:txBody>
          <a:bodyPr wrap="square" lIns="27432" rIns="27432" tIns="18288" bIns="18288">
            <a:spAutoFit/>
          </a:bodyPr>
          <a:lstStyle/>
          <a:p>
            <a:pPr>
              <a:spcAft>
                <a:spcPts val="1200"/>
              </a:spcAft>
              <a:defRPr sz="2500" b="1">
                <a:solidFill>
                  <a:srgbClr val="F4F6F0"/>
                </a:solidFill>
                <a:latin typeface="Aptos"/>
              </a:defRPr>
            </a:pPr>
            <a:r>
              <a:t>Question</a:t>
            </a:r>
          </a:p>
        </p:txBody>
      </p:sp>
      <p:sp>
        <p:nvSpPr>
          <p:cNvPr id="11" name="Rectangle 10"/>
          <p:cNvSpPr/>
          <p:nvPr/>
        </p:nvSpPr>
        <p:spPr>
          <a:xfrm>
            <a:off x="7818120" y="2240280"/>
            <a:ext cx="9326880" cy="960120"/>
          </a:xfrm>
          <a:prstGeom prst="rect">
            <a:avLst/>
          </a:prstGeom>
          <a:solidFill>
            <a:srgbClr val="111511"/>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27848" y="2350008"/>
            <a:ext cx="9107424" cy="795528"/>
          </a:xfrm>
          <a:prstGeom prst="rect">
            <a:avLst/>
          </a:prstGeom>
          <a:noFill/>
        </p:spPr>
        <p:txBody>
          <a:bodyPr wrap="square" lIns="27432" rIns="27432" tIns="18288" bIns="18288">
            <a:spAutoFit/>
          </a:bodyPr>
          <a:lstStyle/>
          <a:p>
            <a:pPr>
              <a:spcAft>
                <a:spcPts val="1200"/>
              </a:spcAft>
              <a:defRPr sz="2500" b="1">
                <a:solidFill>
                  <a:srgbClr val="F4F6F0"/>
                </a:solidFill>
                <a:latin typeface="Aptos"/>
              </a:defRPr>
            </a:pPr>
            <a:r>
              <a:t>Evidence-based answer</a:t>
            </a:r>
          </a:p>
        </p:txBody>
      </p:sp>
      <p:sp>
        <p:nvSpPr>
          <p:cNvPr id="13" name="Rectangle 12"/>
          <p:cNvSpPr/>
          <p:nvPr/>
        </p:nvSpPr>
        <p:spPr>
          <a:xfrm>
            <a:off x="1051560" y="3200400"/>
            <a:ext cx="6766560" cy="96012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61288" y="3310128"/>
            <a:ext cx="6547104" cy="795528"/>
          </a:xfrm>
          <a:prstGeom prst="rect">
            <a:avLst/>
          </a:prstGeom>
          <a:noFill/>
        </p:spPr>
        <p:txBody>
          <a:bodyPr wrap="square" lIns="27432" rIns="27432" tIns="18288" bIns="18288">
            <a:spAutoFit/>
          </a:bodyPr>
          <a:lstStyle/>
          <a:p>
            <a:pPr>
              <a:spcAft>
                <a:spcPts val="1200"/>
              </a:spcAft>
              <a:defRPr sz="2500" b="0">
                <a:solidFill>
                  <a:srgbClr val="111511"/>
                </a:solidFill>
                <a:latin typeface="Aptos"/>
              </a:defRPr>
            </a:pPr>
            <a:r>
              <a:t>Why call these levels unseen?</a:t>
            </a:r>
          </a:p>
        </p:txBody>
      </p:sp>
      <p:sp>
        <p:nvSpPr>
          <p:cNvPr id="15" name="Rectangle 14"/>
          <p:cNvSpPr/>
          <p:nvPr/>
        </p:nvSpPr>
        <p:spPr>
          <a:xfrm>
            <a:off x="7818120" y="3200400"/>
            <a:ext cx="9326880" cy="96012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27848" y="3310128"/>
            <a:ext cx="9107424" cy="795528"/>
          </a:xfrm>
          <a:prstGeom prst="rect">
            <a:avLst/>
          </a:prstGeom>
          <a:noFill/>
        </p:spPr>
        <p:txBody>
          <a:bodyPr wrap="square" lIns="27432" rIns="27432" tIns="18288" bIns="18288">
            <a:spAutoFit/>
          </a:bodyPr>
          <a:lstStyle/>
          <a:p>
            <a:pPr>
              <a:spcAft>
                <a:spcPts val="1200"/>
              </a:spcAft>
              <a:defRPr sz="2500" b="0">
                <a:solidFill>
                  <a:srgbClr val="111511"/>
                </a:solidFill>
                <a:latin typeface="Aptos"/>
              </a:defRPr>
            </a:pPr>
            <a:r>
              <a:t>Only L4 supplied training transitions in this run.</a:t>
            </a:r>
          </a:p>
        </p:txBody>
      </p:sp>
      <p:sp>
        <p:nvSpPr>
          <p:cNvPr id="17" name="Rectangle 16"/>
          <p:cNvSpPr/>
          <p:nvPr/>
        </p:nvSpPr>
        <p:spPr>
          <a:xfrm>
            <a:off x="1051560" y="4160520"/>
            <a:ext cx="6766560" cy="96012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61288" y="4270248"/>
            <a:ext cx="6547104" cy="795528"/>
          </a:xfrm>
          <a:prstGeom prst="rect">
            <a:avLst/>
          </a:prstGeom>
          <a:noFill/>
        </p:spPr>
        <p:txBody>
          <a:bodyPr wrap="square" lIns="27432" rIns="27432" tIns="18288" bIns="18288">
            <a:spAutoFit/>
          </a:bodyPr>
          <a:lstStyle/>
          <a:p>
            <a:pPr>
              <a:spcAft>
                <a:spcPts val="1200"/>
              </a:spcAft>
              <a:defRPr sz="2500" b="0">
                <a:solidFill>
                  <a:srgbClr val="111511"/>
                </a:solidFill>
                <a:latin typeface="Aptos"/>
              </a:defRPr>
            </a:pPr>
            <a:r>
              <a:t>Does 100% mean guaranteed success?</a:t>
            </a:r>
          </a:p>
        </p:txBody>
      </p:sp>
      <p:sp>
        <p:nvSpPr>
          <p:cNvPr id="19" name="Rectangle 18"/>
          <p:cNvSpPr/>
          <p:nvPr/>
        </p:nvSpPr>
        <p:spPr>
          <a:xfrm>
            <a:off x="7818120" y="4160520"/>
            <a:ext cx="9326880" cy="96012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27848" y="4270248"/>
            <a:ext cx="9107424" cy="795528"/>
          </a:xfrm>
          <a:prstGeom prst="rect">
            <a:avLst/>
          </a:prstGeom>
          <a:noFill/>
        </p:spPr>
        <p:txBody>
          <a:bodyPr wrap="square" lIns="27432" rIns="27432" tIns="18288" bIns="18288">
            <a:spAutoFit/>
          </a:bodyPr>
          <a:lstStyle/>
          <a:p>
            <a:pPr>
              <a:spcAft>
                <a:spcPts val="1200"/>
              </a:spcAft>
              <a:defRPr sz="2500" b="0">
                <a:solidFill>
                  <a:srgbClr val="111511"/>
                </a:solidFill>
                <a:latin typeface="Aptos"/>
              </a:defRPr>
            </a:pPr>
            <a:r>
              <a:t>No; 100/100 gives a 95% Wilson interval of 96.3–100%.</a:t>
            </a:r>
          </a:p>
        </p:txBody>
      </p:sp>
      <p:sp>
        <p:nvSpPr>
          <p:cNvPr id="21" name="Rectangle 20"/>
          <p:cNvSpPr/>
          <p:nvPr/>
        </p:nvSpPr>
        <p:spPr>
          <a:xfrm>
            <a:off x="1051560" y="5120640"/>
            <a:ext cx="6766560" cy="96012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61288" y="5230368"/>
            <a:ext cx="6547104" cy="795528"/>
          </a:xfrm>
          <a:prstGeom prst="rect">
            <a:avLst/>
          </a:prstGeom>
          <a:noFill/>
        </p:spPr>
        <p:txBody>
          <a:bodyPr wrap="square" lIns="27432" rIns="27432" tIns="18288" bIns="18288">
            <a:spAutoFit/>
          </a:bodyPr>
          <a:lstStyle/>
          <a:p>
            <a:pPr>
              <a:spcAft>
                <a:spcPts val="1200"/>
              </a:spcAft>
              <a:defRPr sz="2500" b="0">
                <a:solidFill>
                  <a:srgbClr val="111511"/>
                </a:solidFill>
                <a:latin typeface="Aptos"/>
              </a:defRPr>
            </a:pPr>
            <a:r>
              <a:t>Is the method better than all baselines?</a:t>
            </a:r>
          </a:p>
        </p:txBody>
      </p:sp>
      <p:sp>
        <p:nvSpPr>
          <p:cNvPr id="23" name="Rectangle 22"/>
          <p:cNvSpPr/>
          <p:nvPr/>
        </p:nvSpPr>
        <p:spPr>
          <a:xfrm>
            <a:off x="7818120" y="5120640"/>
            <a:ext cx="9326880" cy="96012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27848" y="5230368"/>
            <a:ext cx="9107424" cy="795528"/>
          </a:xfrm>
          <a:prstGeom prst="rect">
            <a:avLst/>
          </a:prstGeom>
          <a:noFill/>
        </p:spPr>
        <p:txBody>
          <a:bodyPr wrap="square" lIns="27432" rIns="27432" tIns="18288" bIns="18288">
            <a:spAutoFit/>
          </a:bodyPr>
          <a:lstStyle/>
          <a:p>
            <a:pPr>
              <a:spcAft>
                <a:spcPts val="1200"/>
              </a:spcAft>
              <a:defRPr sz="2500" b="0">
                <a:solidFill>
                  <a:srgbClr val="111511"/>
                </a:solidFill>
                <a:latin typeface="Aptos"/>
              </a:defRPr>
            </a:pPr>
            <a:r>
              <a:t>Only random and final-checkpoint comparisons were evaluated.</a:t>
            </a:r>
          </a:p>
        </p:txBody>
      </p:sp>
      <p:sp>
        <p:nvSpPr>
          <p:cNvPr id="25" name="Rectangle 24"/>
          <p:cNvSpPr/>
          <p:nvPr/>
        </p:nvSpPr>
        <p:spPr>
          <a:xfrm>
            <a:off x="1051560" y="6080760"/>
            <a:ext cx="6766560" cy="96012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61288" y="6190488"/>
            <a:ext cx="6547104" cy="795528"/>
          </a:xfrm>
          <a:prstGeom prst="rect">
            <a:avLst/>
          </a:prstGeom>
          <a:noFill/>
        </p:spPr>
        <p:txBody>
          <a:bodyPr wrap="square" lIns="27432" rIns="27432" tIns="18288" bIns="18288">
            <a:spAutoFit/>
          </a:bodyPr>
          <a:lstStyle/>
          <a:p>
            <a:pPr>
              <a:spcAft>
                <a:spcPts val="1200"/>
              </a:spcAft>
              <a:defRPr sz="2500" b="0">
                <a:solidFill>
                  <a:srgbClr val="111511"/>
                </a:solidFill>
                <a:latin typeface="Aptos"/>
              </a:defRPr>
            </a:pPr>
            <a:r>
              <a:t>Do features cause generalization?</a:t>
            </a:r>
          </a:p>
        </p:txBody>
      </p:sp>
      <p:sp>
        <p:nvSpPr>
          <p:cNvPr id="27" name="Rectangle 26"/>
          <p:cNvSpPr/>
          <p:nvPr/>
        </p:nvSpPr>
        <p:spPr>
          <a:xfrm>
            <a:off x="7818120" y="6080760"/>
            <a:ext cx="9326880" cy="96012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27848" y="6190488"/>
            <a:ext cx="9107424" cy="795528"/>
          </a:xfrm>
          <a:prstGeom prst="rect">
            <a:avLst/>
          </a:prstGeom>
          <a:noFill/>
        </p:spPr>
        <p:txBody>
          <a:bodyPr wrap="square" lIns="27432" rIns="27432" tIns="18288" bIns="18288">
            <a:spAutoFit/>
          </a:bodyPr>
          <a:lstStyle/>
          <a:p>
            <a:pPr>
              <a:spcAft>
                <a:spcPts val="1200"/>
              </a:spcAft>
              <a:defRPr sz="2500" b="0">
                <a:solidFill>
                  <a:srgbClr val="111511"/>
                </a:solidFill>
                <a:latin typeface="Aptos"/>
              </a:defRPr>
            </a:pPr>
            <a:r>
              <a:t>Plausible, but no ablation isolates their effect.</a:t>
            </a:r>
          </a:p>
        </p:txBody>
      </p:sp>
      <p:sp>
        <p:nvSpPr>
          <p:cNvPr id="29" name="Rectangle 28"/>
          <p:cNvSpPr/>
          <p:nvPr/>
        </p:nvSpPr>
        <p:spPr>
          <a:xfrm>
            <a:off x="1051560" y="7040880"/>
            <a:ext cx="6766560" cy="96012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61288" y="7150608"/>
            <a:ext cx="6547104" cy="795528"/>
          </a:xfrm>
          <a:prstGeom prst="rect">
            <a:avLst/>
          </a:prstGeom>
          <a:noFill/>
        </p:spPr>
        <p:txBody>
          <a:bodyPr wrap="square" lIns="27432" rIns="27432" tIns="18288" bIns="18288">
            <a:spAutoFit/>
          </a:bodyPr>
          <a:lstStyle/>
          <a:p>
            <a:pPr>
              <a:spcAft>
                <a:spcPts val="1200"/>
              </a:spcAft>
              <a:defRPr sz="2500" b="0">
                <a:solidFill>
                  <a:srgbClr val="111511"/>
                </a:solidFill>
                <a:latin typeface="Aptos"/>
              </a:defRPr>
            </a:pPr>
            <a:r>
              <a:t>Why no PPO comparison?</a:t>
            </a:r>
          </a:p>
        </p:txBody>
      </p:sp>
      <p:sp>
        <p:nvSpPr>
          <p:cNvPr id="31" name="Rectangle 30"/>
          <p:cNvSpPr/>
          <p:nvPr/>
        </p:nvSpPr>
        <p:spPr>
          <a:xfrm>
            <a:off x="7818120" y="7040880"/>
            <a:ext cx="9326880" cy="960120"/>
          </a:xfrm>
          <a:prstGeom prst="rect">
            <a:avLst/>
          </a:prstGeom>
          <a:solidFill>
            <a:srgbClr val="DDE5D8"/>
          </a:solidFill>
          <a:ln w="25400">
            <a:solidFill>
              <a:srgbClr val="1115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27848" y="7150608"/>
            <a:ext cx="9107424" cy="795528"/>
          </a:xfrm>
          <a:prstGeom prst="rect">
            <a:avLst/>
          </a:prstGeom>
          <a:noFill/>
        </p:spPr>
        <p:txBody>
          <a:bodyPr wrap="square" lIns="27432" rIns="27432" tIns="18288" bIns="18288">
            <a:spAutoFit/>
          </a:bodyPr>
          <a:lstStyle/>
          <a:p>
            <a:pPr>
              <a:spcAft>
                <a:spcPts val="1200"/>
              </a:spcAft>
              <a:defRPr sz="2500" b="0">
                <a:solidFill>
                  <a:srgbClr val="111511"/>
                </a:solidFill>
                <a:latin typeface="Aptos"/>
              </a:defRPr>
            </a:pPr>
            <a:r>
              <a:t>The research scope is single-source DQN transfer.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DAHWHf5fVxo</dc:identifier>
  <dcterms:modified xsi:type="dcterms:W3CDTF">2011-08-01T06:04:30Z</dcterms:modified>
  <cp:revision>1</cp:revision>
  <dc:title>Green and Black Minimalist Pixel Game Night Presentation</dc:title>
</cp:coreProperties>
</file>